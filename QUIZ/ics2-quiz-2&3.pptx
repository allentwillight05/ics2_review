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311" r:id="rId25"/>
    <p:sldId id="278" r:id="rId26"/>
    <p:sldId id="279" r:id="rId27"/>
    <p:sldId id="280" r:id="rId28"/>
    <p:sldId id="281" r:id="rId29"/>
    <p:sldId id="282" r:id="rId30"/>
    <p:sldId id="283" r:id="rId31"/>
    <p:sldId id="284"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67"/>
    <p:restoredTop sz="94610"/>
  </p:normalViewPr>
  <p:slideViewPr>
    <p:cSldViewPr snapToGrid="0" snapToObjects="1">
      <p:cViewPr varScale="1">
        <p:scale>
          <a:sx n="301" d="100"/>
          <a:sy n="301" d="100"/>
        </p:scale>
        <p:origin x="9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162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already taken the mock under exam conditions. This walkthrough covers Problems 2 and 3 - the signal/I-O integration problem and the VM problem. Frame: these two problems integrate weeks 7-8 (signals + Unix I/O) and the VM lectures (2-17, 2-18).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lines are where the three sub-questions live. Launched as ./logger from a shell, original stdout = terminal.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 progression: (1) Before any Fork, how many fds in the parent point at the log file's OFT entry? (2) Walk Dup2: tears down fd1-&gt;tty, aliases fd1 onto logfd's entry. tty refcount drops by 1; run.log refcount 1 -&gt;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Blackboard move: draw 4 descriptor tables side by side, all arrows into the single shared OFT entry, then literally count arrows = 8.</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(1) Between evaluating reaped&lt;3 and entering Pause(), can a signal arrive? (2) What does it do to the pending bit by the time Pause runs? Build this timeline on the board, then trace the fix through the SAME scenario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2.2(a) scenario through this fix: SIGCHLD blocked at the test, so even if child 3 exits 'early', the signal stays pending; sigsuspend opens the mask and the pending signal is delivered immediately - sigsuspend returns, loop re-tests, reaped==3, exit.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 to surface: 'printf in handlers is fine, I've done it.' It is fine until it deadlocks. Anchor with the lock scenario. Also: 'errno doesn't matter, single-threaded' - the handler runs concurrently with main.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specs apply to every sub-problem - simplified x86-64 from lecture. 3.2 is the arithmetic core; 3.3 and 3.4 are conceptual.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fill-in - read these aloud fast. The two numbers students mix up: PPN (52-12=40, not 36) and CT (taken from the PHYSICAL address: 52-6-6=40).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(1) Each L3 entry covers how much VA? So how many L3 entries span 8MB? (2) Start -&gt; L3 index 2 ((0x400000&gt;&gt;21)&amp;0x1FF = 2), end -&gt; L3 index 5. Write the decomposition bar on the board first - everything in 3.2 reads off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draw this 4-level tree, count NODES = 7. The trap card is the #1 misconception: 'the page table is one big array of 2^36 entries'.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(1) Which bits does the cache use for the set index? Which bits are identical between VA and PA? (2) In a 4KB page, bits 0-11 are the offset; VPO=PPO. Anything above bit 11 differs between VA and PA.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381000" y="685800"/>
            <a:ext cx="6096000" cy="34290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(1) After read() returns, where does the data live? After mmap()? (2) read copies page cache -&gt; user buf; mmap maps the page cache directly into user VA. Use the four required terms: disk, kernel page cache, user buffer, kernel output buffer.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514350" y="1331519"/>
            <a:ext cx="5829300" cy="918766"/>
          </a:xfrm>
        </p:spPr>
        <p:txBody>
          <a:bodyPr>
            <a:normAutofit/>
          </a:bodyPr>
          <a:lstStyle>
            <a:lvl1pPr algn="ctr">
              <a:defRPr sz="33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028700" y="2428875"/>
            <a:ext cx="4800600" cy="1095375"/>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963148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42900" y="171649"/>
            <a:ext cx="6172200" cy="67533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1950" b="1" i="0">
                <a:latin typeface="+mn-lt"/>
                <a:ea typeface="微软雅黑" panose="020B0503020204020204" pitchFamily="34" charset="-122"/>
                <a:cs typeface="微软雅黑" panose="020B0503020204020204" pitchFamily="34" charset="-122"/>
              </a:defRPr>
            </a:lvl1pPr>
            <a:lvl2pPr>
              <a:lnSpc>
                <a:spcPct val="120000"/>
              </a:lnSpc>
              <a:defRPr sz="1800" b="0" i="0">
                <a:latin typeface="+mn-lt"/>
                <a:ea typeface="微软雅黑" panose="020B0503020204020204" pitchFamily="34" charset="-122"/>
                <a:cs typeface="微软雅黑" panose="020B0503020204020204" pitchFamily="34" charset="-122"/>
              </a:defRPr>
            </a:lvl2pPr>
            <a:lvl3pPr>
              <a:lnSpc>
                <a:spcPct val="120000"/>
              </a:lnSpc>
              <a:defRPr sz="1500" b="0" i="0">
                <a:latin typeface="+mn-lt"/>
                <a:ea typeface="微软雅黑" panose="020B0503020204020204" pitchFamily="34" charset="-122"/>
                <a:cs typeface="微软雅黑" panose="020B0503020204020204" pitchFamily="34" charset="-122"/>
              </a:defRPr>
            </a:lvl3pPr>
            <a:lvl4pPr>
              <a:lnSpc>
                <a:spcPct val="120000"/>
              </a:lnSpc>
              <a:defRPr sz="1350" b="0" i="0">
                <a:latin typeface="+mn-lt"/>
                <a:ea typeface="微软雅黑" panose="020B0503020204020204" pitchFamily="34" charset="-122"/>
                <a:cs typeface="微软雅黑" panose="020B0503020204020204" pitchFamily="34" charset="-122"/>
              </a:defRPr>
            </a:lvl4pPr>
            <a:lvl5pPr>
              <a:lnSpc>
                <a:spcPct val="120000"/>
              </a:lnSpc>
              <a:defRPr sz="135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35395" y="329297"/>
            <a:ext cx="123436" cy="3600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三角形 7"/>
          <p:cNvSpPr/>
          <p:nvPr userDrawn="1"/>
        </p:nvSpPr>
        <p:spPr>
          <a:xfrm rot="5400000">
            <a:off x="-120527" y="449653"/>
            <a:ext cx="360210" cy="11915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350"/>
          </a:p>
        </p:txBody>
      </p:sp>
    </p:spTree>
    <p:extLst>
      <p:ext uri="{BB962C8B-B14F-4D97-AF65-F5344CB8AC3E}">
        <p14:creationId xmlns:p14="http://schemas.microsoft.com/office/powerpoint/2010/main" val="46355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41735" y="2754313"/>
            <a:ext cx="5829300" cy="851297"/>
          </a:xfrm>
        </p:spPr>
        <p:txBody>
          <a:bodyPr anchor="t"/>
          <a:lstStyle>
            <a:lvl1pPr algn="l">
              <a:defRPr sz="3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541735" y="1816696"/>
            <a:ext cx="5829300" cy="93761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p:cNvSpPr/>
          <p:nvPr userDrawn="1"/>
        </p:nvSpPr>
        <p:spPr>
          <a:xfrm rot="5400000">
            <a:off x="-120527" y="2940280"/>
            <a:ext cx="360210" cy="11915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350"/>
          </a:p>
        </p:txBody>
      </p:sp>
    </p:spTree>
    <p:extLst>
      <p:ext uri="{BB962C8B-B14F-4D97-AF65-F5344CB8AC3E}">
        <p14:creationId xmlns:p14="http://schemas.microsoft.com/office/powerpoint/2010/main" val="1469143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342900" y="171650"/>
            <a:ext cx="6172200" cy="714375"/>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342900" y="1000126"/>
            <a:ext cx="6172200" cy="2828727"/>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342901" y="3972722"/>
            <a:ext cx="1600200" cy="228203"/>
          </a:xfrm>
          <a:prstGeom prst="rect">
            <a:avLst/>
          </a:prstGeom>
        </p:spPr>
        <p:txBody>
          <a:bodyPr vert="horz" lIns="91440" tIns="45720" rIns="91440" bIns="45720" rtlCol="0" anchor="ctr"/>
          <a:lstStyle>
            <a:lvl1pPr algn="l">
              <a:defRPr sz="900">
                <a:solidFill>
                  <a:schemeClr val="tx1">
                    <a:tint val="75000"/>
                  </a:schemeClr>
                </a:solidFill>
                <a:latin typeface="等线" panose="02010600030101010101" charset="-122"/>
                <a:ea typeface="等线" panose="02010600030101010101" charset="-122"/>
                <a:cs typeface="等线" panose="02010600030101010101" charset="-122"/>
              </a:defRPr>
            </a:lvl1pPr>
          </a:lstStyle>
          <a:p>
            <a:endParaRPr lang="zh-CN" altLang="en-US" dirty="0"/>
          </a:p>
        </p:txBody>
      </p:sp>
      <p:sp>
        <p:nvSpPr>
          <p:cNvPr id="5" name="页脚占位符 4"/>
          <p:cNvSpPr>
            <a:spLocks noGrp="1"/>
          </p:cNvSpPr>
          <p:nvPr>
            <p:ph type="ftr" sz="quarter" idx="3"/>
          </p:nvPr>
        </p:nvSpPr>
        <p:spPr>
          <a:xfrm>
            <a:off x="2343151" y="3972722"/>
            <a:ext cx="2171700" cy="228203"/>
          </a:xfrm>
          <a:prstGeom prst="rect">
            <a:avLst/>
          </a:prstGeom>
        </p:spPr>
        <p:txBody>
          <a:bodyPr vert="horz" lIns="91440" tIns="45720" rIns="91440" bIns="45720" rtlCol="0" anchor="ctr"/>
          <a:lstStyle>
            <a:lvl1pPr algn="ctr">
              <a:defRPr sz="900">
                <a:solidFill>
                  <a:schemeClr val="tx1">
                    <a:tint val="75000"/>
                  </a:schemeClr>
                </a:solidFill>
                <a:latin typeface="等线" panose="02010600030101010101" charset="-122"/>
                <a:ea typeface="等线" panose="02010600030101010101" charset="-122"/>
                <a:cs typeface="等线" panose="02010600030101010101" charset="-122"/>
              </a:defRPr>
            </a:lvl1pPr>
          </a:lstStyle>
          <a:p>
            <a:endParaRPr lang="zh-CN" altLang="en-US"/>
          </a:p>
        </p:txBody>
      </p:sp>
      <p:sp>
        <p:nvSpPr>
          <p:cNvPr id="6" name="灯片编号占位符 5"/>
          <p:cNvSpPr>
            <a:spLocks noGrp="1"/>
          </p:cNvSpPr>
          <p:nvPr>
            <p:ph type="sldNum" sz="quarter" idx="4"/>
          </p:nvPr>
        </p:nvSpPr>
        <p:spPr>
          <a:xfrm>
            <a:off x="4914900" y="3972722"/>
            <a:ext cx="1600200" cy="228203"/>
          </a:xfrm>
          <a:prstGeom prst="rect">
            <a:avLst/>
          </a:prstGeom>
        </p:spPr>
        <p:txBody>
          <a:bodyPr vert="horz" lIns="91440" tIns="45720" rIns="91440" bIns="45720" rtlCol="0" anchor="ctr"/>
          <a:lstStyle>
            <a:lvl1pPr algn="r">
              <a:defRPr sz="900">
                <a:solidFill>
                  <a:schemeClr val="tx1">
                    <a:tint val="75000"/>
                  </a:schemeClr>
                </a:solidFill>
                <a:latin typeface="等线" panose="02010600030101010101" charset="-122"/>
                <a:ea typeface="等线" panose="02010600030101010101" charset="-122"/>
                <a:cs typeface="等线" panose="02010600030101010101" charset="-122"/>
              </a:defRPr>
            </a:lvl1p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85136080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hdr="0" ftr="0" dt="0"/>
  <p:txStyles>
    <p:titleStyle>
      <a:lvl1pPr algn="l" defTabSz="685800" rtl="0" eaLnBrk="1" latinLnBrk="0" hangingPunct="1">
        <a:spcBef>
          <a:spcPct val="0"/>
        </a:spcBef>
        <a:buNone/>
        <a:defRPr sz="2700" b="1" kern="1200">
          <a:solidFill>
            <a:schemeClr val="accent1"/>
          </a:solidFill>
          <a:latin typeface="+mj-lt"/>
          <a:ea typeface="+mj-ea"/>
          <a:cs typeface="微软雅黑 Light" panose="020B0502040204020203" pitchFamily="34" charset="-122"/>
        </a:defRPr>
      </a:lvl1pPr>
    </p:titleStyle>
    <p:bodyStyle>
      <a:lvl1pPr marL="257175" indent="-257175" algn="l" defTabSz="685800" rtl="0" eaLnBrk="1" latinLnBrk="0" hangingPunct="1">
        <a:lnSpc>
          <a:spcPct val="120000"/>
        </a:lnSpc>
        <a:spcBef>
          <a:spcPts val="900"/>
        </a:spcBef>
        <a:buFont typeface="Arial" panose="020B0604020202020204" pitchFamily="34" charset="0"/>
        <a:buChar char="•"/>
        <a:defRPr sz="1950" b="0" kern="1200">
          <a:solidFill>
            <a:schemeClr val="tx1">
              <a:lumMod val="75000"/>
              <a:lumOff val="25000"/>
            </a:schemeClr>
          </a:solidFill>
          <a:latin typeface="+mn-lt"/>
          <a:ea typeface="+mn-ea"/>
          <a:cs typeface="等线" panose="02010600030101010101" charset="-122"/>
        </a:defRPr>
      </a:lvl1pPr>
      <a:lvl2pPr marL="557213" indent="-214313" algn="l" defTabSz="685800" rtl="0" eaLnBrk="1" latinLnBrk="0" hangingPunct="1">
        <a:lnSpc>
          <a:spcPct val="12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等线" panose="02010600030101010101" charset="-122"/>
        </a:defRPr>
      </a:lvl2pPr>
      <a:lvl3pPr marL="857250" indent="-171450" algn="l" defTabSz="685800" rtl="0" eaLnBrk="1" latinLnBrk="0" hangingPunct="1">
        <a:lnSpc>
          <a:spcPct val="120000"/>
        </a:lnSpc>
        <a:spcBef>
          <a:spcPct val="20000"/>
        </a:spcBef>
        <a:buFont typeface="Arial" panose="020B0604020202020204" pitchFamily="34" charset="0"/>
        <a:buChar char="•"/>
        <a:defRPr sz="1500" kern="1200">
          <a:solidFill>
            <a:schemeClr val="tx1">
              <a:lumMod val="75000"/>
              <a:lumOff val="25000"/>
            </a:schemeClr>
          </a:solidFill>
          <a:latin typeface="+mn-lt"/>
          <a:ea typeface="+mn-ea"/>
          <a:cs typeface="等线" panose="02010600030101010101" charset="-122"/>
        </a:defRPr>
      </a:lvl3pPr>
      <a:lvl4pPr marL="1200150" indent="-171450" algn="l" defTabSz="685800" rtl="0" eaLnBrk="1" latinLnBrk="0" hangingPunct="1">
        <a:lnSpc>
          <a:spcPct val="120000"/>
        </a:lnSpc>
        <a:spcBef>
          <a:spcPct val="20000"/>
        </a:spcBef>
        <a:buFont typeface="Arial" panose="020B0604020202020204" pitchFamily="34" charset="0"/>
        <a:buChar char="–"/>
        <a:defRPr sz="1350" kern="1200">
          <a:solidFill>
            <a:schemeClr val="tx1">
              <a:lumMod val="75000"/>
              <a:lumOff val="25000"/>
            </a:schemeClr>
          </a:solidFill>
          <a:latin typeface="+mn-lt"/>
          <a:ea typeface="+mn-ea"/>
          <a:cs typeface="等线" panose="02010600030101010101" charset="-122"/>
        </a:defRPr>
      </a:lvl4pPr>
      <a:lvl5pPr marL="1543050" indent="-171450" algn="l" defTabSz="685800" rtl="0" eaLnBrk="1" latinLnBrk="0" hangingPunct="1">
        <a:lnSpc>
          <a:spcPct val="120000"/>
        </a:lnSpc>
        <a:spcBef>
          <a:spcPct val="20000"/>
        </a:spcBef>
        <a:buFont typeface="Arial" panose="020B0604020202020204" pitchFamily="34" charset="0"/>
        <a:buChar char="»"/>
        <a:defRPr sz="1350" kern="1200">
          <a:solidFill>
            <a:schemeClr val="tx1">
              <a:lumMod val="75000"/>
              <a:lumOff val="25000"/>
            </a:schemeClr>
          </a:solidFill>
          <a:latin typeface="+mn-lt"/>
          <a:ea typeface="+mn-ea"/>
          <a:cs typeface="等线" panose="02010600030101010101" charset="-122"/>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C29"/>
        </a:solidFill>
        <a:effectLst/>
      </p:bgPr>
    </p:bg>
    <p:spTree>
      <p:nvGrpSpPr>
        <p:cNvPr id="1" name=""/>
        <p:cNvGrpSpPr/>
        <p:nvPr/>
      </p:nvGrpSpPr>
      <p:grpSpPr>
        <a:xfrm>
          <a:off x="0" y="0"/>
          <a:ext cx="0" cy="0"/>
          <a:chOff x="0" y="0"/>
          <a:chExt cx="0" cy="0"/>
        </a:xfrm>
      </p:grpSpPr>
      <p:sp>
        <p:nvSpPr>
          <p:cNvPr id="5" name="Text 3"/>
          <p:cNvSpPr/>
          <p:nvPr/>
        </p:nvSpPr>
        <p:spPr>
          <a:xfrm>
            <a:off x="640080" y="1417320"/>
            <a:ext cx="7863840" cy="274320"/>
          </a:xfrm>
          <a:prstGeom prst="rect">
            <a:avLst/>
          </a:prstGeom>
          <a:noFill/>
          <a:ln/>
        </p:spPr>
        <p:txBody>
          <a:bodyPr wrap="square" lIns="0" tIns="0" rIns="0" bIns="0" rtlCol="0" anchor="ctr"/>
          <a:lstStyle/>
          <a:p>
            <a:pPr marL="0" indent="0">
              <a:buNone/>
            </a:pPr>
            <a:r>
              <a:rPr lang="en-US" sz="1200" b="1" kern="0" spc="300" dirty="0">
                <a:solidFill>
                  <a:srgbClr val="E9C46A"/>
                </a:solidFill>
                <a:latin typeface="Trebuchet MS" pitchFamily="34" charset="0"/>
                <a:ea typeface="Trebuchet MS" pitchFamily="34" charset="-122"/>
                <a:cs typeface="Trebuchet MS" pitchFamily="34" charset="-120"/>
              </a:rPr>
              <a:t>ICS QUIZ SOL</a:t>
            </a:r>
            <a:endParaRPr lang="en-US" sz="1200" dirty="0"/>
          </a:p>
        </p:txBody>
      </p:sp>
      <p:sp>
        <p:nvSpPr>
          <p:cNvPr id="6" name="Text 4"/>
          <p:cNvSpPr/>
          <p:nvPr/>
        </p:nvSpPr>
        <p:spPr>
          <a:xfrm>
            <a:off x="640080" y="1737360"/>
            <a:ext cx="7863840" cy="91440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Signals, I/O &amp; Virtual Memory</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2F3C7E"/>
                </a:solidFill>
                <a:latin typeface="Trebuchet MS" pitchFamily="34" charset="0"/>
                <a:ea typeface="Trebuchet MS" pitchFamily="34" charset="-122"/>
                <a:cs typeface="Trebuchet MS" pitchFamily="34" charset="-120"/>
              </a:rPr>
              <a:t>ROADMAP</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What we'll walk through</a:t>
            </a:r>
            <a:endParaRPr lang="en-US" sz="2300" dirty="0"/>
          </a:p>
        </p:txBody>
      </p:sp>
      <p:sp>
        <p:nvSpPr>
          <p:cNvPr id="5" name="Shape 3"/>
          <p:cNvSpPr/>
          <p:nvPr/>
        </p:nvSpPr>
        <p:spPr>
          <a:xfrm>
            <a:off x="457200" y="1097280"/>
            <a:ext cx="4160520" cy="3154680"/>
          </a:xfrm>
          <a:prstGeom prst="rect">
            <a:avLst/>
          </a:prstGeom>
          <a:solidFill>
            <a:srgbClr val="FFFFFF"/>
          </a:solidFill>
          <a:ln w="12700">
            <a:solidFill>
              <a:srgbClr val="DDE1E6"/>
            </a:solidFill>
            <a:prstDash val="solid"/>
          </a:ln>
        </p:spPr>
      </p:sp>
      <p:sp>
        <p:nvSpPr>
          <p:cNvPr id="6" name="Shape 4"/>
          <p:cNvSpPr/>
          <p:nvPr/>
        </p:nvSpPr>
        <p:spPr>
          <a:xfrm>
            <a:off x="457200" y="1097280"/>
            <a:ext cx="64008" cy="3154680"/>
          </a:xfrm>
          <a:prstGeom prst="rect">
            <a:avLst/>
          </a:prstGeom>
          <a:solidFill>
            <a:srgbClr val="0E8A8A"/>
          </a:solidFill>
          <a:ln/>
        </p:spPr>
      </p:sp>
      <p:sp>
        <p:nvSpPr>
          <p:cNvPr id="7" name="Text 5"/>
          <p:cNvSpPr/>
          <p:nvPr/>
        </p:nvSpPr>
        <p:spPr>
          <a:xfrm>
            <a:off x="713232" y="1280160"/>
            <a:ext cx="3749040" cy="237744"/>
          </a:xfrm>
          <a:prstGeom prst="rect">
            <a:avLst/>
          </a:prstGeom>
          <a:noFill/>
          <a:ln/>
        </p:spPr>
        <p:txBody>
          <a:bodyPr wrap="square" lIns="0" tIns="0" rIns="0" bIns="0" rtlCol="0" anchor="ctr"/>
          <a:lstStyle/>
          <a:p>
            <a:pPr marL="0" indent="0">
              <a:buNone/>
            </a:pPr>
            <a:r>
              <a:rPr lang="en-US" sz="1000" b="1" kern="0" spc="50" dirty="0">
                <a:solidFill>
                  <a:srgbClr val="0E8A8A"/>
                </a:solidFill>
                <a:latin typeface="Trebuchet MS" pitchFamily="34" charset="0"/>
                <a:ea typeface="Trebuchet MS" pitchFamily="34" charset="-122"/>
                <a:cs typeface="Trebuchet MS" pitchFamily="34" charset="-120"/>
              </a:rPr>
              <a:t>PROBLEM 2 — SIGNAL &amp; I/O · 30 PTS</a:t>
            </a:r>
            <a:endParaRPr lang="en-US" sz="1000" dirty="0"/>
          </a:p>
        </p:txBody>
      </p:sp>
      <p:sp>
        <p:nvSpPr>
          <p:cNvPr id="8" name="Text 6"/>
          <p:cNvSpPr/>
          <p:nvPr/>
        </p:nvSpPr>
        <p:spPr>
          <a:xfrm>
            <a:off x="713232" y="1627632"/>
            <a:ext cx="3703320" cy="2468880"/>
          </a:xfrm>
          <a:prstGeom prst="rect">
            <a:avLst/>
          </a:prstGeom>
          <a:noFill/>
          <a:ln/>
        </p:spPr>
        <p:txBody>
          <a:bodyPr wrap="square" lIns="0" tIns="0" rIns="0" bIns="0" rtlCol="0" anchor="t"/>
          <a:lstStyle/>
          <a:p>
            <a:pPr marL="152400" indent="-152400">
              <a:spcAft>
                <a:spcPts val="1200"/>
              </a:spcAft>
              <a:buSzPct val="100000"/>
              <a:buChar char="•"/>
            </a:pPr>
            <a:r>
              <a:rPr lang="en-US" sz="1250" dirty="0">
                <a:solidFill>
                  <a:srgbClr val="1F2937"/>
                </a:solidFill>
                <a:latin typeface="Calibri" pitchFamily="34" charset="0"/>
                <a:ea typeface="Calibri" pitchFamily="34" charset="-122"/>
                <a:cs typeface="Calibri" pitchFamily="34" charset="-120"/>
              </a:rPr>
              <a:t>2.1  The three-table model — where does fd 1 point after Dup2 + Fork?  (6 pts)</a:t>
            </a:r>
            <a:endParaRPr lang="en-US" sz="1250" dirty="0"/>
          </a:p>
          <a:p>
            <a:pPr marL="152400" indent="-152400">
              <a:spcAft>
                <a:spcPts val="1200"/>
              </a:spcAft>
              <a:buSzPct val="100000"/>
              <a:buChar char="•"/>
            </a:pPr>
            <a:r>
              <a:rPr lang="en-US" sz="1250" dirty="0">
                <a:solidFill>
                  <a:srgbClr val="1F2937"/>
                </a:solidFill>
                <a:latin typeface="Calibri" pitchFamily="34" charset="0"/>
                <a:ea typeface="Calibri" pitchFamily="34" charset="-122"/>
                <a:cs typeface="Calibri" pitchFamily="34" charset="-120"/>
              </a:rPr>
              <a:t>2.2  Race condition — find the hang, then fix it with sigsuspend  (14 pts)</a:t>
            </a:r>
            <a:endParaRPr lang="en-US" sz="1250" dirty="0"/>
          </a:p>
          <a:p>
            <a:pPr marL="152400" indent="-152400">
              <a:spcAft>
                <a:spcPts val="1200"/>
              </a:spcAft>
              <a:buSzPct val="100000"/>
              <a:buChar char="•"/>
            </a:pPr>
            <a:r>
              <a:rPr lang="en-US" sz="1250" dirty="0">
                <a:solidFill>
                  <a:srgbClr val="1F2937"/>
                </a:solidFill>
                <a:latin typeface="Calibri" pitchFamily="34" charset="0"/>
                <a:ea typeface="Calibri" pitchFamily="34" charset="-122"/>
                <a:cs typeface="Calibri" pitchFamily="34" charset="-120"/>
              </a:rPr>
              <a:t>2.3  Async-signal safety (G0/G1/G2) + O_APPEND atomicity  (10 pts)</a:t>
            </a:r>
            <a:endParaRPr lang="en-US" sz="1250" dirty="0"/>
          </a:p>
        </p:txBody>
      </p:sp>
      <p:sp>
        <p:nvSpPr>
          <p:cNvPr id="9" name="Shape 7"/>
          <p:cNvSpPr/>
          <p:nvPr/>
        </p:nvSpPr>
        <p:spPr>
          <a:xfrm>
            <a:off x="4800600" y="1097280"/>
            <a:ext cx="3931920" cy="3154680"/>
          </a:xfrm>
          <a:prstGeom prst="rect">
            <a:avLst/>
          </a:prstGeom>
          <a:solidFill>
            <a:srgbClr val="FFFFFF"/>
          </a:solidFill>
          <a:ln w="12700">
            <a:solidFill>
              <a:srgbClr val="DDE1E6"/>
            </a:solidFill>
            <a:prstDash val="solid"/>
          </a:ln>
        </p:spPr>
      </p:sp>
      <p:sp>
        <p:nvSpPr>
          <p:cNvPr id="10" name="Shape 8"/>
          <p:cNvSpPr/>
          <p:nvPr/>
        </p:nvSpPr>
        <p:spPr>
          <a:xfrm>
            <a:off x="4800600" y="1097280"/>
            <a:ext cx="64008" cy="3154680"/>
          </a:xfrm>
          <a:prstGeom prst="rect">
            <a:avLst/>
          </a:prstGeom>
          <a:solidFill>
            <a:srgbClr val="C2641A"/>
          </a:solidFill>
          <a:ln/>
        </p:spPr>
      </p:sp>
      <p:sp>
        <p:nvSpPr>
          <p:cNvPr id="11" name="Text 9"/>
          <p:cNvSpPr/>
          <p:nvPr/>
        </p:nvSpPr>
        <p:spPr>
          <a:xfrm>
            <a:off x="5056632" y="1280160"/>
            <a:ext cx="3566160" cy="237744"/>
          </a:xfrm>
          <a:prstGeom prst="rect">
            <a:avLst/>
          </a:prstGeom>
          <a:noFill/>
          <a:ln/>
        </p:spPr>
        <p:txBody>
          <a:bodyPr wrap="square" lIns="0" tIns="0" rIns="0" bIns="0" rtlCol="0" anchor="ctr"/>
          <a:lstStyle/>
          <a:p>
            <a:pPr marL="0" indent="0">
              <a:buNone/>
            </a:pPr>
            <a:r>
              <a:rPr lang="en-US" sz="1000" b="1" kern="0" spc="50" dirty="0">
                <a:solidFill>
                  <a:srgbClr val="C2641A"/>
                </a:solidFill>
                <a:latin typeface="Trebuchet MS" pitchFamily="34" charset="0"/>
                <a:ea typeface="Trebuchet MS" pitchFamily="34" charset="-122"/>
                <a:cs typeface="Trebuchet MS" pitchFamily="34" charset="-120"/>
              </a:rPr>
              <a:t>PROBLEM 3 — VIRTUAL MEMORY · 39 PTS</a:t>
            </a:r>
            <a:endParaRPr lang="en-US" sz="1000" dirty="0"/>
          </a:p>
        </p:txBody>
      </p:sp>
      <p:sp>
        <p:nvSpPr>
          <p:cNvPr id="12" name="Text 10"/>
          <p:cNvSpPr/>
          <p:nvPr/>
        </p:nvSpPr>
        <p:spPr>
          <a:xfrm>
            <a:off x="5056632" y="1627632"/>
            <a:ext cx="3474720" cy="2560320"/>
          </a:xfrm>
          <a:prstGeom prst="rect">
            <a:avLst/>
          </a:prstGeom>
          <a:noFill/>
          <a:ln/>
        </p:spPr>
        <p:txBody>
          <a:bodyPr wrap="square" lIns="0" tIns="0" rIns="0" bIns="0" rtlCol="0" anchor="t"/>
          <a:lstStyle/>
          <a:p>
            <a:pPr marL="152400" indent="-1524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3.1  Bit-width fundamentals  (8 pts)</a:t>
            </a:r>
            <a:endParaRPr lang="en-US" sz="1250" dirty="0"/>
          </a:p>
          <a:p>
            <a:pPr marL="152400" indent="-1524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3.2  Page-table memory: regular vs. 2 MB huge pages  (15 pts)</a:t>
            </a:r>
            <a:endParaRPr lang="en-US" sz="1250" dirty="0"/>
          </a:p>
          <a:p>
            <a:pPr marL="152400" indent="-1524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3.3  VIPT cache constraint: CI + CO ≤ VPO  (8 pts)</a:t>
            </a:r>
            <a:endParaRPr lang="en-US" sz="1250" dirty="0"/>
          </a:p>
          <a:p>
            <a:pPr marL="152400" indent="-152400">
              <a:spcAft>
                <a:spcPts val="1000"/>
              </a:spcAft>
              <a:buSzPct val="100000"/>
              <a:buChar char="•"/>
            </a:pPr>
            <a:r>
              <a:rPr lang="en-US" sz="1250" dirty="0">
                <a:solidFill>
                  <a:srgbClr val="1F2937"/>
                </a:solidFill>
                <a:latin typeface="Calibri" pitchFamily="34" charset="0"/>
                <a:ea typeface="Calibri" pitchFamily="34" charset="-122"/>
                <a:cs typeface="Calibri" pitchFamily="34" charset="-120"/>
              </a:rPr>
              <a:t>3.4  Why mmap beats read + write  (8 pts)</a:t>
            </a:r>
            <a:endParaRPr lang="en-US" sz="1250" dirty="0"/>
          </a:p>
        </p:txBody>
      </p:sp>
      <p:sp>
        <p:nvSpPr>
          <p:cNvPr id="13" name="Text 11"/>
          <p:cNvSpPr/>
          <p:nvPr/>
        </p:nvSpPr>
        <p:spPr>
          <a:xfrm>
            <a:off x="457200" y="4434840"/>
            <a:ext cx="8229600" cy="27432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Goal: not just the answers — the reusable mental models behind them.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C29"/>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76819B"/>
                </a:solidFill>
                <a:latin typeface="Calibri" pitchFamily="34" charset="0"/>
                <a:ea typeface="Calibri" pitchFamily="34" charset="-122"/>
                <a:cs typeface="Calibri" pitchFamily="34" charset="-120"/>
              </a:rPr>
              <a:t>ICS Quiz Walkthrough  ·  3</a:t>
            </a:r>
            <a:endParaRPr lang="en-US" sz="850" dirty="0"/>
          </a:p>
        </p:txBody>
      </p:sp>
      <p:sp>
        <p:nvSpPr>
          <p:cNvPr id="3" name="Shape 1"/>
          <p:cNvSpPr/>
          <p:nvPr/>
        </p:nvSpPr>
        <p:spPr>
          <a:xfrm>
            <a:off x="0" y="0"/>
            <a:ext cx="164592" cy="5143500"/>
          </a:xfrm>
          <a:prstGeom prst="rect">
            <a:avLst/>
          </a:prstGeom>
          <a:solidFill>
            <a:srgbClr val="0E8A8A"/>
          </a:solidFill>
          <a:ln/>
        </p:spPr>
      </p:sp>
      <p:sp>
        <p:nvSpPr>
          <p:cNvPr id="4" name="Text 2"/>
          <p:cNvSpPr/>
          <p:nvPr/>
        </p:nvSpPr>
        <p:spPr>
          <a:xfrm>
            <a:off x="640080" y="1371600"/>
            <a:ext cx="7315200" cy="274320"/>
          </a:xfrm>
          <a:prstGeom prst="rect">
            <a:avLst/>
          </a:prstGeom>
          <a:noFill/>
          <a:ln/>
        </p:spPr>
        <p:txBody>
          <a:bodyPr wrap="square" lIns="0" tIns="0" rIns="0" bIns="0" rtlCol="0" anchor="ctr"/>
          <a:lstStyle/>
          <a:p>
            <a:pPr marL="0" indent="0">
              <a:buNone/>
            </a:pPr>
            <a:r>
              <a:rPr lang="en-US" sz="1300" b="1" kern="0" spc="300" dirty="0">
                <a:solidFill>
                  <a:srgbClr val="0E8A8A"/>
                </a:solidFill>
                <a:latin typeface="Trebuchet MS" pitchFamily="34" charset="0"/>
                <a:ea typeface="Trebuchet MS" pitchFamily="34" charset="-122"/>
                <a:cs typeface="Trebuchet MS" pitchFamily="34" charset="-120"/>
              </a:rPr>
              <a:t>PROBLEM 2  ·  30 PTS</a:t>
            </a:r>
            <a:endParaRPr lang="en-US" sz="1300" dirty="0"/>
          </a:p>
        </p:txBody>
      </p:sp>
      <p:sp>
        <p:nvSpPr>
          <p:cNvPr id="5" name="Text 3"/>
          <p:cNvSpPr/>
          <p:nvPr/>
        </p:nvSpPr>
        <p:spPr>
          <a:xfrm>
            <a:off x="640080" y="1737360"/>
            <a:ext cx="7863840" cy="155448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Signal &amp; I/O:</a:t>
            </a:r>
            <a:endParaRPr lang="en-US" sz="3600" dirty="0"/>
          </a:p>
          <a:p>
            <a:pPr marL="0" indent="0">
              <a:buNone/>
            </a:pPr>
            <a:r>
              <a:rPr lang="en-US" sz="3600" b="1" dirty="0">
                <a:solidFill>
                  <a:srgbClr val="FFFFFF"/>
                </a:solidFill>
                <a:latin typeface="Trebuchet MS" pitchFamily="34" charset="0"/>
                <a:ea typeface="Trebuchet MS" pitchFamily="34" charset="-122"/>
                <a:cs typeface="Trebuchet MS" pitchFamily="34" charset="-120"/>
              </a:rPr>
              <a:t>a logger that hangs</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4</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SETUP</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logger.c — the whole problem in 14 lines</a:t>
            </a:r>
            <a:endParaRPr lang="en-US" sz="2300" dirty="0"/>
          </a:p>
        </p:txBody>
      </p:sp>
      <p:sp>
        <p:nvSpPr>
          <p:cNvPr id="5" name="Shape 3"/>
          <p:cNvSpPr/>
          <p:nvPr/>
        </p:nvSpPr>
        <p:spPr>
          <a:xfrm>
            <a:off x="457200" y="1051560"/>
            <a:ext cx="5120640" cy="3200400"/>
          </a:xfrm>
          <a:prstGeom prst="roundRect">
            <a:avLst>
              <a:gd name="adj" fmla="val 1429"/>
            </a:avLst>
          </a:prstGeom>
          <a:solidFill>
            <a:srgbClr val="232830"/>
          </a:solidFill>
          <a:ln/>
        </p:spPr>
      </p:sp>
      <p:sp>
        <p:nvSpPr>
          <p:cNvPr id="6" name="Text 4"/>
          <p:cNvSpPr/>
          <p:nvPr/>
        </p:nvSpPr>
        <p:spPr>
          <a:xfrm>
            <a:off x="621792" y="1143000"/>
            <a:ext cx="4828032" cy="3017520"/>
          </a:xfrm>
          <a:prstGeom prst="rect">
            <a:avLst/>
          </a:prstGeom>
          <a:noFill/>
          <a:ln/>
        </p:spPr>
        <p:txBody>
          <a:bodyPr wrap="square" lIns="0" tIns="0" rIns="0" bIns="0" rtlCol="0" anchor="t"/>
          <a:lstStyle/>
          <a:p>
            <a:pPr marL="0" indent="0">
              <a:lnSpc>
                <a:spcPct val="112000"/>
              </a:lnSpc>
              <a:buNone/>
            </a:pPr>
            <a:r>
              <a:rPr lang="en-US" sz="1000" dirty="0">
                <a:solidFill>
                  <a:srgbClr val="8B93A1"/>
                </a:solidFill>
                <a:latin typeface="Courier New" pitchFamily="34" charset="0"/>
                <a:ea typeface="Courier New" pitchFamily="34" charset="-122"/>
                <a:cs typeface="Courier New" pitchFamily="34" charset="-120"/>
              </a:rPr>
              <a:t> 2  volatile sig_atomic_t reaped = 0;</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 5  void chld_handler(int sig) {</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 7    while ((pid = waitpid(-1,NULL,WNOHANG)) &gt; 0) {</a:t>
            </a:r>
            <a:endParaRPr lang="en-US" sz="1000" dirty="0"/>
          </a:p>
          <a:p>
            <a:pPr marL="0" indent="0">
              <a:lnSpc>
                <a:spcPct val="112000"/>
              </a:lnSpc>
              <a:buNone/>
            </a:pPr>
            <a:r>
              <a:rPr lang="en-US" sz="1000" dirty="0">
                <a:solidFill>
                  <a:srgbClr val="E9C46A"/>
                </a:solidFill>
                <a:latin typeface="Courier New" pitchFamily="34" charset="0"/>
                <a:ea typeface="Courier New" pitchFamily="34" charset="-122"/>
                <a:cs typeface="Courier New" pitchFamily="34" charset="-120"/>
              </a:rPr>
              <a:t> 8      printf("reaped pid %d (total=%d)\n", ...);</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10      reaped++;  } }</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19  logfd = Open("/tmp/run.log",</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20             O_WRONLY|O_CREAT|O_APPEND, 0644);</a:t>
            </a:r>
            <a:endParaRPr lang="en-US" sz="1000" dirty="0"/>
          </a:p>
          <a:p>
            <a:pPr marL="0" indent="0">
              <a:lnSpc>
                <a:spcPct val="112000"/>
              </a:lnSpc>
              <a:buNone/>
            </a:pPr>
            <a:r>
              <a:rPr lang="en-US" sz="1000" dirty="0">
                <a:solidFill>
                  <a:srgbClr val="A3D9A5"/>
                </a:solidFill>
                <a:latin typeface="Courier New" pitchFamily="34" charset="0"/>
                <a:ea typeface="Courier New" pitchFamily="34" charset="-122"/>
                <a:cs typeface="Courier New" pitchFamily="34" charset="-120"/>
              </a:rPr>
              <a:t>21  Dup2(logfd, STDOUT_FILENO);</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23  Signal(SIGCHLD, chld_handler);</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24  Sigprocmask(SIG_BLOCK, &amp;mask, &amp;prev);</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26  for (i = 0; i &lt; 3; i++)</a:t>
            </a:r>
            <a:endParaRPr lang="en-US" sz="1000" dirty="0"/>
          </a:p>
          <a:p>
            <a:pPr marL="0" indent="0">
              <a:lnSpc>
                <a:spcPct val="112000"/>
              </a:lnSpc>
              <a:buNone/>
            </a:pPr>
            <a:r>
              <a:rPr lang="en-US" sz="1000" dirty="0">
                <a:solidFill>
                  <a:srgbClr val="A3D9A5"/>
                </a:solidFill>
                <a:latin typeface="Courier New" pitchFamily="34" charset="0"/>
                <a:ea typeface="Courier New" pitchFamily="34" charset="-122"/>
                <a:cs typeface="Courier New" pitchFamily="34" charset="-120"/>
              </a:rPr>
              <a:t>27    if (Fork() == 0) { printf(...); exit(0); }</a:t>
            </a:r>
            <a:endParaRPr lang="en-US" sz="1000" dirty="0"/>
          </a:p>
          <a:p>
            <a:pPr marL="0" indent="0">
              <a:lnSpc>
                <a:spcPct val="112000"/>
              </a:lnSpc>
              <a:buNone/>
            </a:pPr>
            <a:r>
              <a:rPr lang="en-US" sz="1000" dirty="0">
                <a:solidFill>
                  <a:srgbClr val="D8DEE9"/>
                </a:solidFill>
                <a:latin typeface="Courier New" pitchFamily="34" charset="0"/>
                <a:ea typeface="Courier New" pitchFamily="34" charset="-122"/>
                <a:cs typeface="Courier New" pitchFamily="34" charset="-120"/>
              </a:rPr>
              <a:t>33  printf("parent: forked 3 children\n");</a:t>
            </a:r>
            <a:endParaRPr lang="en-US" sz="1000" dirty="0"/>
          </a:p>
          <a:p>
            <a:pPr marL="0" indent="0">
              <a:lnSpc>
                <a:spcPct val="112000"/>
              </a:lnSpc>
              <a:buNone/>
            </a:pPr>
            <a:r>
              <a:rPr lang="en-US" sz="1000" dirty="0">
                <a:solidFill>
                  <a:srgbClr val="E9C46A"/>
                </a:solidFill>
                <a:latin typeface="Courier New" pitchFamily="34" charset="0"/>
                <a:ea typeface="Courier New" pitchFamily="34" charset="-122"/>
                <a:cs typeface="Courier New" pitchFamily="34" charset="-120"/>
              </a:rPr>
              <a:t>34  Sigprocmask(SIG_SETMASK, &amp;prev, NULL);</a:t>
            </a:r>
            <a:endParaRPr lang="en-US" sz="1000" dirty="0"/>
          </a:p>
          <a:p>
            <a:pPr marL="0" indent="0">
              <a:lnSpc>
                <a:spcPct val="112000"/>
              </a:lnSpc>
              <a:buNone/>
            </a:pPr>
            <a:r>
              <a:rPr lang="en-US" sz="1000" dirty="0">
                <a:solidFill>
                  <a:srgbClr val="E9C46A"/>
                </a:solidFill>
                <a:latin typeface="Courier New" pitchFamily="34" charset="0"/>
                <a:ea typeface="Courier New" pitchFamily="34" charset="-122"/>
                <a:cs typeface="Courier New" pitchFamily="34" charset="-120"/>
              </a:rPr>
              <a:t>36  while (reaped &lt; 3)</a:t>
            </a:r>
            <a:endParaRPr lang="en-US" sz="1000" dirty="0"/>
          </a:p>
          <a:p>
            <a:pPr marL="0" indent="0">
              <a:lnSpc>
                <a:spcPct val="112000"/>
              </a:lnSpc>
              <a:buNone/>
            </a:pPr>
            <a:r>
              <a:rPr lang="en-US" sz="1000" dirty="0">
                <a:solidFill>
                  <a:srgbClr val="E9C46A"/>
                </a:solidFill>
                <a:latin typeface="Courier New" pitchFamily="34" charset="0"/>
                <a:ea typeface="Courier New" pitchFamily="34" charset="-122"/>
                <a:cs typeface="Courier New" pitchFamily="34" charset="-120"/>
              </a:rPr>
              <a:t>37      Pause();</a:t>
            </a:r>
            <a:endParaRPr lang="en-US" sz="1000" dirty="0"/>
          </a:p>
        </p:txBody>
      </p:sp>
      <p:sp>
        <p:nvSpPr>
          <p:cNvPr id="7" name="Shape 5"/>
          <p:cNvSpPr/>
          <p:nvPr/>
        </p:nvSpPr>
        <p:spPr>
          <a:xfrm>
            <a:off x="5760720" y="1188720"/>
            <a:ext cx="2971800" cy="960120"/>
          </a:xfrm>
          <a:prstGeom prst="rect">
            <a:avLst/>
          </a:prstGeom>
          <a:solidFill>
            <a:srgbClr val="FFFFFF"/>
          </a:solidFill>
          <a:ln w="12700">
            <a:solidFill>
              <a:srgbClr val="DDE1E6"/>
            </a:solidFill>
            <a:prstDash val="solid"/>
          </a:ln>
        </p:spPr>
      </p:sp>
      <p:sp>
        <p:nvSpPr>
          <p:cNvPr id="8" name="Shape 6"/>
          <p:cNvSpPr/>
          <p:nvPr/>
        </p:nvSpPr>
        <p:spPr>
          <a:xfrm>
            <a:off x="5760720" y="1188720"/>
            <a:ext cx="64008" cy="960120"/>
          </a:xfrm>
          <a:prstGeom prst="rect">
            <a:avLst/>
          </a:prstGeom>
          <a:solidFill>
            <a:srgbClr val="0E8A8A"/>
          </a:solidFill>
          <a:ln/>
        </p:spPr>
      </p:sp>
      <p:sp>
        <p:nvSpPr>
          <p:cNvPr id="9" name="Text 7"/>
          <p:cNvSpPr/>
          <p:nvPr/>
        </p:nvSpPr>
        <p:spPr>
          <a:xfrm>
            <a:off x="5943600" y="1280160"/>
            <a:ext cx="548640" cy="274320"/>
          </a:xfrm>
          <a:prstGeom prst="rect">
            <a:avLst/>
          </a:prstGeom>
          <a:noFill/>
          <a:ln/>
        </p:spPr>
        <p:txBody>
          <a:bodyPr wrap="square" lIns="0" tIns="0" rIns="0" bIns="0" rtlCol="0" anchor="ctr"/>
          <a:lstStyle/>
          <a:p>
            <a:pPr marL="0" indent="0">
              <a:buNone/>
            </a:pPr>
            <a:r>
              <a:rPr lang="en-US" sz="1500" b="1" dirty="0">
                <a:solidFill>
                  <a:srgbClr val="0E8A8A"/>
                </a:solidFill>
                <a:latin typeface="Trebuchet MS" pitchFamily="34" charset="0"/>
                <a:ea typeface="Trebuchet MS" pitchFamily="34" charset="-122"/>
                <a:cs typeface="Trebuchet MS" pitchFamily="34" charset="-120"/>
              </a:rPr>
              <a:t>2.1</a:t>
            </a:r>
            <a:endParaRPr lang="en-US" sz="1500" dirty="0"/>
          </a:p>
        </p:txBody>
      </p:sp>
      <p:sp>
        <p:nvSpPr>
          <p:cNvPr id="10" name="Text 8"/>
          <p:cNvSpPr/>
          <p:nvPr/>
        </p:nvSpPr>
        <p:spPr>
          <a:xfrm>
            <a:off x="6492240" y="1307592"/>
            <a:ext cx="2103120" cy="228600"/>
          </a:xfrm>
          <a:prstGeom prst="rect">
            <a:avLst/>
          </a:prstGeom>
          <a:noFill/>
          <a:ln/>
        </p:spPr>
        <p:txBody>
          <a:bodyPr wrap="square" lIns="0" tIns="0" rIns="0" bIns="0" rtlCol="0" anchor="ctr"/>
          <a:lstStyle/>
          <a:p>
            <a:pPr marL="0" indent="0">
              <a:buNone/>
            </a:pPr>
            <a:r>
              <a:rPr lang="en-US" sz="1000" b="1" dirty="0">
                <a:solidFill>
                  <a:srgbClr val="6B7280"/>
                </a:solidFill>
                <a:latin typeface="Courier New" pitchFamily="34" charset="0"/>
                <a:ea typeface="Courier New" pitchFamily="34" charset="-122"/>
                <a:cs typeface="Courier New" pitchFamily="34" charset="-120"/>
              </a:rPr>
              <a:t>Lines 19–21, 27</a:t>
            </a:r>
            <a:endParaRPr lang="en-US" sz="1000" dirty="0"/>
          </a:p>
        </p:txBody>
      </p:sp>
      <p:sp>
        <p:nvSpPr>
          <p:cNvPr id="11" name="Text 9"/>
          <p:cNvSpPr/>
          <p:nvPr/>
        </p:nvSpPr>
        <p:spPr>
          <a:xfrm>
            <a:off x="5943600" y="1572768"/>
            <a:ext cx="2651760" cy="530352"/>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Open + Dup2 + Fork: who shares the open file table entry?</a:t>
            </a:r>
            <a:endParaRPr lang="en-US" sz="1050" dirty="0"/>
          </a:p>
        </p:txBody>
      </p:sp>
      <p:sp>
        <p:nvSpPr>
          <p:cNvPr id="12" name="Shape 10"/>
          <p:cNvSpPr/>
          <p:nvPr/>
        </p:nvSpPr>
        <p:spPr>
          <a:xfrm>
            <a:off x="5760720" y="2331720"/>
            <a:ext cx="2971800" cy="960120"/>
          </a:xfrm>
          <a:prstGeom prst="rect">
            <a:avLst/>
          </a:prstGeom>
          <a:solidFill>
            <a:srgbClr val="FFFFFF"/>
          </a:solidFill>
          <a:ln w="12700">
            <a:solidFill>
              <a:srgbClr val="DDE1E6"/>
            </a:solidFill>
            <a:prstDash val="solid"/>
          </a:ln>
        </p:spPr>
      </p:sp>
      <p:sp>
        <p:nvSpPr>
          <p:cNvPr id="13" name="Shape 11"/>
          <p:cNvSpPr/>
          <p:nvPr/>
        </p:nvSpPr>
        <p:spPr>
          <a:xfrm>
            <a:off x="5760720" y="2331720"/>
            <a:ext cx="64008" cy="960120"/>
          </a:xfrm>
          <a:prstGeom prst="rect">
            <a:avLst/>
          </a:prstGeom>
          <a:solidFill>
            <a:srgbClr val="0E8A8A"/>
          </a:solidFill>
          <a:ln/>
        </p:spPr>
      </p:sp>
      <p:sp>
        <p:nvSpPr>
          <p:cNvPr id="14" name="Text 12"/>
          <p:cNvSpPr/>
          <p:nvPr/>
        </p:nvSpPr>
        <p:spPr>
          <a:xfrm>
            <a:off x="5943600" y="2423160"/>
            <a:ext cx="548640" cy="274320"/>
          </a:xfrm>
          <a:prstGeom prst="rect">
            <a:avLst/>
          </a:prstGeom>
          <a:noFill/>
          <a:ln/>
        </p:spPr>
        <p:txBody>
          <a:bodyPr wrap="square" lIns="0" tIns="0" rIns="0" bIns="0" rtlCol="0" anchor="ctr"/>
          <a:lstStyle/>
          <a:p>
            <a:pPr marL="0" indent="0">
              <a:buNone/>
            </a:pPr>
            <a:r>
              <a:rPr lang="en-US" sz="1500" b="1" dirty="0">
                <a:solidFill>
                  <a:srgbClr val="0E8A8A"/>
                </a:solidFill>
                <a:latin typeface="Trebuchet MS" pitchFamily="34" charset="0"/>
                <a:ea typeface="Trebuchet MS" pitchFamily="34" charset="-122"/>
                <a:cs typeface="Trebuchet MS" pitchFamily="34" charset="-120"/>
              </a:rPr>
              <a:t>2.2</a:t>
            </a:r>
            <a:endParaRPr lang="en-US" sz="1500" dirty="0"/>
          </a:p>
        </p:txBody>
      </p:sp>
      <p:sp>
        <p:nvSpPr>
          <p:cNvPr id="15" name="Text 13"/>
          <p:cNvSpPr/>
          <p:nvPr/>
        </p:nvSpPr>
        <p:spPr>
          <a:xfrm>
            <a:off x="6492240" y="2450592"/>
            <a:ext cx="2103120" cy="228600"/>
          </a:xfrm>
          <a:prstGeom prst="rect">
            <a:avLst/>
          </a:prstGeom>
          <a:noFill/>
          <a:ln/>
        </p:spPr>
        <p:txBody>
          <a:bodyPr wrap="square" lIns="0" tIns="0" rIns="0" bIns="0" rtlCol="0" anchor="ctr"/>
          <a:lstStyle/>
          <a:p>
            <a:pPr marL="0" indent="0">
              <a:buNone/>
            </a:pPr>
            <a:r>
              <a:rPr lang="en-US" sz="1000" b="1" dirty="0">
                <a:solidFill>
                  <a:srgbClr val="6B7280"/>
                </a:solidFill>
                <a:latin typeface="Courier New" pitchFamily="34" charset="0"/>
                <a:ea typeface="Courier New" pitchFamily="34" charset="-122"/>
                <a:cs typeface="Courier New" pitchFamily="34" charset="-120"/>
              </a:rPr>
              <a:t>Lines 34, 36–37</a:t>
            </a:r>
            <a:endParaRPr lang="en-US" sz="1000" dirty="0"/>
          </a:p>
        </p:txBody>
      </p:sp>
      <p:sp>
        <p:nvSpPr>
          <p:cNvPr id="16" name="Text 14"/>
          <p:cNvSpPr/>
          <p:nvPr/>
        </p:nvSpPr>
        <p:spPr>
          <a:xfrm>
            <a:off x="5943600" y="2715768"/>
            <a:ext cx="2651760" cy="530352"/>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Unblock, then test-and-Pause: a lost-wakeup race</a:t>
            </a:r>
            <a:endParaRPr lang="en-US" sz="1050" dirty="0"/>
          </a:p>
        </p:txBody>
      </p:sp>
      <p:sp>
        <p:nvSpPr>
          <p:cNvPr id="17" name="Shape 15"/>
          <p:cNvSpPr/>
          <p:nvPr/>
        </p:nvSpPr>
        <p:spPr>
          <a:xfrm>
            <a:off x="5760720" y="3474720"/>
            <a:ext cx="2971800" cy="960120"/>
          </a:xfrm>
          <a:prstGeom prst="rect">
            <a:avLst/>
          </a:prstGeom>
          <a:solidFill>
            <a:srgbClr val="FFFFFF"/>
          </a:solidFill>
          <a:ln w="12700">
            <a:solidFill>
              <a:srgbClr val="DDE1E6"/>
            </a:solidFill>
            <a:prstDash val="solid"/>
          </a:ln>
        </p:spPr>
      </p:sp>
      <p:sp>
        <p:nvSpPr>
          <p:cNvPr id="18" name="Shape 16"/>
          <p:cNvSpPr/>
          <p:nvPr/>
        </p:nvSpPr>
        <p:spPr>
          <a:xfrm>
            <a:off x="5760720" y="3474720"/>
            <a:ext cx="64008" cy="960120"/>
          </a:xfrm>
          <a:prstGeom prst="rect">
            <a:avLst/>
          </a:prstGeom>
          <a:solidFill>
            <a:srgbClr val="0E8A8A"/>
          </a:solidFill>
          <a:ln/>
        </p:spPr>
      </p:sp>
      <p:sp>
        <p:nvSpPr>
          <p:cNvPr id="19" name="Text 17"/>
          <p:cNvSpPr/>
          <p:nvPr/>
        </p:nvSpPr>
        <p:spPr>
          <a:xfrm>
            <a:off x="5943600" y="3566160"/>
            <a:ext cx="548640" cy="274320"/>
          </a:xfrm>
          <a:prstGeom prst="rect">
            <a:avLst/>
          </a:prstGeom>
          <a:noFill/>
          <a:ln/>
        </p:spPr>
        <p:txBody>
          <a:bodyPr wrap="square" lIns="0" tIns="0" rIns="0" bIns="0" rtlCol="0" anchor="ctr"/>
          <a:lstStyle/>
          <a:p>
            <a:pPr marL="0" indent="0">
              <a:buNone/>
            </a:pPr>
            <a:r>
              <a:rPr lang="en-US" sz="1500" b="1" dirty="0">
                <a:solidFill>
                  <a:srgbClr val="0E8A8A"/>
                </a:solidFill>
                <a:latin typeface="Trebuchet MS" pitchFamily="34" charset="0"/>
                <a:ea typeface="Trebuchet MS" pitchFamily="34" charset="-122"/>
                <a:cs typeface="Trebuchet MS" pitchFamily="34" charset="-120"/>
              </a:rPr>
              <a:t>2.3</a:t>
            </a:r>
            <a:endParaRPr lang="en-US" sz="1500" dirty="0"/>
          </a:p>
        </p:txBody>
      </p:sp>
      <p:sp>
        <p:nvSpPr>
          <p:cNvPr id="20" name="Text 18"/>
          <p:cNvSpPr/>
          <p:nvPr/>
        </p:nvSpPr>
        <p:spPr>
          <a:xfrm>
            <a:off x="6492240" y="3593592"/>
            <a:ext cx="2103120" cy="228600"/>
          </a:xfrm>
          <a:prstGeom prst="rect">
            <a:avLst/>
          </a:prstGeom>
          <a:noFill/>
          <a:ln/>
        </p:spPr>
        <p:txBody>
          <a:bodyPr wrap="square" lIns="0" tIns="0" rIns="0" bIns="0" rtlCol="0" anchor="ctr"/>
          <a:lstStyle/>
          <a:p>
            <a:pPr marL="0" indent="0">
              <a:buNone/>
            </a:pPr>
            <a:r>
              <a:rPr lang="en-US" sz="1000" b="1" dirty="0">
                <a:solidFill>
                  <a:srgbClr val="6B7280"/>
                </a:solidFill>
                <a:latin typeface="Courier New" pitchFamily="34" charset="0"/>
                <a:ea typeface="Courier New" pitchFamily="34" charset="-122"/>
                <a:cs typeface="Courier New" pitchFamily="34" charset="-120"/>
              </a:rPr>
              <a:t>Lines 5–12</a:t>
            </a:r>
            <a:endParaRPr lang="en-US" sz="1000" dirty="0"/>
          </a:p>
        </p:txBody>
      </p:sp>
      <p:sp>
        <p:nvSpPr>
          <p:cNvPr id="21" name="Text 19"/>
          <p:cNvSpPr/>
          <p:nvPr/>
        </p:nvSpPr>
        <p:spPr>
          <a:xfrm>
            <a:off x="5943600" y="3858768"/>
            <a:ext cx="2651760" cy="530352"/>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printf in a handler, errno clobbered, O_APPEND to the rescue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5</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2.1 (A)</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After Dup2 (line 21): who points at run.log?</a:t>
            </a:r>
            <a:endParaRPr lang="en-US" sz="2300" dirty="0"/>
          </a:p>
        </p:txBody>
      </p:sp>
      <p:sp>
        <p:nvSpPr>
          <p:cNvPr id="5" name="Text 3"/>
          <p:cNvSpPr/>
          <p:nvPr/>
        </p:nvSpPr>
        <p:spPr>
          <a:xfrm>
            <a:off x="457200" y="1024128"/>
            <a:ext cx="1920240" cy="219456"/>
          </a:xfrm>
          <a:prstGeom prst="rect">
            <a:avLst/>
          </a:prstGeom>
          <a:noFill/>
          <a:ln/>
        </p:spPr>
        <p:txBody>
          <a:bodyPr wrap="square" lIns="0" tIns="0" rIns="0" bIns="0" rtlCol="0" anchor="ctr"/>
          <a:lstStyle/>
          <a:p>
            <a:pPr marL="0" indent="0">
              <a:buNone/>
            </a:pPr>
            <a:r>
              <a:rPr lang="en-US" sz="1000" b="1" dirty="0">
                <a:solidFill>
                  <a:srgbClr val="6B7280"/>
                </a:solidFill>
                <a:latin typeface="Trebuchet MS" pitchFamily="34" charset="0"/>
                <a:ea typeface="Trebuchet MS" pitchFamily="34" charset="-122"/>
                <a:cs typeface="Trebuchet MS" pitchFamily="34" charset="-120"/>
              </a:rPr>
              <a:t>Parent descriptor table</a:t>
            </a:r>
            <a:endParaRPr lang="en-US" sz="1000" dirty="0"/>
          </a:p>
        </p:txBody>
      </p:sp>
      <p:sp>
        <p:nvSpPr>
          <p:cNvPr id="6" name="Text 4"/>
          <p:cNvSpPr/>
          <p:nvPr/>
        </p:nvSpPr>
        <p:spPr>
          <a:xfrm>
            <a:off x="3383280" y="1024128"/>
            <a:ext cx="2651760" cy="219456"/>
          </a:xfrm>
          <a:prstGeom prst="rect">
            <a:avLst/>
          </a:prstGeom>
          <a:noFill/>
          <a:ln/>
        </p:spPr>
        <p:txBody>
          <a:bodyPr wrap="square" lIns="0" tIns="0" rIns="0" bIns="0" rtlCol="0" anchor="ctr"/>
          <a:lstStyle/>
          <a:p>
            <a:pPr marL="0" indent="0">
              <a:buNone/>
            </a:pPr>
            <a:r>
              <a:rPr lang="en-US" sz="1000" b="1" dirty="0">
                <a:solidFill>
                  <a:srgbClr val="6B7280"/>
                </a:solidFill>
                <a:latin typeface="Trebuchet MS" pitchFamily="34" charset="0"/>
                <a:ea typeface="Trebuchet MS" pitchFamily="34" charset="-122"/>
                <a:cs typeface="Trebuchet MS" pitchFamily="34" charset="-120"/>
              </a:rPr>
              <a:t>Open file table (system-wide)</a:t>
            </a:r>
            <a:endParaRPr lang="en-US" sz="1000" dirty="0"/>
          </a:p>
        </p:txBody>
      </p:sp>
      <p:sp>
        <p:nvSpPr>
          <p:cNvPr id="7" name="Text 5"/>
          <p:cNvSpPr/>
          <p:nvPr/>
        </p:nvSpPr>
        <p:spPr>
          <a:xfrm>
            <a:off x="7040880" y="1024128"/>
            <a:ext cx="1645920" cy="219456"/>
          </a:xfrm>
          <a:prstGeom prst="rect">
            <a:avLst/>
          </a:prstGeom>
          <a:noFill/>
          <a:ln/>
        </p:spPr>
        <p:txBody>
          <a:bodyPr wrap="square" lIns="0" tIns="0" rIns="0" bIns="0" rtlCol="0" anchor="ctr"/>
          <a:lstStyle/>
          <a:p>
            <a:pPr marL="0" indent="0">
              <a:buNone/>
            </a:pPr>
            <a:r>
              <a:rPr lang="en-US" sz="1000" b="1" dirty="0">
                <a:solidFill>
                  <a:srgbClr val="6B7280"/>
                </a:solidFill>
                <a:latin typeface="Trebuchet MS" pitchFamily="34" charset="0"/>
                <a:ea typeface="Trebuchet MS" pitchFamily="34" charset="-122"/>
                <a:cs typeface="Trebuchet MS" pitchFamily="34" charset="-120"/>
              </a:rPr>
              <a:t>v-node table</a:t>
            </a:r>
            <a:endParaRPr lang="en-US" sz="1000" dirty="0"/>
          </a:p>
        </p:txBody>
      </p:sp>
      <p:sp>
        <p:nvSpPr>
          <p:cNvPr id="8" name="Shape 6"/>
          <p:cNvSpPr/>
          <p:nvPr/>
        </p:nvSpPr>
        <p:spPr>
          <a:xfrm>
            <a:off x="457200" y="1298448"/>
            <a:ext cx="1417320" cy="402336"/>
          </a:xfrm>
          <a:prstGeom prst="rect">
            <a:avLst/>
          </a:prstGeom>
          <a:solidFill>
            <a:srgbClr val="E2F1F0"/>
          </a:solidFill>
          <a:ln w="12700">
            <a:solidFill>
              <a:srgbClr val="DDE1E6"/>
            </a:solidFill>
            <a:prstDash val="solid"/>
          </a:ln>
        </p:spPr>
      </p:sp>
      <p:sp>
        <p:nvSpPr>
          <p:cNvPr id="9" name="Text 7"/>
          <p:cNvSpPr/>
          <p:nvPr/>
        </p:nvSpPr>
        <p:spPr>
          <a:xfrm>
            <a:off x="457200" y="1298448"/>
            <a:ext cx="1417320" cy="402336"/>
          </a:xfrm>
          <a:prstGeom prst="rect">
            <a:avLst/>
          </a:prstGeom>
          <a:noFill/>
          <a:ln/>
        </p:spPr>
        <p:txBody>
          <a:bodyPr wrap="square" lIns="381" tIns="381" rIns="381" bIns="381" rtlCol="0" anchor="ctr"/>
          <a:lstStyle/>
          <a:p>
            <a:pPr marL="0" indent="0" algn="ctr">
              <a:buNone/>
            </a:pPr>
            <a:r>
              <a:rPr lang="en-US" sz="1100" b="1" dirty="0">
                <a:solidFill>
                  <a:srgbClr val="1F2937"/>
                </a:solidFill>
                <a:latin typeface="Courier New" pitchFamily="34" charset="0"/>
                <a:ea typeface="Courier New" pitchFamily="34" charset="-122"/>
                <a:cs typeface="Courier New" pitchFamily="34" charset="-120"/>
              </a:rPr>
              <a:t>fd 1</a:t>
            </a:r>
            <a:endParaRPr lang="en-US" sz="1100" dirty="0"/>
          </a:p>
        </p:txBody>
      </p:sp>
      <p:sp>
        <p:nvSpPr>
          <p:cNvPr id="10" name="Shape 8"/>
          <p:cNvSpPr/>
          <p:nvPr/>
        </p:nvSpPr>
        <p:spPr>
          <a:xfrm>
            <a:off x="457200" y="1883664"/>
            <a:ext cx="1417320" cy="402336"/>
          </a:xfrm>
          <a:prstGeom prst="rect">
            <a:avLst/>
          </a:prstGeom>
          <a:solidFill>
            <a:srgbClr val="E2F1F0"/>
          </a:solidFill>
          <a:ln w="12700">
            <a:solidFill>
              <a:srgbClr val="DDE1E6"/>
            </a:solidFill>
            <a:prstDash val="solid"/>
          </a:ln>
        </p:spPr>
      </p:sp>
      <p:sp>
        <p:nvSpPr>
          <p:cNvPr id="11" name="Text 9"/>
          <p:cNvSpPr/>
          <p:nvPr/>
        </p:nvSpPr>
        <p:spPr>
          <a:xfrm>
            <a:off x="457200" y="1883664"/>
            <a:ext cx="1417320" cy="402336"/>
          </a:xfrm>
          <a:prstGeom prst="rect">
            <a:avLst/>
          </a:prstGeom>
          <a:noFill/>
          <a:ln/>
        </p:spPr>
        <p:txBody>
          <a:bodyPr wrap="square" lIns="381" tIns="381" rIns="381" bIns="381" rtlCol="0" anchor="ctr"/>
          <a:lstStyle/>
          <a:p>
            <a:pPr marL="0" indent="0" algn="ctr">
              <a:buNone/>
            </a:pPr>
            <a:r>
              <a:rPr lang="en-US" sz="1100" b="1" dirty="0">
                <a:solidFill>
                  <a:srgbClr val="1F2937"/>
                </a:solidFill>
                <a:latin typeface="Courier New" pitchFamily="34" charset="0"/>
                <a:ea typeface="Courier New" pitchFamily="34" charset="-122"/>
                <a:cs typeface="Courier New" pitchFamily="34" charset="-120"/>
              </a:rPr>
              <a:t>logfd = 3</a:t>
            </a:r>
            <a:endParaRPr lang="en-US" sz="1100" dirty="0"/>
          </a:p>
        </p:txBody>
      </p:sp>
      <p:sp>
        <p:nvSpPr>
          <p:cNvPr id="12" name="Text 10"/>
          <p:cNvSpPr/>
          <p:nvPr/>
        </p:nvSpPr>
        <p:spPr>
          <a:xfrm>
            <a:off x="457200" y="2432304"/>
            <a:ext cx="1828800" cy="411480"/>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(fd 0 / fd 2: unchanged,</a:t>
            </a:r>
            <a:endParaRPr lang="en-US" sz="900" dirty="0"/>
          </a:p>
          <a:p>
            <a:pPr marL="0" indent="0">
              <a:buNone/>
            </a:pPr>
            <a:r>
              <a:rPr lang="en-US" sz="900" i="1" dirty="0">
                <a:solidFill>
                  <a:srgbClr val="6B7280"/>
                </a:solidFill>
                <a:latin typeface="Calibri" pitchFamily="34" charset="0"/>
                <a:ea typeface="Calibri" pitchFamily="34" charset="-122"/>
                <a:cs typeface="Calibri" pitchFamily="34" charset="-120"/>
              </a:rPr>
              <a:t>still → terminal)</a:t>
            </a:r>
            <a:endParaRPr lang="en-US" sz="900" dirty="0"/>
          </a:p>
        </p:txBody>
      </p:sp>
      <p:sp>
        <p:nvSpPr>
          <p:cNvPr id="13" name="Shape 11"/>
          <p:cNvSpPr/>
          <p:nvPr/>
        </p:nvSpPr>
        <p:spPr>
          <a:xfrm>
            <a:off x="3383280" y="1298448"/>
            <a:ext cx="2651760" cy="566928"/>
          </a:xfrm>
          <a:prstGeom prst="rect">
            <a:avLst/>
          </a:prstGeom>
          <a:solidFill>
            <a:srgbClr val="EFEFEC"/>
          </a:solidFill>
          <a:ln w="12700">
            <a:solidFill>
              <a:srgbClr val="C9CDD3"/>
            </a:solidFill>
            <a:prstDash val="solid"/>
          </a:ln>
        </p:spPr>
      </p:sp>
      <p:sp>
        <p:nvSpPr>
          <p:cNvPr id="14" name="Text 12"/>
          <p:cNvSpPr/>
          <p:nvPr/>
        </p:nvSpPr>
        <p:spPr>
          <a:xfrm>
            <a:off x="3383280" y="1298448"/>
            <a:ext cx="2651760" cy="566928"/>
          </a:xfrm>
          <a:prstGeom prst="rect">
            <a:avLst/>
          </a:prstGeom>
          <a:noFill/>
          <a:ln/>
        </p:spPr>
        <p:txBody>
          <a:bodyPr wrap="square" lIns="381" tIns="381" rIns="381" bIns="381" rtlCol="0" anchor="ctr"/>
          <a:lstStyle/>
          <a:p>
            <a:pPr marL="0" indent="0" algn="ctr">
              <a:buNone/>
            </a:pPr>
            <a:r>
              <a:rPr lang="en-US" sz="950" dirty="0">
                <a:solidFill>
                  <a:srgbClr val="1F2937"/>
                </a:solidFill>
                <a:latin typeface="Calibri" pitchFamily="34" charset="0"/>
                <a:ea typeface="Calibri" pitchFamily="34" charset="-122"/>
                <a:cs typeface="Calibri" pitchFamily="34" charset="-120"/>
              </a:rPr>
              <a:t>tty (shell's stdout)</a:t>
            </a:r>
            <a:endParaRPr lang="en-US" sz="950" dirty="0"/>
          </a:p>
          <a:p>
            <a:pPr marL="0" indent="0" algn="ctr">
              <a:buNone/>
            </a:pPr>
            <a:r>
              <a:rPr lang="en-US" sz="950" dirty="0">
                <a:solidFill>
                  <a:srgbClr val="1F2937"/>
                </a:solidFill>
                <a:latin typeface="Calibri" pitchFamily="34" charset="0"/>
                <a:ea typeface="Calibri" pitchFamily="34" charset="-122"/>
                <a:cs typeface="Calibri" pitchFamily="34" charset="-120"/>
              </a:rPr>
              <a:t>refcnt 1 lower (shell still holds it)</a:t>
            </a:r>
            <a:endParaRPr lang="en-US" sz="950" dirty="0"/>
          </a:p>
        </p:txBody>
      </p:sp>
      <p:sp>
        <p:nvSpPr>
          <p:cNvPr id="15" name="Shape 13"/>
          <p:cNvSpPr/>
          <p:nvPr/>
        </p:nvSpPr>
        <p:spPr>
          <a:xfrm>
            <a:off x="3383280" y="2331720"/>
            <a:ext cx="2651760" cy="914400"/>
          </a:xfrm>
          <a:prstGeom prst="rect">
            <a:avLst/>
          </a:prstGeom>
          <a:solidFill>
            <a:srgbClr val="E2F1F0"/>
          </a:solidFill>
          <a:ln w="25400">
            <a:solidFill>
              <a:srgbClr val="0E8A8A"/>
            </a:solidFill>
            <a:prstDash val="solid"/>
          </a:ln>
        </p:spPr>
      </p:sp>
      <p:sp>
        <p:nvSpPr>
          <p:cNvPr id="16" name="Text 14"/>
          <p:cNvSpPr/>
          <p:nvPr/>
        </p:nvSpPr>
        <p:spPr>
          <a:xfrm>
            <a:off x="3383280" y="2331720"/>
            <a:ext cx="2651760" cy="914400"/>
          </a:xfrm>
          <a:prstGeom prst="rect">
            <a:avLst/>
          </a:prstGeom>
          <a:noFill/>
          <a:ln/>
        </p:spPr>
        <p:txBody>
          <a:bodyPr wrap="square" lIns="0" tIns="0" rIns="0" bIns="0" rtlCol="0" anchor="ctr"/>
          <a:lstStyle/>
          <a:p>
            <a:pPr marL="0" indent="0" algn="ctr">
              <a:buNone/>
            </a:pPr>
            <a:r>
              <a:rPr lang="en-US" sz="1100" b="1" dirty="0">
                <a:solidFill>
                  <a:srgbClr val="1F2937"/>
                </a:solidFill>
                <a:latin typeface="Courier New" pitchFamily="34" charset="0"/>
                <a:ea typeface="Courier New" pitchFamily="34" charset="-122"/>
                <a:cs typeface="Courier New" pitchFamily="34" charset="-120"/>
              </a:rPr>
              <a:t>/tmp/run.log   O_APPEND</a:t>
            </a:r>
            <a:endParaRPr lang="en-US" sz="1100" dirty="0"/>
          </a:p>
          <a:p>
            <a:pPr marL="0" indent="0" algn="ctr">
              <a:buNone/>
            </a:pPr>
            <a:r>
              <a:rPr lang="en-US" sz="1600" b="1" dirty="0">
                <a:solidFill>
                  <a:srgbClr val="0A6363"/>
                </a:solidFill>
                <a:latin typeface="Calibri" pitchFamily="34" charset="0"/>
                <a:ea typeface="Calibri" pitchFamily="34" charset="-122"/>
                <a:cs typeface="Calibri" pitchFamily="34" charset="-120"/>
              </a:rPr>
              <a:t>refcnt = 2</a:t>
            </a:r>
            <a:endParaRPr lang="en-US" sz="1100" dirty="0"/>
          </a:p>
        </p:txBody>
      </p:sp>
      <p:sp>
        <p:nvSpPr>
          <p:cNvPr id="17" name="Shape 15"/>
          <p:cNvSpPr/>
          <p:nvPr/>
        </p:nvSpPr>
        <p:spPr>
          <a:xfrm>
            <a:off x="7040880" y="1298448"/>
            <a:ext cx="1645920" cy="566928"/>
          </a:xfrm>
          <a:prstGeom prst="rect">
            <a:avLst/>
          </a:prstGeom>
          <a:solidFill>
            <a:srgbClr val="EFEFEC"/>
          </a:solidFill>
          <a:ln w="12700">
            <a:solidFill>
              <a:srgbClr val="C9CDD3"/>
            </a:solidFill>
            <a:prstDash val="solid"/>
          </a:ln>
        </p:spPr>
      </p:sp>
      <p:sp>
        <p:nvSpPr>
          <p:cNvPr id="18" name="Text 16"/>
          <p:cNvSpPr/>
          <p:nvPr/>
        </p:nvSpPr>
        <p:spPr>
          <a:xfrm>
            <a:off x="7040880" y="1298448"/>
            <a:ext cx="1645920" cy="566928"/>
          </a:xfrm>
          <a:prstGeom prst="rect">
            <a:avLst/>
          </a:prstGeom>
          <a:noFill/>
          <a:ln/>
        </p:spPr>
        <p:txBody>
          <a:bodyPr wrap="square" lIns="381" tIns="381" rIns="381" bIns="381" rtlCol="0" anchor="ctr"/>
          <a:lstStyle/>
          <a:p>
            <a:pPr marL="0" indent="0" algn="ctr">
              <a:buNone/>
            </a:pPr>
            <a:r>
              <a:rPr lang="en-US" sz="1000" dirty="0">
                <a:solidFill>
                  <a:srgbClr val="1F2937"/>
                </a:solidFill>
                <a:latin typeface="Calibri" pitchFamily="34" charset="0"/>
                <a:ea typeface="Calibri" pitchFamily="34" charset="-122"/>
                <a:cs typeface="Calibri" pitchFamily="34" charset="-120"/>
              </a:rPr>
              <a:t>v-node:</a:t>
            </a:r>
            <a:endParaRPr lang="en-US" sz="1000" dirty="0"/>
          </a:p>
          <a:p>
            <a:pPr marL="0" indent="0" algn="ctr">
              <a:buNone/>
            </a:pPr>
            <a:r>
              <a:rPr lang="en-US" sz="1000" dirty="0">
                <a:solidFill>
                  <a:srgbClr val="1F2937"/>
                </a:solidFill>
                <a:latin typeface="Calibri" pitchFamily="34" charset="0"/>
                <a:ea typeface="Calibri" pitchFamily="34" charset="-122"/>
                <a:cs typeface="Calibri" pitchFamily="34" charset="-120"/>
              </a:rPr>
              <a:t>terminal</a:t>
            </a:r>
            <a:endParaRPr lang="en-US" sz="1000" dirty="0"/>
          </a:p>
        </p:txBody>
      </p:sp>
      <p:sp>
        <p:nvSpPr>
          <p:cNvPr id="19" name="Shape 17"/>
          <p:cNvSpPr/>
          <p:nvPr/>
        </p:nvSpPr>
        <p:spPr>
          <a:xfrm>
            <a:off x="7040880" y="2505456"/>
            <a:ext cx="1645920" cy="566928"/>
          </a:xfrm>
          <a:prstGeom prst="rect">
            <a:avLst/>
          </a:prstGeom>
          <a:solidFill>
            <a:srgbClr val="FFFFFF"/>
          </a:solidFill>
          <a:ln w="12700">
            <a:solidFill>
              <a:srgbClr val="DDE1E6"/>
            </a:solidFill>
            <a:prstDash val="solid"/>
          </a:ln>
        </p:spPr>
      </p:sp>
      <p:sp>
        <p:nvSpPr>
          <p:cNvPr id="20" name="Text 18"/>
          <p:cNvSpPr/>
          <p:nvPr/>
        </p:nvSpPr>
        <p:spPr>
          <a:xfrm>
            <a:off x="7040880" y="2505456"/>
            <a:ext cx="1645920" cy="566928"/>
          </a:xfrm>
          <a:prstGeom prst="rect">
            <a:avLst/>
          </a:prstGeom>
          <a:noFill/>
          <a:ln/>
        </p:spPr>
        <p:txBody>
          <a:bodyPr wrap="square" lIns="381" tIns="381" rIns="381" bIns="381" rtlCol="0" anchor="ctr"/>
          <a:lstStyle/>
          <a:p>
            <a:pPr marL="0" indent="0" algn="ctr">
              <a:buNone/>
            </a:pPr>
            <a:r>
              <a:rPr lang="en-US" sz="1000" dirty="0">
                <a:solidFill>
                  <a:srgbClr val="1F2937"/>
                </a:solidFill>
                <a:latin typeface="Calibri" pitchFamily="34" charset="0"/>
                <a:ea typeface="Calibri" pitchFamily="34" charset="-122"/>
                <a:cs typeface="Calibri" pitchFamily="34" charset="-120"/>
              </a:rPr>
              <a:t>v-node:</a:t>
            </a:r>
            <a:endParaRPr lang="en-US" sz="1000" dirty="0"/>
          </a:p>
          <a:p>
            <a:pPr marL="0" indent="0" algn="ctr">
              <a:buNone/>
            </a:pPr>
            <a:r>
              <a:rPr lang="en-US" sz="1000" dirty="0">
                <a:solidFill>
                  <a:srgbClr val="1F2937"/>
                </a:solidFill>
                <a:latin typeface="Calibri" pitchFamily="34" charset="0"/>
                <a:ea typeface="Calibri" pitchFamily="34" charset="-122"/>
                <a:cs typeface="Calibri" pitchFamily="34" charset="-120"/>
              </a:rPr>
              <a:t>/tmp/run.log</a:t>
            </a:r>
            <a:endParaRPr lang="en-US" sz="1000" dirty="0"/>
          </a:p>
        </p:txBody>
      </p:sp>
      <p:sp>
        <p:nvSpPr>
          <p:cNvPr id="21" name="Shape 19"/>
          <p:cNvSpPr/>
          <p:nvPr/>
        </p:nvSpPr>
        <p:spPr>
          <a:xfrm>
            <a:off x="1874520" y="1408176"/>
            <a:ext cx="1508760" cy="73152"/>
          </a:xfrm>
          <a:prstGeom prst="line">
            <a:avLst/>
          </a:prstGeom>
          <a:noFill/>
          <a:ln w="22225">
            <a:solidFill>
              <a:srgbClr val="B23A2F"/>
            </a:solidFill>
            <a:prstDash val="dash"/>
            <a:tailEnd type="triangle"/>
          </a:ln>
        </p:spPr>
      </p:sp>
      <p:sp>
        <p:nvSpPr>
          <p:cNvPr id="22" name="Text 20"/>
          <p:cNvSpPr/>
          <p:nvPr/>
        </p:nvSpPr>
        <p:spPr>
          <a:xfrm>
            <a:off x="2240280" y="1188720"/>
            <a:ext cx="1097280" cy="164592"/>
          </a:xfrm>
          <a:prstGeom prst="rect">
            <a:avLst/>
          </a:prstGeom>
          <a:noFill/>
          <a:ln/>
        </p:spPr>
        <p:txBody>
          <a:bodyPr wrap="square" lIns="0" tIns="0" rIns="0" bIns="0" rtlCol="0" anchor="ctr"/>
          <a:lstStyle/>
          <a:p>
            <a:pPr marL="0" indent="0">
              <a:buNone/>
            </a:pPr>
            <a:r>
              <a:rPr lang="en-US" sz="850" i="1" dirty="0">
                <a:solidFill>
                  <a:srgbClr val="B23A2F"/>
                </a:solidFill>
                <a:latin typeface="Calibri" pitchFamily="34" charset="0"/>
                <a:ea typeface="Calibri" pitchFamily="34" charset="-122"/>
                <a:cs typeface="Calibri" pitchFamily="34" charset="-120"/>
              </a:rPr>
              <a:t>severed by Dup2</a:t>
            </a:r>
            <a:endParaRPr lang="en-US" sz="850" dirty="0"/>
          </a:p>
        </p:txBody>
      </p:sp>
      <p:sp>
        <p:nvSpPr>
          <p:cNvPr id="23" name="Shape 21"/>
          <p:cNvSpPr/>
          <p:nvPr/>
        </p:nvSpPr>
        <p:spPr>
          <a:xfrm>
            <a:off x="1874520" y="1609344"/>
            <a:ext cx="1508760" cy="996696"/>
          </a:xfrm>
          <a:prstGeom prst="line">
            <a:avLst/>
          </a:prstGeom>
          <a:noFill/>
          <a:ln w="28575">
            <a:solidFill>
              <a:srgbClr val="0E8A8A"/>
            </a:solidFill>
            <a:prstDash val="solid"/>
            <a:tailEnd type="triangle"/>
          </a:ln>
        </p:spPr>
      </p:sp>
      <p:sp>
        <p:nvSpPr>
          <p:cNvPr id="24" name="Shape 22"/>
          <p:cNvSpPr/>
          <p:nvPr/>
        </p:nvSpPr>
        <p:spPr>
          <a:xfrm>
            <a:off x="1874520" y="2084832"/>
            <a:ext cx="1508760" cy="795528"/>
          </a:xfrm>
          <a:prstGeom prst="line">
            <a:avLst/>
          </a:prstGeom>
          <a:noFill/>
          <a:ln w="28575">
            <a:solidFill>
              <a:srgbClr val="0E8A8A"/>
            </a:solidFill>
            <a:prstDash val="solid"/>
            <a:tailEnd type="triangle"/>
          </a:ln>
        </p:spPr>
      </p:sp>
      <p:sp>
        <p:nvSpPr>
          <p:cNvPr id="25" name="Shape 23"/>
          <p:cNvSpPr/>
          <p:nvPr/>
        </p:nvSpPr>
        <p:spPr>
          <a:xfrm>
            <a:off x="6035040" y="1581912"/>
            <a:ext cx="1005840" cy="0"/>
          </a:xfrm>
          <a:prstGeom prst="line">
            <a:avLst/>
          </a:prstGeom>
          <a:noFill/>
          <a:ln w="22225">
            <a:solidFill>
              <a:srgbClr val="9AA0A8"/>
            </a:solidFill>
            <a:prstDash val="solid"/>
            <a:tailEnd type="triangle"/>
          </a:ln>
        </p:spPr>
      </p:sp>
      <p:sp>
        <p:nvSpPr>
          <p:cNvPr id="26" name="Shape 24"/>
          <p:cNvSpPr/>
          <p:nvPr/>
        </p:nvSpPr>
        <p:spPr>
          <a:xfrm>
            <a:off x="6035040" y="2788920"/>
            <a:ext cx="1005840" cy="0"/>
          </a:xfrm>
          <a:prstGeom prst="line">
            <a:avLst/>
          </a:prstGeom>
          <a:noFill/>
          <a:ln w="22225">
            <a:solidFill>
              <a:srgbClr val="0E8A8A"/>
            </a:solidFill>
            <a:prstDash val="solid"/>
            <a:tailEnd type="triangle"/>
          </a:ln>
        </p:spPr>
      </p:sp>
      <p:sp>
        <p:nvSpPr>
          <p:cNvPr id="27" name="Shape 25"/>
          <p:cNvSpPr/>
          <p:nvPr/>
        </p:nvSpPr>
        <p:spPr>
          <a:xfrm>
            <a:off x="457200" y="3611880"/>
            <a:ext cx="4937760" cy="1143000"/>
          </a:xfrm>
          <a:prstGeom prst="rect">
            <a:avLst/>
          </a:prstGeom>
          <a:solidFill>
            <a:srgbClr val="FFFFFF"/>
          </a:solidFill>
          <a:ln w="12700">
            <a:solidFill>
              <a:srgbClr val="DDE1E6"/>
            </a:solidFill>
            <a:prstDash val="solid"/>
          </a:ln>
        </p:spPr>
      </p:sp>
      <p:sp>
        <p:nvSpPr>
          <p:cNvPr id="28" name="Shape 26"/>
          <p:cNvSpPr/>
          <p:nvPr/>
        </p:nvSpPr>
        <p:spPr>
          <a:xfrm>
            <a:off x="457200" y="3611880"/>
            <a:ext cx="64008" cy="1143000"/>
          </a:xfrm>
          <a:prstGeom prst="rect">
            <a:avLst/>
          </a:prstGeom>
          <a:solidFill>
            <a:srgbClr val="0E8A8A"/>
          </a:solidFill>
          <a:ln/>
        </p:spPr>
      </p:sp>
      <p:sp>
        <p:nvSpPr>
          <p:cNvPr id="29" name="Text 27"/>
          <p:cNvSpPr/>
          <p:nvPr/>
        </p:nvSpPr>
        <p:spPr>
          <a:xfrm>
            <a:off x="658368" y="3675888"/>
            <a:ext cx="1280160" cy="182880"/>
          </a:xfrm>
          <a:prstGeom prst="rect">
            <a:avLst/>
          </a:prstGeom>
          <a:noFill/>
          <a:ln/>
        </p:spPr>
        <p:txBody>
          <a:bodyPr wrap="square" lIns="0" tIns="0" rIns="0" bIns="0" rtlCol="0" anchor="ctr"/>
          <a:lstStyle/>
          <a:p>
            <a:pPr marL="0" indent="0">
              <a:buNone/>
            </a:pPr>
            <a:r>
              <a:rPr lang="en-US" sz="850" b="1" kern="0" spc="200" dirty="0">
                <a:solidFill>
                  <a:srgbClr val="0E8A8A"/>
                </a:solidFill>
                <a:latin typeface="Trebuchet MS" pitchFamily="34" charset="0"/>
                <a:ea typeface="Trebuchet MS" pitchFamily="34" charset="-122"/>
                <a:cs typeface="Trebuchet MS" pitchFamily="34" charset="-120"/>
              </a:rPr>
              <a:t>ANSWER</a:t>
            </a:r>
            <a:endParaRPr lang="en-US" sz="850" dirty="0"/>
          </a:p>
        </p:txBody>
      </p:sp>
      <p:sp>
        <p:nvSpPr>
          <p:cNvPr id="30" name="Text 28"/>
          <p:cNvSpPr/>
          <p:nvPr/>
        </p:nvSpPr>
        <p:spPr>
          <a:xfrm>
            <a:off x="658368" y="3858768"/>
            <a:ext cx="4572000" cy="832104"/>
          </a:xfrm>
          <a:prstGeom prst="rect">
            <a:avLst/>
          </a:prstGeom>
          <a:noFill/>
          <a:ln/>
        </p:spPr>
        <p:txBody>
          <a:bodyPr wrap="square" lIns="0" tIns="0" rIns="0" bIns="0" rtlCol="0" anchor="t"/>
          <a:lstStyle/>
          <a:p>
            <a:pPr marL="0" indent="0">
              <a:buNone/>
            </a:pPr>
            <a:r>
              <a:rPr lang="en-US" sz="1200" b="1" dirty="0">
                <a:solidFill>
                  <a:srgbClr val="1F2937"/>
                </a:solidFill>
                <a:latin typeface="Calibri" pitchFamily="34" charset="0"/>
                <a:ea typeface="Calibri" pitchFamily="34" charset="-122"/>
                <a:cs typeface="Calibri" pitchFamily="34" charset="-120"/>
              </a:rPr>
              <a:t>Refcount = 2.</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The two slots are parent.logfd (Open, line 19) and parent.fd 1 (re-aimed by Dup2, line 21).</a:t>
            </a:r>
            <a:endParaRPr lang="en-US" sz="1200" dirty="0"/>
          </a:p>
        </p:txBody>
      </p:sp>
      <p:sp>
        <p:nvSpPr>
          <p:cNvPr id="31" name="Shape 29"/>
          <p:cNvSpPr/>
          <p:nvPr/>
        </p:nvSpPr>
        <p:spPr>
          <a:xfrm>
            <a:off x="5577840" y="3611880"/>
            <a:ext cx="3154680" cy="1143000"/>
          </a:xfrm>
          <a:prstGeom prst="rect">
            <a:avLst/>
          </a:prstGeom>
          <a:solidFill>
            <a:srgbClr val="FDF3EF"/>
          </a:solidFill>
          <a:ln w="12700">
            <a:solidFill>
              <a:srgbClr val="DDE1E6"/>
            </a:solidFill>
            <a:prstDash val="solid"/>
          </a:ln>
        </p:spPr>
      </p:sp>
      <p:sp>
        <p:nvSpPr>
          <p:cNvPr id="32" name="Shape 30"/>
          <p:cNvSpPr/>
          <p:nvPr/>
        </p:nvSpPr>
        <p:spPr>
          <a:xfrm>
            <a:off x="5577840" y="3611880"/>
            <a:ext cx="64008" cy="1143000"/>
          </a:xfrm>
          <a:prstGeom prst="rect">
            <a:avLst/>
          </a:prstGeom>
          <a:solidFill>
            <a:srgbClr val="B23A2F"/>
          </a:solidFill>
          <a:ln/>
        </p:spPr>
      </p:sp>
      <p:sp>
        <p:nvSpPr>
          <p:cNvPr id="33" name="Text 31"/>
          <p:cNvSpPr/>
          <p:nvPr/>
        </p:nvSpPr>
        <p:spPr>
          <a:xfrm>
            <a:off x="5779008" y="367588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34" name="Text 32"/>
          <p:cNvSpPr/>
          <p:nvPr/>
        </p:nvSpPr>
        <p:spPr>
          <a:xfrm>
            <a:off x="5779008" y="3858768"/>
            <a:ext cx="2788920" cy="83210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“Dup2 allocates a new OFT entry.”  No — Dup2(old, new) closes what new pointed at, then aliases new onto old's existing entry.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6</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2.1 (B)</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After three Forks: count the arrows</a:t>
            </a:r>
            <a:endParaRPr lang="en-US" sz="2300" dirty="0"/>
          </a:p>
        </p:txBody>
      </p:sp>
      <p:sp>
        <p:nvSpPr>
          <p:cNvPr id="5" name="Shape 3"/>
          <p:cNvSpPr/>
          <p:nvPr/>
        </p:nvSpPr>
        <p:spPr>
          <a:xfrm>
            <a:off x="457200" y="1143000"/>
            <a:ext cx="2286000" cy="713232"/>
          </a:xfrm>
          <a:prstGeom prst="rect">
            <a:avLst/>
          </a:prstGeom>
          <a:solidFill>
            <a:srgbClr val="FFFFFF"/>
          </a:solidFill>
          <a:ln w="12700">
            <a:solidFill>
              <a:srgbClr val="DDE1E6"/>
            </a:solidFill>
            <a:prstDash val="solid"/>
          </a:ln>
        </p:spPr>
      </p:sp>
      <p:sp>
        <p:nvSpPr>
          <p:cNvPr id="6" name="Shape 4"/>
          <p:cNvSpPr/>
          <p:nvPr/>
        </p:nvSpPr>
        <p:spPr>
          <a:xfrm>
            <a:off x="457200" y="1143000"/>
            <a:ext cx="64008" cy="713232"/>
          </a:xfrm>
          <a:prstGeom prst="rect">
            <a:avLst/>
          </a:prstGeom>
          <a:solidFill>
            <a:srgbClr val="0A6363"/>
          </a:solidFill>
          <a:ln/>
        </p:spPr>
      </p:sp>
      <p:sp>
        <p:nvSpPr>
          <p:cNvPr id="7" name="Text 5"/>
          <p:cNvSpPr/>
          <p:nvPr/>
        </p:nvSpPr>
        <p:spPr>
          <a:xfrm>
            <a:off x="658368" y="1216152"/>
            <a:ext cx="1920240" cy="219456"/>
          </a:xfrm>
          <a:prstGeom prst="rect">
            <a:avLst/>
          </a:prstGeom>
          <a:noFill/>
          <a:ln/>
        </p:spPr>
        <p:txBody>
          <a:bodyPr wrap="square" lIns="0" tIns="0" rIns="0" bIns="0" rtlCol="0" anchor="ctr"/>
          <a:lstStyle/>
          <a:p>
            <a:pPr marL="0" indent="0">
              <a:buNone/>
            </a:pPr>
            <a:r>
              <a:rPr lang="en-US" sz="1100" b="1" dirty="0">
                <a:solidFill>
                  <a:srgbClr val="1F2937"/>
                </a:solidFill>
                <a:latin typeface="Trebuchet MS" pitchFamily="34" charset="0"/>
                <a:ea typeface="Trebuchet MS" pitchFamily="34" charset="-122"/>
                <a:cs typeface="Trebuchet MS" pitchFamily="34" charset="-120"/>
              </a:rPr>
              <a:t>Parent</a:t>
            </a:r>
            <a:endParaRPr lang="en-US" sz="1100" dirty="0"/>
          </a:p>
        </p:txBody>
      </p:sp>
      <p:sp>
        <p:nvSpPr>
          <p:cNvPr id="8" name="Text 6"/>
          <p:cNvSpPr/>
          <p:nvPr/>
        </p:nvSpPr>
        <p:spPr>
          <a:xfrm>
            <a:off x="658368" y="1472184"/>
            <a:ext cx="1920240" cy="274320"/>
          </a:xfrm>
          <a:prstGeom prst="rect">
            <a:avLst/>
          </a:prstGeom>
          <a:noFill/>
          <a:ln/>
        </p:spPr>
        <p:txBody>
          <a:bodyPr wrap="square" lIns="0" tIns="0" rIns="0" bIns="0" rtlCol="0" anchor="ctr"/>
          <a:lstStyle/>
          <a:p>
            <a:pPr marL="0" indent="0">
              <a:buNone/>
            </a:pPr>
            <a:r>
              <a:rPr lang="en-US" sz="1100" dirty="0">
                <a:solidFill>
                  <a:srgbClr val="0A6363"/>
                </a:solidFill>
                <a:latin typeface="Courier New" pitchFamily="34" charset="0"/>
                <a:ea typeface="Courier New" pitchFamily="34" charset="-122"/>
                <a:cs typeface="Courier New" pitchFamily="34" charset="-120"/>
              </a:rPr>
              <a:t>fd 1 ▸     logfd ▸</a:t>
            </a:r>
            <a:endParaRPr lang="en-US" sz="1100" dirty="0"/>
          </a:p>
        </p:txBody>
      </p:sp>
      <p:sp>
        <p:nvSpPr>
          <p:cNvPr id="9" name="Shape 7"/>
          <p:cNvSpPr/>
          <p:nvPr/>
        </p:nvSpPr>
        <p:spPr>
          <a:xfrm>
            <a:off x="2743200" y="1499616"/>
            <a:ext cx="1417320" cy="896112"/>
          </a:xfrm>
          <a:prstGeom prst="line">
            <a:avLst/>
          </a:prstGeom>
          <a:noFill/>
          <a:ln w="25400">
            <a:solidFill>
              <a:srgbClr val="0E8A8A"/>
            </a:solidFill>
            <a:prstDash val="solid"/>
            <a:tailEnd type="triangle"/>
          </a:ln>
        </p:spPr>
      </p:sp>
      <p:sp>
        <p:nvSpPr>
          <p:cNvPr id="10" name="Shape 8"/>
          <p:cNvSpPr/>
          <p:nvPr/>
        </p:nvSpPr>
        <p:spPr>
          <a:xfrm>
            <a:off x="457200" y="2011680"/>
            <a:ext cx="2286000" cy="713232"/>
          </a:xfrm>
          <a:prstGeom prst="rect">
            <a:avLst/>
          </a:prstGeom>
          <a:solidFill>
            <a:srgbClr val="FFFFFF"/>
          </a:solidFill>
          <a:ln w="12700">
            <a:solidFill>
              <a:srgbClr val="DDE1E6"/>
            </a:solidFill>
            <a:prstDash val="solid"/>
          </a:ln>
        </p:spPr>
      </p:sp>
      <p:sp>
        <p:nvSpPr>
          <p:cNvPr id="11" name="Shape 9"/>
          <p:cNvSpPr/>
          <p:nvPr/>
        </p:nvSpPr>
        <p:spPr>
          <a:xfrm>
            <a:off x="457200" y="2011680"/>
            <a:ext cx="64008" cy="713232"/>
          </a:xfrm>
          <a:prstGeom prst="rect">
            <a:avLst/>
          </a:prstGeom>
          <a:solidFill>
            <a:srgbClr val="0E8A8A"/>
          </a:solidFill>
          <a:ln/>
        </p:spPr>
      </p:sp>
      <p:sp>
        <p:nvSpPr>
          <p:cNvPr id="12" name="Text 10"/>
          <p:cNvSpPr/>
          <p:nvPr/>
        </p:nvSpPr>
        <p:spPr>
          <a:xfrm>
            <a:off x="658368" y="2084832"/>
            <a:ext cx="1920240" cy="219456"/>
          </a:xfrm>
          <a:prstGeom prst="rect">
            <a:avLst/>
          </a:prstGeom>
          <a:noFill/>
          <a:ln/>
        </p:spPr>
        <p:txBody>
          <a:bodyPr wrap="square" lIns="0" tIns="0" rIns="0" bIns="0" rtlCol="0" anchor="ctr"/>
          <a:lstStyle/>
          <a:p>
            <a:pPr marL="0" indent="0">
              <a:buNone/>
            </a:pPr>
            <a:r>
              <a:rPr lang="en-US" sz="1100" b="1" dirty="0">
                <a:solidFill>
                  <a:srgbClr val="1F2937"/>
                </a:solidFill>
                <a:latin typeface="Trebuchet MS" pitchFamily="34" charset="0"/>
                <a:ea typeface="Trebuchet MS" pitchFamily="34" charset="-122"/>
                <a:cs typeface="Trebuchet MS" pitchFamily="34" charset="-120"/>
              </a:rPr>
              <a:t>Child 0</a:t>
            </a:r>
            <a:endParaRPr lang="en-US" sz="1100" dirty="0"/>
          </a:p>
        </p:txBody>
      </p:sp>
      <p:sp>
        <p:nvSpPr>
          <p:cNvPr id="13" name="Text 11"/>
          <p:cNvSpPr/>
          <p:nvPr/>
        </p:nvSpPr>
        <p:spPr>
          <a:xfrm>
            <a:off x="658368" y="2340864"/>
            <a:ext cx="1920240" cy="274320"/>
          </a:xfrm>
          <a:prstGeom prst="rect">
            <a:avLst/>
          </a:prstGeom>
          <a:noFill/>
          <a:ln/>
        </p:spPr>
        <p:txBody>
          <a:bodyPr wrap="square" lIns="0" tIns="0" rIns="0" bIns="0" rtlCol="0" anchor="ctr"/>
          <a:lstStyle/>
          <a:p>
            <a:pPr marL="0" indent="0">
              <a:buNone/>
            </a:pPr>
            <a:r>
              <a:rPr lang="en-US" sz="1100" dirty="0">
                <a:solidFill>
                  <a:srgbClr val="0A6363"/>
                </a:solidFill>
                <a:latin typeface="Courier New" pitchFamily="34" charset="0"/>
                <a:ea typeface="Courier New" pitchFamily="34" charset="-122"/>
                <a:cs typeface="Courier New" pitchFamily="34" charset="-120"/>
              </a:rPr>
              <a:t>fd 1 ▸     logfd ▸</a:t>
            </a:r>
            <a:endParaRPr lang="en-US" sz="1100" dirty="0"/>
          </a:p>
        </p:txBody>
      </p:sp>
      <p:sp>
        <p:nvSpPr>
          <p:cNvPr id="14" name="Shape 12"/>
          <p:cNvSpPr/>
          <p:nvPr/>
        </p:nvSpPr>
        <p:spPr>
          <a:xfrm>
            <a:off x="2743200" y="2368296"/>
            <a:ext cx="1417320" cy="137160"/>
          </a:xfrm>
          <a:prstGeom prst="line">
            <a:avLst/>
          </a:prstGeom>
          <a:noFill/>
          <a:ln w="25400">
            <a:solidFill>
              <a:srgbClr val="0E8A8A"/>
            </a:solidFill>
            <a:prstDash val="solid"/>
            <a:tailEnd type="triangle"/>
          </a:ln>
        </p:spPr>
      </p:sp>
      <p:sp>
        <p:nvSpPr>
          <p:cNvPr id="15" name="Shape 13"/>
          <p:cNvSpPr/>
          <p:nvPr/>
        </p:nvSpPr>
        <p:spPr>
          <a:xfrm>
            <a:off x="457200" y="2880360"/>
            <a:ext cx="2286000" cy="713232"/>
          </a:xfrm>
          <a:prstGeom prst="rect">
            <a:avLst/>
          </a:prstGeom>
          <a:solidFill>
            <a:srgbClr val="FFFFFF"/>
          </a:solidFill>
          <a:ln w="12700">
            <a:solidFill>
              <a:srgbClr val="DDE1E6"/>
            </a:solidFill>
            <a:prstDash val="solid"/>
          </a:ln>
        </p:spPr>
      </p:sp>
      <p:sp>
        <p:nvSpPr>
          <p:cNvPr id="16" name="Shape 14"/>
          <p:cNvSpPr/>
          <p:nvPr/>
        </p:nvSpPr>
        <p:spPr>
          <a:xfrm>
            <a:off x="457200" y="2880360"/>
            <a:ext cx="64008" cy="713232"/>
          </a:xfrm>
          <a:prstGeom prst="rect">
            <a:avLst/>
          </a:prstGeom>
          <a:solidFill>
            <a:srgbClr val="0E8A8A"/>
          </a:solidFill>
          <a:ln/>
        </p:spPr>
      </p:sp>
      <p:sp>
        <p:nvSpPr>
          <p:cNvPr id="17" name="Text 15"/>
          <p:cNvSpPr/>
          <p:nvPr/>
        </p:nvSpPr>
        <p:spPr>
          <a:xfrm>
            <a:off x="658368" y="2953512"/>
            <a:ext cx="1920240" cy="219456"/>
          </a:xfrm>
          <a:prstGeom prst="rect">
            <a:avLst/>
          </a:prstGeom>
          <a:noFill/>
          <a:ln/>
        </p:spPr>
        <p:txBody>
          <a:bodyPr wrap="square" lIns="0" tIns="0" rIns="0" bIns="0" rtlCol="0" anchor="ctr"/>
          <a:lstStyle/>
          <a:p>
            <a:pPr marL="0" indent="0">
              <a:buNone/>
            </a:pPr>
            <a:r>
              <a:rPr lang="en-US" sz="1100" b="1" dirty="0">
                <a:solidFill>
                  <a:srgbClr val="1F2937"/>
                </a:solidFill>
                <a:latin typeface="Trebuchet MS" pitchFamily="34" charset="0"/>
                <a:ea typeface="Trebuchet MS" pitchFamily="34" charset="-122"/>
                <a:cs typeface="Trebuchet MS" pitchFamily="34" charset="-120"/>
              </a:rPr>
              <a:t>Child 1</a:t>
            </a:r>
            <a:endParaRPr lang="en-US" sz="1100" dirty="0"/>
          </a:p>
        </p:txBody>
      </p:sp>
      <p:sp>
        <p:nvSpPr>
          <p:cNvPr id="18" name="Text 16"/>
          <p:cNvSpPr/>
          <p:nvPr/>
        </p:nvSpPr>
        <p:spPr>
          <a:xfrm>
            <a:off x="658368" y="3209544"/>
            <a:ext cx="1920240" cy="274320"/>
          </a:xfrm>
          <a:prstGeom prst="rect">
            <a:avLst/>
          </a:prstGeom>
          <a:noFill/>
          <a:ln/>
        </p:spPr>
        <p:txBody>
          <a:bodyPr wrap="square" lIns="0" tIns="0" rIns="0" bIns="0" rtlCol="0" anchor="ctr"/>
          <a:lstStyle/>
          <a:p>
            <a:pPr marL="0" indent="0">
              <a:buNone/>
            </a:pPr>
            <a:r>
              <a:rPr lang="en-US" sz="1100" dirty="0">
                <a:solidFill>
                  <a:srgbClr val="0A6363"/>
                </a:solidFill>
                <a:latin typeface="Courier New" pitchFamily="34" charset="0"/>
                <a:ea typeface="Courier New" pitchFamily="34" charset="-122"/>
                <a:cs typeface="Courier New" pitchFamily="34" charset="-120"/>
              </a:rPr>
              <a:t>fd 1 ▸     logfd ▸</a:t>
            </a:r>
            <a:endParaRPr lang="en-US" sz="1100" dirty="0"/>
          </a:p>
        </p:txBody>
      </p:sp>
      <p:sp>
        <p:nvSpPr>
          <p:cNvPr id="19" name="Shape 17"/>
          <p:cNvSpPr/>
          <p:nvPr/>
        </p:nvSpPr>
        <p:spPr>
          <a:xfrm flipV="1">
            <a:off x="2743200" y="2615184"/>
            <a:ext cx="1417320" cy="621792"/>
          </a:xfrm>
          <a:prstGeom prst="line">
            <a:avLst/>
          </a:prstGeom>
          <a:noFill/>
          <a:ln w="25400">
            <a:solidFill>
              <a:srgbClr val="0E8A8A"/>
            </a:solidFill>
            <a:prstDash val="solid"/>
            <a:tailEnd type="triangle"/>
          </a:ln>
        </p:spPr>
      </p:sp>
      <p:sp>
        <p:nvSpPr>
          <p:cNvPr id="20" name="Shape 18"/>
          <p:cNvSpPr/>
          <p:nvPr/>
        </p:nvSpPr>
        <p:spPr>
          <a:xfrm>
            <a:off x="457200" y="3749040"/>
            <a:ext cx="2286000" cy="713232"/>
          </a:xfrm>
          <a:prstGeom prst="rect">
            <a:avLst/>
          </a:prstGeom>
          <a:solidFill>
            <a:srgbClr val="FFFFFF"/>
          </a:solidFill>
          <a:ln w="12700">
            <a:solidFill>
              <a:srgbClr val="DDE1E6"/>
            </a:solidFill>
            <a:prstDash val="solid"/>
          </a:ln>
        </p:spPr>
      </p:sp>
      <p:sp>
        <p:nvSpPr>
          <p:cNvPr id="21" name="Shape 19"/>
          <p:cNvSpPr/>
          <p:nvPr/>
        </p:nvSpPr>
        <p:spPr>
          <a:xfrm>
            <a:off x="457200" y="3749040"/>
            <a:ext cx="64008" cy="713232"/>
          </a:xfrm>
          <a:prstGeom prst="rect">
            <a:avLst/>
          </a:prstGeom>
          <a:solidFill>
            <a:srgbClr val="0E8A8A"/>
          </a:solidFill>
          <a:ln/>
        </p:spPr>
      </p:sp>
      <p:sp>
        <p:nvSpPr>
          <p:cNvPr id="22" name="Text 20"/>
          <p:cNvSpPr/>
          <p:nvPr/>
        </p:nvSpPr>
        <p:spPr>
          <a:xfrm>
            <a:off x="658368" y="3822192"/>
            <a:ext cx="1920240" cy="219456"/>
          </a:xfrm>
          <a:prstGeom prst="rect">
            <a:avLst/>
          </a:prstGeom>
          <a:noFill/>
          <a:ln/>
        </p:spPr>
        <p:txBody>
          <a:bodyPr wrap="square" lIns="0" tIns="0" rIns="0" bIns="0" rtlCol="0" anchor="ctr"/>
          <a:lstStyle/>
          <a:p>
            <a:pPr marL="0" indent="0">
              <a:buNone/>
            </a:pPr>
            <a:r>
              <a:rPr lang="en-US" sz="1100" b="1" dirty="0">
                <a:solidFill>
                  <a:srgbClr val="1F2937"/>
                </a:solidFill>
                <a:latin typeface="Trebuchet MS" pitchFamily="34" charset="0"/>
                <a:ea typeface="Trebuchet MS" pitchFamily="34" charset="-122"/>
                <a:cs typeface="Trebuchet MS" pitchFamily="34" charset="-120"/>
              </a:rPr>
              <a:t>Child 2</a:t>
            </a:r>
            <a:endParaRPr lang="en-US" sz="1100" dirty="0"/>
          </a:p>
        </p:txBody>
      </p:sp>
      <p:sp>
        <p:nvSpPr>
          <p:cNvPr id="23" name="Text 21"/>
          <p:cNvSpPr/>
          <p:nvPr/>
        </p:nvSpPr>
        <p:spPr>
          <a:xfrm>
            <a:off x="658368" y="4078224"/>
            <a:ext cx="1920240" cy="274320"/>
          </a:xfrm>
          <a:prstGeom prst="rect">
            <a:avLst/>
          </a:prstGeom>
          <a:noFill/>
          <a:ln/>
        </p:spPr>
        <p:txBody>
          <a:bodyPr wrap="square" lIns="0" tIns="0" rIns="0" bIns="0" rtlCol="0" anchor="ctr"/>
          <a:lstStyle/>
          <a:p>
            <a:pPr marL="0" indent="0">
              <a:buNone/>
            </a:pPr>
            <a:r>
              <a:rPr lang="en-US" sz="1100" dirty="0">
                <a:solidFill>
                  <a:srgbClr val="0A6363"/>
                </a:solidFill>
                <a:latin typeface="Courier New" pitchFamily="34" charset="0"/>
                <a:ea typeface="Courier New" pitchFamily="34" charset="-122"/>
                <a:cs typeface="Courier New" pitchFamily="34" charset="-120"/>
              </a:rPr>
              <a:t>fd 1 ▸     logfd ▸</a:t>
            </a:r>
            <a:endParaRPr lang="en-US" sz="1100" dirty="0"/>
          </a:p>
        </p:txBody>
      </p:sp>
      <p:sp>
        <p:nvSpPr>
          <p:cNvPr id="24" name="Shape 22"/>
          <p:cNvSpPr/>
          <p:nvPr/>
        </p:nvSpPr>
        <p:spPr>
          <a:xfrm flipV="1">
            <a:off x="2743200" y="2724912"/>
            <a:ext cx="1417320" cy="1380744"/>
          </a:xfrm>
          <a:prstGeom prst="line">
            <a:avLst/>
          </a:prstGeom>
          <a:noFill/>
          <a:ln w="25400">
            <a:solidFill>
              <a:srgbClr val="0E8A8A"/>
            </a:solidFill>
            <a:prstDash val="solid"/>
            <a:tailEnd type="triangle"/>
          </a:ln>
        </p:spPr>
      </p:sp>
      <p:sp>
        <p:nvSpPr>
          <p:cNvPr id="25" name="Text 23"/>
          <p:cNvSpPr/>
          <p:nvPr/>
        </p:nvSpPr>
        <p:spPr>
          <a:xfrm>
            <a:off x="3931920" y="3291840"/>
            <a:ext cx="2971800" cy="201168"/>
          </a:xfrm>
          <a:prstGeom prst="rect">
            <a:avLst/>
          </a:prstGeom>
          <a:noFill/>
          <a:ln/>
        </p:spPr>
        <p:txBody>
          <a:bodyPr wrap="square" lIns="0" tIns="0" rIns="0" bIns="0" rtlCol="0" anchor="ctr"/>
          <a:lstStyle/>
          <a:p>
            <a:pPr marL="0" indent="0" algn="ctr">
              <a:buNone/>
            </a:pPr>
            <a:r>
              <a:rPr lang="en-US" sz="950" i="1" dirty="0">
                <a:solidFill>
                  <a:srgbClr val="6B7280"/>
                </a:solidFill>
                <a:latin typeface="Calibri" pitchFamily="34" charset="0"/>
                <a:ea typeface="Calibri" pitchFamily="34" charset="-122"/>
                <a:cs typeface="Calibri" pitchFamily="34" charset="-120"/>
              </a:rPr>
              <a:t>each process contributes 2 refs (fd 1 + logfd)</a:t>
            </a:r>
            <a:endParaRPr lang="en-US" sz="950" dirty="0"/>
          </a:p>
        </p:txBody>
      </p:sp>
      <p:sp>
        <p:nvSpPr>
          <p:cNvPr id="26" name="Shape 24"/>
          <p:cNvSpPr/>
          <p:nvPr/>
        </p:nvSpPr>
        <p:spPr>
          <a:xfrm>
            <a:off x="4160520" y="2057400"/>
            <a:ext cx="2514600" cy="1143000"/>
          </a:xfrm>
          <a:prstGeom prst="rect">
            <a:avLst/>
          </a:prstGeom>
          <a:solidFill>
            <a:srgbClr val="E2F1F0"/>
          </a:solidFill>
          <a:ln w="31750">
            <a:solidFill>
              <a:srgbClr val="0E8A8A"/>
            </a:solidFill>
            <a:prstDash val="solid"/>
          </a:ln>
        </p:spPr>
      </p:sp>
      <p:sp>
        <p:nvSpPr>
          <p:cNvPr id="27" name="Text 25"/>
          <p:cNvSpPr/>
          <p:nvPr/>
        </p:nvSpPr>
        <p:spPr>
          <a:xfrm>
            <a:off x="4160520" y="2057400"/>
            <a:ext cx="2514600" cy="1143000"/>
          </a:xfrm>
          <a:prstGeom prst="rect">
            <a:avLst/>
          </a:prstGeom>
          <a:noFill/>
          <a:ln/>
        </p:spPr>
        <p:txBody>
          <a:bodyPr wrap="square" lIns="0" tIns="0" rIns="0" bIns="0" rtlCol="0" anchor="ctr"/>
          <a:lstStyle/>
          <a:p>
            <a:pPr marL="0" indent="0" algn="ctr">
              <a:buNone/>
            </a:pPr>
            <a:r>
              <a:rPr lang="en-US" sz="1100" b="1" dirty="0">
                <a:solidFill>
                  <a:srgbClr val="1F2937"/>
                </a:solidFill>
                <a:latin typeface="Courier New" pitchFamily="34" charset="0"/>
                <a:ea typeface="Courier New" pitchFamily="34" charset="-122"/>
                <a:cs typeface="Courier New" pitchFamily="34" charset="-120"/>
              </a:rPr>
              <a:t>OFT entry: /tmp/run.log</a:t>
            </a:r>
            <a:endParaRPr lang="en-US" sz="1100" dirty="0"/>
          </a:p>
          <a:p>
            <a:pPr marL="0" indent="0" algn="ctr">
              <a:buNone/>
            </a:pPr>
            <a:r>
              <a:rPr lang="en-US" sz="2200" b="1" dirty="0">
                <a:solidFill>
                  <a:srgbClr val="0A6363"/>
                </a:solidFill>
                <a:latin typeface="Calibri" pitchFamily="34" charset="0"/>
                <a:ea typeface="Calibri" pitchFamily="34" charset="-122"/>
                <a:cs typeface="Calibri" pitchFamily="34" charset="-120"/>
              </a:rPr>
              <a:t>refcnt = 8</a:t>
            </a:r>
            <a:endParaRPr lang="en-US" sz="1100" dirty="0"/>
          </a:p>
        </p:txBody>
      </p:sp>
      <p:sp>
        <p:nvSpPr>
          <p:cNvPr id="28" name="Shape 26"/>
          <p:cNvSpPr/>
          <p:nvPr/>
        </p:nvSpPr>
        <p:spPr>
          <a:xfrm>
            <a:off x="6903720" y="1143000"/>
            <a:ext cx="1828800" cy="1463040"/>
          </a:xfrm>
          <a:prstGeom prst="rect">
            <a:avLst/>
          </a:prstGeom>
          <a:solidFill>
            <a:srgbClr val="FFFFFF"/>
          </a:solidFill>
          <a:ln w="12700">
            <a:solidFill>
              <a:srgbClr val="DDE1E6"/>
            </a:solidFill>
            <a:prstDash val="solid"/>
          </a:ln>
        </p:spPr>
      </p:sp>
      <p:sp>
        <p:nvSpPr>
          <p:cNvPr id="29" name="Shape 27"/>
          <p:cNvSpPr/>
          <p:nvPr/>
        </p:nvSpPr>
        <p:spPr>
          <a:xfrm>
            <a:off x="6903720" y="1143000"/>
            <a:ext cx="64008" cy="1463040"/>
          </a:xfrm>
          <a:prstGeom prst="rect">
            <a:avLst/>
          </a:prstGeom>
          <a:solidFill>
            <a:srgbClr val="0E8A8A"/>
          </a:solidFill>
          <a:ln/>
        </p:spPr>
      </p:sp>
      <p:sp>
        <p:nvSpPr>
          <p:cNvPr id="30" name="Text 28"/>
          <p:cNvSpPr/>
          <p:nvPr/>
        </p:nvSpPr>
        <p:spPr>
          <a:xfrm>
            <a:off x="7104888" y="1207008"/>
            <a:ext cx="1280160" cy="182880"/>
          </a:xfrm>
          <a:prstGeom prst="rect">
            <a:avLst/>
          </a:prstGeom>
          <a:noFill/>
          <a:ln/>
        </p:spPr>
        <p:txBody>
          <a:bodyPr wrap="square" lIns="0" tIns="0" rIns="0" bIns="0" rtlCol="0" anchor="ctr"/>
          <a:lstStyle/>
          <a:p>
            <a:pPr marL="0" indent="0">
              <a:buNone/>
            </a:pPr>
            <a:r>
              <a:rPr lang="en-US" sz="850" b="1" kern="0" spc="200" dirty="0">
                <a:solidFill>
                  <a:srgbClr val="0E8A8A"/>
                </a:solidFill>
                <a:latin typeface="Trebuchet MS" pitchFamily="34" charset="0"/>
                <a:ea typeface="Trebuchet MS" pitchFamily="34" charset="-122"/>
                <a:cs typeface="Trebuchet MS" pitchFamily="34" charset="-120"/>
              </a:rPr>
              <a:t>ANSWER</a:t>
            </a:r>
            <a:endParaRPr lang="en-US" sz="850" dirty="0"/>
          </a:p>
        </p:txBody>
      </p:sp>
      <p:sp>
        <p:nvSpPr>
          <p:cNvPr id="31" name="Text 29"/>
          <p:cNvSpPr/>
          <p:nvPr/>
        </p:nvSpPr>
        <p:spPr>
          <a:xfrm>
            <a:off x="7104888" y="1389888"/>
            <a:ext cx="1463040" cy="1152144"/>
          </a:xfrm>
          <a:prstGeom prst="rect">
            <a:avLst/>
          </a:prstGeom>
          <a:noFill/>
          <a:ln/>
        </p:spPr>
        <p:txBody>
          <a:bodyPr wrap="square" lIns="0" tIns="0" rIns="0" bIns="0" rtlCol="0" anchor="t"/>
          <a:lstStyle/>
          <a:p>
            <a:pPr marL="0" indent="0">
              <a:buNone/>
            </a:pPr>
            <a:r>
              <a:rPr lang="en-US" sz="1400" b="1" dirty="0">
                <a:solidFill>
                  <a:srgbClr val="1F2937"/>
                </a:solidFill>
                <a:latin typeface="Calibri" pitchFamily="34" charset="0"/>
                <a:ea typeface="Calibri" pitchFamily="34" charset="-122"/>
                <a:cs typeface="Calibri" pitchFamily="34" charset="-120"/>
              </a:rPr>
              <a:t>8 slots</a:t>
            </a:r>
            <a:endParaRPr lang="en-US" sz="1200" dirty="0"/>
          </a:p>
          <a:p>
            <a:pPr marL="0" indent="0">
              <a:buNone/>
            </a:pPr>
            <a:r>
              <a:rPr lang="en-US" sz="1100" dirty="0">
                <a:solidFill>
                  <a:srgbClr val="1F2937"/>
                </a:solidFill>
                <a:latin typeface="Calibri" pitchFamily="34" charset="0"/>
                <a:ea typeface="Calibri" pitchFamily="34" charset="-122"/>
                <a:cs typeface="Calibri" pitchFamily="34" charset="-120"/>
              </a:rPr>
              <a:t>2 (parent)</a:t>
            </a:r>
            <a:endParaRPr lang="en-US" sz="1200" dirty="0"/>
          </a:p>
          <a:p>
            <a:pPr marL="0" indent="0">
              <a:buNone/>
            </a:pPr>
            <a:r>
              <a:rPr lang="en-US" sz="1100" dirty="0">
                <a:solidFill>
                  <a:srgbClr val="1F2937"/>
                </a:solidFill>
                <a:latin typeface="Calibri" pitchFamily="34" charset="0"/>
                <a:ea typeface="Calibri" pitchFamily="34" charset="-122"/>
                <a:cs typeface="Calibri" pitchFamily="34" charset="-120"/>
              </a:rPr>
              <a:t>+ 3 × 2 (children)</a:t>
            </a:r>
            <a:endParaRPr lang="en-US" sz="1200" dirty="0"/>
          </a:p>
        </p:txBody>
      </p:sp>
      <p:sp>
        <p:nvSpPr>
          <p:cNvPr id="32" name="Shape 30"/>
          <p:cNvSpPr/>
          <p:nvPr/>
        </p:nvSpPr>
        <p:spPr>
          <a:xfrm>
            <a:off x="6903720" y="2743200"/>
            <a:ext cx="1828800" cy="1828800"/>
          </a:xfrm>
          <a:prstGeom prst="rect">
            <a:avLst/>
          </a:prstGeom>
          <a:solidFill>
            <a:srgbClr val="FDF3EF"/>
          </a:solidFill>
          <a:ln w="12700">
            <a:solidFill>
              <a:srgbClr val="DDE1E6"/>
            </a:solidFill>
            <a:prstDash val="solid"/>
          </a:ln>
        </p:spPr>
      </p:sp>
      <p:sp>
        <p:nvSpPr>
          <p:cNvPr id="33" name="Shape 31"/>
          <p:cNvSpPr/>
          <p:nvPr/>
        </p:nvSpPr>
        <p:spPr>
          <a:xfrm>
            <a:off x="6903720" y="2743200"/>
            <a:ext cx="64008" cy="1828800"/>
          </a:xfrm>
          <a:prstGeom prst="rect">
            <a:avLst/>
          </a:prstGeom>
          <a:solidFill>
            <a:srgbClr val="B23A2F"/>
          </a:solidFill>
          <a:ln/>
        </p:spPr>
      </p:sp>
      <p:sp>
        <p:nvSpPr>
          <p:cNvPr id="34" name="Text 32"/>
          <p:cNvSpPr/>
          <p:nvPr/>
        </p:nvSpPr>
        <p:spPr>
          <a:xfrm>
            <a:off x="7104888" y="280720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35" name="Text 33"/>
          <p:cNvSpPr/>
          <p:nvPr/>
        </p:nvSpPr>
        <p:spPr>
          <a:xfrm>
            <a:off x="7104888" y="2990088"/>
            <a:ext cx="1463040" cy="151790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“Each child gets its own OFT entry.”  No — Fork copies the descriptor table, not the OFT. All 8 slots alias one entry.</a:t>
            </a:r>
            <a:endParaRPr lang="en-US" sz="1100" dirty="0"/>
          </a:p>
        </p:txBody>
      </p:sp>
      <p:sp>
        <p:nvSpPr>
          <p:cNvPr id="36" name="Text 34"/>
          <p:cNvSpPr/>
          <p:nvPr/>
        </p:nvSpPr>
        <p:spPr>
          <a:xfrm>
            <a:off x="457200" y="4572000"/>
            <a:ext cx="8229600" cy="32004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Fork() duplicates the descriptor table: every child inherits fd 1 and logfd, still aimed at the same OFT entry.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7</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2.1 (C)</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Why does the terminal see zero bytes?</a:t>
            </a:r>
            <a:endParaRPr lang="en-US" sz="2300" dirty="0"/>
          </a:p>
        </p:txBody>
      </p:sp>
      <p:sp>
        <p:nvSpPr>
          <p:cNvPr id="5" name="Shape 3"/>
          <p:cNvSpPr/>
          <p:nvPr/>
        </p:nvSpPr>
        <p:spPr>
          <a:xfrm>
            <a:off x="457200" y="1371600"/>
            <a:ext cx="2103120" cy="914400"/>
          </a:xfrm>
          <a:prstGeom prst="rect">
            <a:avLst/>
          </a:prstGeom>
          <a:solidFill>
            <a:srgbClr val="FFFFFF"/>
          </a:solidFill>
          <a:ln w="12700">
            <a:solidFill>
              <a:srgbClr val="DDE1E6"/>
            </a:solidFill>
            <a:prstDash val="solid"/>
          </a:ln>
        </p:spPr>
      </p:sp>
      <p:sp>
        <p:nvSpPr>
          <p:cNvPr id="6" name="Text 4"/>
          <p:cNvSpPr/>
          <p:nvPr/>
        </p:nvSpPr>
        <p:spPr>
          <a:xfrm>
            <a:off x="457200" y="1371600"/>
            <a:ext cx="2103120" cy="914400"/>
          </a:xfrm>
          <a:prstGeom prst="rect">
            <a:avLst/>
          </a:prstGeom>
          <a:noFill/>
          <a:ln/>
        </p:spPr>
        <p:txBody>
          <a:bodyPr wrap="square" lIns="381" tIns="381" rIns="381" bIns="381" rtlCol="0" anchor="ctr"/>
          <a:lstStyle/>
          <a:p>
            <a:pPr marL="0" indent="0" algn="ctr">
              <a:buNone/>
            </a:pPr>
            <a:r>
              <a:rPr lang="en-US" sz="1150" b="1" dirty="0">
                <a:solidFill>
                  <a:srgbClr val="1F2937"/>
                </a:solidFill>
                <a:latin typeface="Calibri" pitchFamily="34" charset="0"/>
                <a:ea typeface="Calibri" pitchFamily="34" charset="-122"/>
                <a:cs typeface="Calibri" pitchFamily="34" charset="-120"/>
              </a:rPr>
              <a:t>printf in parent</a:t>
            </a:r>
            <a:endParaRPr lang="en-US" sz="1150" dirty="0"/>
          </a:p>
          <a:p>
            <a:pPr marL="0" indent="0" algn="ctr">
              <a:buNone/>
            </a:pPr>
            <a:r>
              <a:rPr lang="en-US" sz="1150" b="1" dirty="0">
                <a:solidFill>
                  <a:srgbClr val="1F2937"/>
                </a:solidFill>
                <a:latin typeface="Calibri" pitchFamily="34" charset="0"/>
                <a:ea typeface="Calibri" pitchFamily="34" charset="-122"/>
                <a:cs typeface="Calibri" pitchFamily="34" charset="-120"/>
              </a:rPr>
              <a:t>+ all 3 children</a:t>
            </a:r>
            <a:endParaRPr lang="en-US" sz="1150" dirty="0"/>
          </a:p>
        </p:txBody>
      </p:sp>
      <p:sp>
        <p:nvSpPr>
          <p:cNvPr id="7" name="Shape 5"/>
          <p:cNvSpPr/>
          <p:nvPr/>
        </p:nvSpPr>
        <p:spPr>
          <a:xfrm>
            <a:off x="2560320" y="1828800"/>
            <a:ext cx="1371600" cy="0"/>
          </a:xfrm>
          <a:prstGeom prst="line">
            <a:avLst/>
          </a:prstGeom>
          <a:noFill/>
          <a:ln w="31750">
            <a:solidFill>
              <a:srgbClr val="0E8A8A"/>
            </a:solidFill>
            <a:prstDash val="solid"/>
            <a:tailEnd type="triangle"/>
          </a:ln>
        </p:spPr>
      </p:sp>
      <p:sp>
        <p:nvSpPr>
          <p:cNvPr id="8" name="Text 6"/>
          <p:cNvSpPr/>
          <p:nvPr/>
        </p:nvSpPr>
        <p:spPr>
          <a:xfrm>
            <a:off x="2834640" y="1554480"/>
            <a:ext cx="914400" cy="201168"/>
          </a:xfrm>
          <a:prstGeom prst="rect">
            <a:avLst/>
          </a:prstGeom>
          <a:noFill/>
          <a:ln/>
        </p:spPr>
        <p:txBody>
          <a:bodyPr wrap="square" lIns="0" tIns="0" rIns="0" bIns="0" rtlCol="0" anchor="ctr"/>
          <a:lstStyle/>
          <a:p>
            <a:pPr marL="0" indent="0">
              <a:buNone/>
            </a:pPr>
            <a:r>
              <a:rPr lang="en-US" sz="1000" dirty="0">
                <a:solidFill>
                  <a:srgbClr val="0A6363"/>
                </a:solidFill>
                <a:latin typeface="Courier New" pitchFamily="34" charset="0"/>
                <a:ea typeface="Courier New" pitchFamily="34" charset="-122"/>
                <a:cs typeface="Courier New" pitchFamily="34" charset="-120"/>
              </a:rPr>
              <a:t>fd 1</a:t>
            </a:r>
            <a:endParaRPr lang="en-US" sz="1000" dirty="0"/>
          </a:p>
        </p:txBody>
      </p:sp>
      <p:sp>
        <p:nvSpPr>
          <p:cNvPr id="9" name="Shape 7"/>
          <p:cNvSpPr/>
          <p:nvPr/>
        </p:nvSpPr>
        <p:spPr>
          <a:xfrm>
            <a:off x="3931920" y="1371600"/>
            <a:ext cx="2286000" cy="914400"/>
          </a:xfrm>
          <a:prstGeom prst="rect">
            <a:avLst/>
          </a:prstGeom>
          <a:solidFill>
            <a:srgbClr val="E2F1F0"/>
          </a:solidFill>
          <a:ln w="25400">
            <a:solidFill>
              <a:srgbClr val="0E8A8A"/>
            </a:solidFill>
            <a:prstDash val="solid"/>
          </a:ln>
        </p:spPr>
      </p:sp>
      <p:sp>
        <p:nvSpPr>
          <p:cNvPr id="10" name="Text 8"/>
          <p:cNvSpPr/>
          <p:nvPr/>
        </p:nvSpPr>
        <p:spPr>
          <a:xfrm>
            <a:off x="3931920" y="1371600"/>
            <a:ext cx="2286000" cy="914400"/>
          </a:xfrm>
          <a:prstGeom prst="rect">
            <a:avLst/>
          </a:prstGeom>
          <a:noFill/>
          <a:ln/>
        </p:spPr>
        <p:txBody>
          <a:bodyPr wrap="square" lIns="0" tIns="0" rIns="0" bIns="0" rtlCol="0" anchor="ctr"/>
          <a:lstStyle/>
          <a:p>
            <a:pPr marL="0" indent="0" algn="ctr">
              <a:buNone/>
            </a:pPr>
            <a:r>
              <a:rPr lang="en-US" sz="1150" b="1" dirty="0">
                <a:solidFill>
                  <a:srgbClr val="0A6363"/>
                </a:solidFill>
                <a:latin typeface="Calibri" pitchFamily="34" charset="0"/>
                <a:ea typeface="Calibri" pitchFamily="34" charset="-122"/>
                <a:cs typeface="Calibri" pitchFamily="34" charset="-120"/>
              </a:rPr>
              <a:t>/tmp/run.log</a:t>
            </a:r>
            <a:endParaRPr lang="en-US" sz="1150" dirty="0"/>
          </a:p>
          <a:p>
            <a:pPr marL="0" indent="0" algn="ctr">
              <a:buNone/>
            </a:pPr>
            <a:r>
              <a:rPr lang="en-US" sz="1150" b="1" dirty="0">
                <a:solidFill>
                  <a:srgbClr val="0A6363"/>
                </a:solidFill>
                <a:latin typeface="Calibri" pitchFamily="34" charset="0"/>
                <a:ea typeface="Calibri" pitchFamily="34" charset="-122"/>
                <a:cs typeface="Calibri" pitchFamily="34" charset="-120"/>
              </a:rPr>
              <a:t>(every byte lands here)</a:t>
            </a:r>
            <a:endParaRPr lang="en-US" sz="1150" dirty="0"/>
          </a:p>
        </p:txBody>
      </p:sp>
      <p:sp>
        <p:nvSpPr>
          <p:cNvPr id="11" name="Shape 9"/>
          <p:cNvSpPr/>
          <p:nvPr/>
        </p:nvSpPr>
        <p:spPr>
          <a:xfrm>
            <a:off x="6675120" y="1371600"/>
            <a:ext cx="2057400" cy="914400"/>
          </a:xfrm>
          <a:prstGeom prst="rect">
            <a:avLst/>
          </a:prstGeom>
          <a:solidFill>
            <a:srgbClr val="EFEFEC"/>
          </a:solidFill>
          <a:ln w="12700">
            <a:solidFill>
              <a:srgbClr val="C9CDD3"/>
            </a:solidFill>
            <a:prstDash val="solid"/>
          </a:ln>
        </p:spPr>
      </p:sp>
      <p:sp>
        <p:nvSpPr>
          <p:cNvPr id="12" name="Text 10"/>
          <p:cNvSpPr/>
          <p:nvPr/>
        </p:nvSpPr>
        <p:spPr>
          <a:xfrm>
            <a:off x="6675120" y="1371600"/>
            <a:ext cx="2057400" cy="914400"/>
          </a:xfrm>
          <a:prstGeom prst="rect">
            <a:avLst/>
          </a:prstGeom>
          <a:noFill/>
          <a:ln/>
        </p:spPr>
        <p:txBody>
          <a:bodyPr wrap="square" lIns="381" tIns="381" rIns="381" bIns="381"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tty OFT entry</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zero descriptors in these</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4 processes reference it</a:t>
            </a:r>
            <a:endParaRPr lang="en-US" sz="1000" dirty="0"/>
          </a:p>
        </p:txBody>
      </p:sp>
      <p:sp>
        <p:nvSpPr>
          <p:cNvPr id="13" name="Shape 11"/>
          <p:cNvSpPr/>
          <p:nvPr/>
        </p:nvSpPr>
        <p:spPr>
          <a:xfrm>
            <a:off x="457200" y="2743200"/>
            <a:ext cx="8275320" cy="914400"/>
          </a:xfrm>
          <a:prstGeom prst="rect">
            <a:avLst/>
          </a:prstGeom>
          <a:solidFill>
            <a:srgbClr val="FFFFFF"/>
          </a:solidFill>
          <a:ln w="12700">
            <a:solidFill>
              <a:srgbClr val="DDE1E6"/>
            </a:solidFill>
            <a:prstDash val="solid"/>
          </a:ln>
        </p:spPr>
      </p:sp>
      <p:sp>
        <p:nvSpPr>
          <p:cNvPr id="14" name="Shape 12"/>
          <p:cNvSpPr/>
          <p:nvPr/>
        </p:nvSpPr>
        <p:spPr>
          <a:xfrm>
            <a:off x="457200" y="2743200"/>
            <a:ext cx="64008" cy="914400"/>
          </a:xfrm>
          <a:prstGeom prst="rect">
            <a:avLst/>
          </a:prstGeom>
          <a:solidFill>
            <a:srgbClr val="0E8A8A"/>
          </a:solidFill>
          <a:ln/>
        </p:spPr>
      </p:sp>
      <p:sp>
        <p:nvSpPr>
          <p:cNvPr id="15" name="Text 13"/>
          <p:cNvSpPr/>
          <p:nvPr/>
        </p:nvSpPr>
        <p:spPr>
          <a:xfrm>
            <a:off x="658368" y="2807208"/>
            <a:ext cx="1280160" cy="182880"/>
          </a:xfrm>
          <a:prstGeom prst="rect">
            <a:avLst/>
          </a:prstGeom>
          <a:noFill/>
          <a:ln/>
        </p:spPr>
        <p:txBody>
          <a:bodyPr wrap="square" lIns="0" tIns="0" rIns="0" bIns="0" rtlCol="0" anchor="ctr"/>
          <a:lstStyle/>
          <a:p>
            <a:pPr marL="0" indent="0">
              <a:buNone/>
            </a:pPr>
            <a:r>
              <a:rPr lang="en-US" sz="850" b="1" kern="0" spc="200" dirty="0">
                <a:solidFill>
                  <a:srgbClr val="0E8A8A"/>
                </a:solidFill>
                <a:latin typeface="Trebuchet MS" pitchFamily="34" charset="0"/>
                <a:ea typeface="Trebuchet MS" pitchFamily="34" charset="-122"/>
                <a:cs typeface="Trebuchet MS" pitchFamily="34" charset="-120"/>
              </a:rPr>
              <a:t>ANSWER</a:t>
            </a:r>
            <a:endParaRPr lang="en-US" sz="850" dirty="0"/>
          </a:p>
        </p:txBody>
      </p:sp>
      <p:sp>
        <p:nvSpPr>
          <p:cNvPr id="16" name="Text 14"/>
          <p:cNvSpPr/>
          <p:nvPr/>
        </p:nvSpPr>
        <p:spPr>
          <a:xfrm>
            <a:off x="658368" y="2990088"/>
            <a:ext cx="7909560" cy="603504"/>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Dup2 re-aimed fd 1 at /tmp/run.log before any printf ran; children inherit that table, so no descriptor in any of the four processes references the terminal's OFT entry.</a:t>
            </a:r>
            <a:endParaRPr lang="en-US" sz="1200" dirty="0"/>
          </a:p>
        </p:txBody>
      </p:sp>
      <p:sp>
        <p:nvSpPr>
          <p:cNvPr id="17" name="Shape 15"/>
          <p:cNvSpPr/>
          <p:nvPr/>
        </p:nvSpPr>
        <p:spPr>
          <a:xfrm>
            <a:off x="457200" y="3886200"/>
            <a:ext cx="8275320" cy="868680"/>
          </a:xfrm>
          <a:prstGeom prst="rect">
            <a:avLst/>
          </a:prstGeom>
          <a:solidFill>
            <a:srgbClr val="F0F2F5"/>
          </a:solidFill>
          <a:ln w="12700">
            <a:solidFill>
              <a:srgbClr val="DDE1E6"/>
            </a:solidFill>
            <a:prstDash val="solid"/>
          </a:ln>
        </p:spPr>
      </p:sp>
      <p:sp>
        <p:nvSpPr>
          <p:cNvPr id="18" name="Text 16"/>
          <p:cNvSpPr/>
          <p:nvPr/>
        </p:nvSpPr>
        <p:spPr>
          <a:xfrm>
            <a:off x="685800" y="4005072"/>
            <a:ext cx="7863840" cy="640080"/>
          </a:xfrm>
          <a:prstGeom prst="rect">
            <a:avLst/>
          </a:prstGeom>
          <a:noFill/>
          <a:ln/>
        </p:spPr>
        <p:txBody>
          <a:bodyPr wrap="square" lIns="0" tIns="0" rIns="0" bIns="0" rtlCol="0" anchor="ctr"/>
          <a:lstStyle/>
          <a:p>
            <a:pPr marL="0" indent="0">
              <a:buNone/>
            </a:pPr>
            <a:r>
              <a:rPr lang="en-US" sz="1150" b="1" dirty="0">
                <a:solidFill>
                  <a:srgbClr val="1F2937"/>
                </a:solidFill>
                <a:latin typeface="Calibri" pitchFamily="34" charset="0"/>
                <a:ea typeface="Calibri" pitchFamily="34" charset="-122"/>
                <a:cs typeface="Calibri" pitchFamily="34" charset="-120"/>
              </a:rPr>
              <a:t>What if line 21 (Dup2) were deleted?  </a:t>
            </a:r>
            <a:r>
              <a:rPr lang="en-US" sz="1150" dirty="0">
                <a:solidFill>
                  <a:srgbClr val="1F2937"/>
                </a:solidFill>
                <a:latin typeface="Calibri" pitchFamily="34" charset="0"/>
                <a:ea typeface="Calibri" pitchFamily="34" charset="-122"/>
                <a:cs typeface="Calibri" pitchFamily="34" charset="-120"/>
              </a:rPr>
              <a:t>run.log refcount = 1, fd 1 still → terminal, and all printf output appears interleaved on screen. Dup2 is the load-bearing piece of redirection.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8</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2.2 (A)</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The race: a SIGCHLD lands in the gap</a:t>
            </a:r>
            <a:endParaRPr lang="en-US" sz="2300" dirty="0"/>
          </a:p>
        </p:txBody>
      </p:sp>
      <p:sp>
        <p:nvSpPr>
          <p:cNvPr id="5" name="Shape 3"/>
          <p:cNvSpPr/>
          <p:nvPr/>
        </p:nvSpPr>
        <p:spPr>
          <a:xfrm>
            <a:off x="457200" y="2240280"/>
            <a:ext cx="8275320" cy="0"/>
          </a:xfrm>
          <a:prstGeom prst="line">
            <a:avLst/>
          </a:prstGeom>
          <a:noFill/>
          <a:ln w="19050">
            <a:solidFill>
              <a:srgbClr val="9AA0A8"/>
            </a:solidFill>
            <a:prstDash val="solid"/>
            <a:tailEnd type="triangle"/>
          </a:ln>
        </p:spPr>
      </p:sp>
      <p:sp>
        <p:nvSpPr>
          <p:cNvPr id="6" name="Shape 4"/>
          <p:cNvSpPr/>
          <p:nvPr/>
        </p:nvSpPr>
        <p:spPr>
          <a:xfrm>
            <a:off x="731520" y="1993392"/>
            <a:ext cx="1600200" cy="493776"/>
          </a:xfrm>
          <a:prstGeom prst="rect">
            <a:avLst/>
          </a:prstGeom>
          <a:solidFill>
            <a:srgbClr val="FFFFFF"/>
          </a:solidFill>
          <a:ln w="12700">
            <a:solidFill>
              <a:srgbClr val="DDE1E6"/>
            </a:solidFill>
            <a:prstDash val="solid"/>
          </a:ln>
        </p:spPr>
      </p:sp>
      <p:sp>
        <p:nvSpPr>
          <p:cNvPr id="7" name="Text 5"/>
          <p:cNvSpPr/>
          <p:nvPr/>
        </p:nvSpPr>
        <p:spPr>
          <a:xfrm>
            <a:off x="731520" y="1993392"/>
            <a:ext cx="1600200" cy="493776"/>
          </a:xfrm>
          <a:prstGeom prst="rect">
            <a:avLst/>
          </a:prstGeom>
          <a:noFill/>
          <a:ln/>
        </p:spPr>
        <p:txBody>
          <a:bodyPr wrap="square" lIns="381" tIns="381" rIns="381" bIns="381"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load reaped == 2</a:t>
            </a:r>
            <a:endParaRPr lang="en-US" sz="1050" dirty="0"/>
          </a:p>
        </p:txBody>
      </p:sp>
      <p:sp>
        <p:nvSpPr>
          <p:cNvPr id="8" name="Shape 6"/>
          <p:cNvSpPr/>
          <p:nvPr/>
        </p:nvSpPr>
        <p:spPr>
          <a:xfrm>
            <a:off x="2514600" y="1993392"/>
            <a:ext cx="1325880" cy="493776"/>
          </a:xfrm>
          <a:prstGeom prst="rect">
            <a:avLst/>
          </a:prstGeom>
          <a:solidFill>
            <a:srgbClr val="FFFFFF"/>
          </a:solidFill>
          <a:ln w="12700">
            <a:solidFill>
              <a:srgbClr val="DDE1E6"/>
            </a:solidFill>
            <a:prstDash val="solid"/>
          </a:ln>
        </p:spPr>
      </p:sp>
      <p:sp>
        <p:nvSpPr>
          <p:cNvPr id="9" name="Text 7"/>
          <p:cNvSpPr/>
          <p:nvPr/>
        </p:nvSpPr>
        <p:spPr>
          <a:xfrm>
            <a:off x="2514600" y="1993392"/>
            <a:ext cx="1325880" cy="493776"/>
          </a:xfrm>
          <a:prstGeom prst="rect">
            <a:avLst/>
          </a:prstGeom>
          <a:noFill/>
          <a:ln/>
        </p:spPr>
        <p:txBody>
          <a:bodyPr wrap="square" lIns="381" tIns="381" rIns="381" bIns="381"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test 2 &lt; 3 ✓</a:t>
            </a:r>
            <a:endParaRPr lang="en-US" sz="1050" dirty="0"/>
          </a:p>
        </p:txBody>
      </p:sp>
      <p:sp>
        <p:nvSpPr>
          <p:cNvPr id="10" name="Shape 8"/>
          <p:cNvSpPr/>
          <p:nvPr/>
        </p:nvSpPr>
        <p:spPr>
          <a:xfrm>
            <a:off x="4023360" y="1828800"/>
            <a:ext cx="1737360" cy="822960"/>
          </a:xfrm>
          <a:prstGeom prst="rect">
            <a:avLst/>
          </a:prstGeom>
          <a:solidFill>
            <a:srgbClr val="FBEEEC"/>
          </a:solidFill>
          <a:ln w="19050">
            <a:solidFill>
              <a:srgbClr val="B23A2F"/>
            </a:solidFill>
            <a:prstDash val="dash"/>
          </a:ln>
        </p:spPr>
      </p:sp>
      <p:sp>
        <p:nvSpPr>
          <p:cNvPr id="11" name="Text 9"/>
          <p:cNvSpPr/>
          <p:nvPr/>
        </p:nvSpPr>
        <p:spPr>
          <a:xfrm>
            <a:off x="4023360" y="2697480"/>
            <a:ext cx="1737360" cy="201168"/>
          </a:xfrm>
          <a:prstGeom prst="rect">
            <a:avLst/>
          </a:prstGeom>
          <a:noFill/>
          <a:ln/>
        </p:spPr>
        <p:txBody>
          <a:bodyPr wrap="square" lIns="0" tIns="0" rIns="0" bIns="0" rtlCol="0" anchor="ctr"/>
          <a:lstStyle/>
          <a:p>
            <a:pPr marL="0" indent="0" algn="ctr">
              <a:buNone/>
            </a:pPr>
            <a:r>
              <a:rPr lang="en-US" sz="950" b="1" kern="0" spc="150" dirty="0">
                <a:solidFill>
                  <a:srgbClr val="B23A2F"/>
                </a:solidFill>
                <a:latin typeface="Trebuchet MS" pitchFamily="34" charset="0"/>
                <a:ea typeface="Trebuchet MS" pitchFamily="34" charset="-122"/>
                <a:cs typeface="Trebuchet MS" pitchFamily="34" charset="-120"/>
              </a:rPr>
              <a:t>THE GAP</a:t>
            </a:r>
            <a:endParaRPr lang="en-US" sz="950" dirty="0"/>
          </a:p>
        </p:txBody>
      </p:sp>
      <p:sp>
        <p:nvSpPr>
          <p:cNvPr id="12" name="Shape 10"/>
          <p:cNvSpPr/>
          <p:nvPr/>
        </p:nvSpPr>
        <p:spPr>
          <a:xfrm>
            <a:off x="5989320" y="1993392"/>
            <a:ext cx="1463040" cy="493776"/>
          </a:xfrm>
          <a:prstGeom prst="rect">
            <a:avLst/>
          </a:prstGeom>
          <a:solidFill>
            <a:srgbClr val="FFFFFF"/>
          </a:solidFill>
          <a:ln w="12700">
            <a:solidFill>
              <a:srgbClr val="DDE1E6"/>
            </a:solidFill>
            <a:prstDash val="solid"/>
          </a:ln>
        </p:spPr>
      </p:sp>
      <p:sp>
        <p:nvSpPr>
          <p:cNvPr id="13" name="Text 11"/>
          <p:cNvSpPr/>
          <p:nvPr/>
        </p:nvSpPr>
        <p:spPr>
          <a:xfrm>
            <a:off x="5989320" y="1993392"/>
            <a:ext cx="1463040" cy="493776"/>
          </a:xfrm>
          <a:prstGeom prst="rect">
            <a:avLst/>
          </a:prstGeom>
          <a:noFill/>
          <a:ln/>
        </p:spPr>
        <p:txBody>
          <a:bodyPr wrap="square" lIns="381" tIns="381" rIns="381" bIns="381" rtlCol="0" anchor="ctr"/>
          <a:lstStyle/>
          <a:p>
            <a:pPr marL="0" indent="0" algn="ctr">
              <a:buNone/>
            </a:pPr>
            <a:r>
              <a:rPr lang="en-US" sz="1100" b="1" dirty="0">
                <a:solidFill>
                  <a:srgbClr val="1F2937"/>
                </a:solidFill>
                <a:latin typeface="Courier New" pitchFamily="34" charset="0"/>
                <a:ea typeface="Courier New" pitchFamily="34" charset="-122"/>
                <a:cs typeface="Courier New" pitchFamily="34" charset="-120"/>
              </a:rPr>
              <a:t>Pause()</a:t>
            </a:r>
            <a:endParaRPr lang="en-US" sz="1100" dirty="0"/>
          </a:p>
        </p:txBody>
      </p:sp>
      <p:sp>
        <p:nvSpPr>
          <p:cNvPr id="14" name="Text 12"/>
          <p:cNvSpPr/>
          <p:nvPr/>
        </p:nvSpPr>
        <p:spPr>
          <a:xfrm>
            <a:off x="5989320" y="2624328"/>
            <a:ext cx="2743200" cy="201168"/>
          </a:xfrm>
          <a:prstGeom prst="rect">
            <a:avLst/>
          </a:prstGeom>
          <a:noFill/>
          <a:ln/>
        </p:spPr>
        <p:txBody>
          <a:bodyPr wrap="square" lIns="0" tIns="0" rIns="0" bIns="0" rtlCol="0" anchor="ctr"/>
          <a:lstStyle/>
          <a:p>
            <a:pPr marL="0" indent="0">
              <a:buNone/>
            </a:pPr>
            <a:r>
              <a:rPr lang="en-US" sz="950" i="1" dirty="0">
                <a:solidFill>
                  <a:srgbClr val="B23A2F"/>
                </a:solidFill>
                <a:latin typeface="Calibri" pitchFamily="34" charset="0"/>
                <a:ea typeface="Calibri" pitchFamily="34" charset="-122"/>
                <a:cs typeface="Calibri" pitchFamily="34" charset="-120"/>
              </a:rPr>
              <a:t>sleeps forever — no 4th signal is coming</a:t>
            </a:r>
            <a:endParaRPr lang="en-US" sz="950" dirty="0"/>
          </a:p>
        </p:txBody>
      </p:sp>
      <p:sp>
        <p:nvSpPr>
          <p:cNvPr id="15" name="Shape 13"/>
          <p:cNvSpPr/>
          <p:nvPr/>
        </p:nvSpPr>
        <p:spPr>
          <a:xfrm>
            <a:off x="4892040" y="1143000"/>
            <a:ext cx="0" cy="685800"/>
          </a:xfrm>
          <a:prstGeom prst="line">
            <a:avLst/>
          </a:prstGeom>
          <a:noFill/>
          <a:ln w="28575">
            <a:solidFill>
              <a:srgbClr val="B23A2F"/>
            </a:solidFill>
            <a:prstDash val="solid"/>
            <a:tailEnd type="triangle"/>
          </a:ln>
        </p:spPr>
      </p:sp>
      <p:sp>
        <p:nvSpPr>
          <p:cNvPr id="16" name="Text 14"/>
          <p:cNvSpPr/>
          <p:nvPr/>
        </p:nvSpPr>
        <p:spPr>
          <a:xfrm>
            <a:off x="3154680" y="914400"/>
            <a:ext cx="5394960" cy="228600"/>
          </a:xfrm>
          <a:prstGeom prst="rect">
            <a:avLst/>
          </a:prstGeom>
          <a:noFill/>
          <a:ln/>
        </p:spPr>
        <p:txBody>
          <a:bodyPr wrap="square" lIns="0" tIns="0" rIns="0" bIns="0" rtlCol="0" anchor="ctr"/>
          <a:lstStyle/>
          <a:p>
            <a:pPr marL="0" indent="0">
              <a:buNone/>
            </a:pPr>
            <a:r>
              <a:rPr lang="en-US" sz="1050" b="1" dirty="0">
                <a:solidFill>
                  <a:srgbClr val="B23A2F"/>
                </a:solidFill>
                <a:latin typeface="Calibri" pitchFamily="34" charset="0"/>
                <a:ea typeface="Calibri" pitchFamily="34" charset="-122"/>
                <a:cs typeface="Calibri" pitchFamily="34" charset="-120"/>
              </a:rPr>
              <a:t>3rd child exits → SIGCHLD delivered → handler reaps, sets reaped = 3, pending bit cleared</a:t>
            </a:r>
            <a:endParaRPr lang="en-US" sz="1050" dirty="0"/>
          </a:p>
        </p:txBody>
      </p:sp>
      <p:sp>
        <p:nvSpPr>
          <p:cNvPr id="17" name="Text 15"/>
          <p:cNvSpPr/>
          <p:nvPr/>
        </p:nvSpPr>
        <p:spPr>
          <a:xfrm>
            <a:off x="731520" y="2971800"/>
            <a:ext cx="7955280" cy="256032"/>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state:  </a:t>
            </a:r>
            <a:r>
              <a:rPr lang="en-US" sz="1100" dirty="0">
                <a:solidFill>
                  <a:srgbClr val="1F2937"/>
                </a:solidFill>
                <a:latin typeface="Courier New" pitchFamily="34" charset="0"/>
                <a:ea typeface="Courier New" pitchFamily="34" charset="-122"/>
                <a:cs typeface="Courier New" pitchFamily="34" charset="-120"/>
              </a:rPr>
              <a:t>reaped 2 → 3      SIGCHLD pending 0 → 1 → 0 (consumed before Pause runs)</a:t>
            </a:r>
            <a:endParaRPr lang="en-US" sz="1100" dirty="0"/>
          </a:p>
        </p:txBody>
      </p:sp>
      <p:sp>
        <p:nvSpPr>
          <p:cNvPr id="18" name="Shape 16"/>
          <p:cNvSpPr/>
          <p:nvPr/>
        </p:nvSpPr>
        <p:spPr>
          <a:xfrm>
            <a:off x="457200" y="3429000"/>
            <a:ext cx="5029200" cy="1325880"/>
          </a:xfrm>
          <a:prstGeom prst="rect">
            <a:avLst/>
          </a:prstGeom>
          <a:solidFill>
            <a:srgbClr val="FFFFFF"/>
          </a:solidFill>
          <a:ln w="12700">
            <a:solidFill>
              <a:srgbClr val="DDE1E6"/>
            </a:solidFill>
            <a:prstDash val="solid"/>
          </a:ln>
        </p:spPr>
      </p:sp>
      <p:sp>
        <p:nvSpPr>
          <p:cNvPr id="19" name="Shape 17"/>
          <p:cNvSpPr/>
          <p:nvPr/>
        </p:nvSpPr>
        <p:spPr>
          <a:xfrm>
            <a:off x="457200" y="3429000"/>
            <a:ext cx="64008" cy="1325880"/>
          </a:xfrm>
          <a:prstGeom prst="rect">
            <a:avLst/>
          </a:prstGeom>
          <a:solidFill>
            <a:srgbClr val="0E8A8A"/>
          </a:solidFill>
          <a:ln/>
        </p:spPr>
      </p:sp>
      <p:sp>
        <p:nvSpPr>
          <p:cNvPr id="20" name="Text 18"/>
          <p:cNvSpPr/>
          <p:nvPr/>
        </p:nvSpPr>
        <p:spPr>
          <a:xfrm>
            <a:off x="658368" y="3493008"/>
            <a:ext cx="1280160" cy="182880"/>
          </a:xfrm>
          <a:prstGeom prst="rect">
            <a:avLst/>
          </a:prstGeom>
          <a:noFill/>
          <a:ln/>
        </p:spPr>
        <p:txBody>
          <a:bodyPr wrap="square" lIns="0" tIns="0" rIns="0" bIns="0" rtlCol="0" anchor="ctr"/>
          <a:lstStyle/>
          <a:p>
            <a:pPr marL="0" indent="0">
              <a:buNone/>
            </a:pPr>
            <a:r>
              <a:rPr lang="en-US" sz="850" b="1" kern="0" spc="200" dirty="0">
                <a:solidFill>
                  <a:srgbClr val="0E8A8A"/>
                </a:solidFill>
                <a:latin typeface="Trebuchet MS" pitchFamily="34" charset="0"/>
                <a:ea typeface="Trebuchet MS" pitchFamily="34" charset="-122"/>
                <a:cs typeface="Trebuchet MS" pitchFamily="34" charset="-120"/>
              </a:rPr>
              <a:t>ANSWER</a:t>
            </a:r>
            <a:endParaRPr lang="en-US" sz="850" dirty="0"/>
          </a:p>
        </p:txBody>
      </p:sp>
      <p:sp>
        <p:nvSpPr>
          <p:cNvPr id="21" name="Text 19"/>
          <p:cNvSpPr/>
          <p:nvPr/>
        </p:nvSpPr>
        <p:spPr>
          <a:xfrm>
            <a:off x="658368" y="3675888"/>
            <a:ext cx="4663440" cy="1014984"/>
          </a:xfrm>
          <a:prstGeom prst="rect">
            <a:avLst/>
          </a:prstGeom>
          <a:noFill/>
          <a:ln/>
        </p:spPr>
        <p:txBody>
          <a:bodyPr wrap="square" lIns="0" tIns="0" rIns="0" bIns="0" rtlCol="0" anchor="t"/>
          <a:lstStyle/>
          <a:p>
            <a:pPr marL="0" indent="0">
              <a:buNone/>
            </a:pPr>
            <a:r>
              <a:rPr lang="en-US" sz="1200" b="1" dirty="0">
                <a:solidFill>
                  <a:srgbClr val="1F2937"/>
                </a:solidFill>
                <a:latin typeface="Calibri" pitchFamily="34" charset="0"/>
                <a:ea typeface="Calibri" pitchFamily="34" charset="-122"/>
                <a:cs typeface="Calibri" pitchFamily="34" charset="-120"/>
              </a:rPr>
              <a:t>Concrete hang trace:</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1.  reaped == 2: loop test passes, body entered.</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2.  Before Pause(): child 3 exits, handler runs to completion.</a:t>
            </a:r>
            <a:endParaRPr lang="en-US" sz="1200" dirty="0"/>
          </a:p>
          <a:p>
            <a:pPr marL="0" indent="0">
              <a:buNone/>
            </a:pPr>
            <a:r>
              <a:rPr lang="en-US" sz="1200" dirty="0">
                <a:solidFill>
                  <a:srgbClr val="1F2937"/>
                </a:solidFill>
                <a:latin typeface="Calibri" pitchFamily="34" charset="0"/>
                <a:ea typeface="Calibri" pitchFamily="34" charset="-122"/>
                <a:cs typeface="Calibri" pitchFamily="34" charset="-120"/>
              </a:rPr>
              <a:t>3.  Pause() now waits for a signal that will never arrive.</a:t>
            </a:r>
            <a:endParaRPr lang="en-US" sz="1200" dirty="0"/>
          </a:p>
        </p:txBody>
      </p:sp>
      <p:sp>
        <p:nvSpPr>
          <p:cNvPr id="22" name="Shape 20"/>
          <p:cNvSpPr/>
          <p:nvPr/>
        </p:nvSpPr>
        <p:spPr>
          <a:xfrm>
            <a:off x="5669280" y="3429000"/>
            <a:ext cx="3063240" cy="1325880"/>
          </a:xfrm>
          <a:prstGeom prst="rect">
            <a:avLst/>
          </a:prstGeom>
          <a:solidFill>
            <a:srgbClr val="FDF3EF"/>
          </a:solidFill>
          <a:ln w="12700">
            <a:solidFill>
              <a:srgbClr val="DDE1E6"/>
            </a:solidFill>
            <a:prstDash val="solid"/>
          </a:ln>
        </p:spPr>
      </p:sp>
      <p:sp>
        <p:nvSpPr>
          <p:cNvPr id="23" name="Shape 21"/>
          <p:cNvSpPr/>
          <p:nvPr/>
        </p:nvSpPr>
        <p:spPr>
          <a:xfrm>
            <a:off x="5669280" y="3429000"/>
            <a:ext cx="64008" cy="1325880"/>
          </a:xfrm>
          <a:prstGeom prst="rect">
            <a:avLst/>
          </a:prstGeom>
          <a:solidFill>
            <a:srgbClr val="B23A2F"/>
          </a:solidFill>
          <a:ln/>
        </p:spPr>
      </p:sp>
      <p:sp>
        <p:nvSpPr>
          <p:cNvPr id="24" name="Text 22"/>
          <p:cNvSpPr/>
          <p:nvPr/>
        </p:nvSpPr>
        <p:spPr>
          <a:xfrm>
            <a:off x="5870448" y="349300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25" name="Text 23"/>
          <p:cNvSpPr/>
          <p:nvPr/>
        </p:nvSpPr>
        <p:spPr>
          <a:xfrm>
            <a:off x="5870448" y="3675888"/>
            <a:ext cx="2697480" cy="101498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“Pause() is sleep-until-signal.”  It waits for the NEXT signal after it's called. One that fired a microsecond earlier is simply lost.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9</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2.2 (B)</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The fix: wait with sigsuspend</a:t>
            </a:r>
            <a:endParaRPr lang="en-US" sz="2300" dirty="0"/>
          </a:p>
        </p:txBody>
      </p:sp>
      <p:sp>
        <p:nvSpPr>
          <p:cNvPr id="5" name="Text 3"/>
          <p:cNvSpPr/>
          <p:nvPr/>
        </p:nvSpPr>
        <p:spPr>
          <a:xfrm>
            <a:off x="457200" y="1097280"/>
            <a:ext cx="1828800" cy="219456"/>
          </a:xfrm>
          <a:prstGeom prst="rect">
            <a:avLst/>
          </a:prstGeom>
          <a:noFill/>
          <a:ln/>
        </p:spPr>
        <p:txBody>
          <a:bodyPr wrap="square" lIns="0" tIns="0" rIns="0" bIns="0" rtlCol="0" anchor="ctr"/>
          <a:lstStyle/>
          <a:p>
            <a:pPr marL="0" indent="0">
              <a:buNone/>
            </a:pPr>
            <a:r>
              <a:rPr lang="en-US" sz="1000" b="1" kern="0" spc="200" dirty="0">
                <a:solidFill>
                  <a:srgbClr val="B23A2F"/>
                </a:solidFill>
                <a:latin typeface="Trebuchet MS" pitchFamily="34" charset="0"/>
                <a:ea typeface="Trebuchet MS" pitchFamily="34" charset="-122"/>
                <a:cs typeface="Trebuchet MS" pitchFamily="34" charset="-120"/>
              </a:rPr>
              <a:t>BUGGY</a:t>
            </a:r>
            <a:endParaRPr lang="en-US" sz="1000" dirty="0"/>
          </a:p>
        </p:txBody>
      </p:sp>
      <p:sp>
        <p:nvSpPr>
          <p:cNvPr id="6" name="Shape 4"/>
          <p:cNvSpPr/>
          <p:nvPr/>
        </p:nvSpPr>
        <p:spPr>
          <a:xfrm>
            <a:off x="457200" y="1371600"/>
            <a:ext cx="4023360" cy="1325880"/>
          </a:xfrm>
          <a:prstGeom prst="roundRect">
            <a:avLst>
              <a:gd name="adj" fmla="val 3448"/>
            </a:avLst>
          </a:prstGeom>
          <a:solidFill>
            <a:srgbClr val="232830"/>
          </a:solidFill>
          <a:ln/>
        </p:spPr>
      </p:sp>
      <p:sp>
        <p:nvSpPr>
          <p:cNvPr id="7" name="Text 5"/>
          <p:cNvSpPr/>
          <p:nvPr/>
        </p:nvSpPr>
        <p:spPr>
          <a:xfrm>
            <a:off x="621792" y="1463040"/>
            <a:ext cx="3730752" cy="1143000"/>
          </a:xfrm>
          <a:prstGeom prst="rect">
            <a:avLst/>
          </a:prstGeom>
          <a:noFill/>
          <a:ln/>
        </p:spPr>
        <p:txBody>
          <a:bodyPr wrap="square" lIns="0" tIns="0" rIns="0" bIns="0" rtlCol="0" anchor="t"/>
          <a:lstStyle/>
          <a:p>
            <a:pPr marL="0" indent="0">
              <a:lnSpc>
                <a:spcPct val="112000"/>
              </a:lnSpc>
              <a:buNone/>
            </a:pPr>
            <a:r>
              <a:rPr lang="en-US" sz="1100" dirty="0">
                <a:solidFill>
                  <a:srgbClr val="D8DEE9"/>
                </a:solidFill>
                <a:latin typeface="Courier New" pitchFamily="34" charset="0"/>
                <a:ea typeface="Courier New" pitchFamily="34" charset="-122"/>
                <a:cs typeface="Courier New" pitchFamily="34" charset="-120"/>
              </a:rPr>
              <a:t>34  Sigprocmask(SIG_SETMASK,</a:t>
            </a:r>
            <a:endParaRPr lang="en-US" sz="1100" dirty="0"/>
          </a:p>
          <a:p>
            <a:pPr marL="0" indent="0">
              <a:lnSpc>
                <a:spcPct val="112000"/>
              </a:lnSpc>
              <a:buNone/>
            </a:pPr>
            <a:r>
              <a:rPr lang="en-US" sz="1100" dirty="0">
                <a:solidFill>
                  <a:srgbClr val="D8DEE9"/>
                </a:solidFill>
                <a:latin typeface="Courier New" pitchFamily="34" charset="0"/>
                <a:ea typeface="Courier New" pitchFamily="34" charset="-122"/>
                <a:cs typeface="Courier New" pitchFamily="34" charset="-120"/>
              </a:rPr>
              <a:t>               &amp;prev, NULL);</a:t>
            </a:r>
            <a:endParaRPr lang="en-US" sz="1100" dirty="0"/>
          </a:p>
          <a:p>
            <a:pPr marL="0" indent="0">
              <a:lnSpc>
                <a:spcPct val="112000"/>
              </a:lnSpc>
              <a:buNone/>
            </a:pPr>
            <a:r>
              <a:rPr lang="en-US" sz="1100" dirty="0">
                <a:solidFill>
                  <a:srgbClr val="B23A2F"/>
                </a:solidFill>
                <a:latin typeface="Courier New" pitchFamily="34" charset="0"/>
                <a:ea typeface="Courier New" pitchFamily="34" charset="-122"/>
                <a:cs typeface="Courier New" pitchFamily="34" charset="-120"/>
              </a:rPr>
              <a:t>    /* SIGCHLD now unblocked */</a:t>
            </a:r>
            <a:endParaRPr lang="en-US" sz="1100" dirty="0"/>
          </a:p>
          <a:p>
            <a:pPr marL="0" indent="0">
              <a:lnSpc>
                <a:spcPct val="112000"/>
              </a:lnSpc>
              <a:buNone/>
            </a:pPr>
            <a:r>
              <a:rPr lang="en-US" sz="1100" dirty="0">
                <a:solidFill>
                  <a:srgbClr val="D8DEE9"/>
                </a:solidFill>
                <a:latin typeface="Courier New" pitchFamily="34" charset="0"/>
                <a:ea typeface="Courier New" pitchFamily="34" charset="-122"/>
                <a:cs typeface="Courier New" pitchFamily="34" charset="-120"/>
              </a:rPr>
              <a:t>36  while (reaped &lt; 3)</a:t>
            </a:r>
            <a:endParaRPr lang="en-US" sz="1100" dirty="0"/>
          </a:p>
          <a:p>
            <a:pPr marL="0" indent="0">
              <a:lnSpc>
                <a:spcPct val="112000"/>
              </a:lnSpc>
              <a:buNone/>
            </a:pPr>
            <a:r>
              <a:rPr lang="en-US" sz="1100" dirty="0">
                <a:solidFill>
                  <a:srgbClr val="B23A2F"/>
                </a:solidFill>
                <a:latin typeface="Courier New" pitchFamily="34" charset="0"/>
                <a:ea typeface="Courier New" pitchFamily="34" charset="-122"/>
                <a:cs typeface="Courier New" pitchFamily="34" charset="-120"/>
              </a:rPr>
              <a:t>37      Pause();</a:t>
            </a:r>
            <a:endParaRPr lang="en-US" sz="1100" dirty="0"/>
          </a:p>
        </p:txBody>
      </p:sp>
      <p:sp>
        <p:nvSpPr>
          <p:cNvPr id="8" name="Text 6"/>
          <p:cNvSpPr/>
          <p:nvPr/>
        </p:nvSpPr>
        <p:spPr>
          <a:xfrm>
            <a:off x="4709160" y="1097280"/>
            <a:ext cx="1828800" cy="219456"/>
          </a:xfrm>
          <a:prstGeom prst="rect">
            <a:avLst/>
          </a:prstGeom>
          <a:noFill/>
          <a:ln/>
        </p:spPr>
        <p:txBody>
          <a:bodyPr wrap="square" lIns="0" tIns="0" rIns="0" bIns="0" rtlCol="0" anchor="ctr"/>
          <a:lstStyle/>
          <a:p>
            <a:pPr marL="0" indent="0">
              <a:buNone/>
            </a:pPr>
            <a:r>
              <a:rPr lang="en-US" sz="1000" b="1" kern="0" spc="200" dirty="0">
                <a:solidFill>
                  <a:srgbClr val="5E9E52"/>
                </a:solidFill>
                <a:latin typeface="Trebuchet MS" pitchFamily="34" charset="0"/>
                <a:ea typeface="Trebuchet MS" pitchFamily="34" charset="-122"/>
                <a:cs typeface="Trebuchet MS" pitchFamily="34" charset="-120"/>
              </a:rPr>
              <a:t>FIXED</a:t>
            </a:r>
            <a:endParaRPr lang="en-US" sz="1000" dirty="0"/>
          </a:p>
        </p:txBody>
      </p:sp>
      <p:sp>
        <p:nvSpPr>
          <p:cNvPr id="9" name="Shape 7"/>
          <p:cNvSpPr/>
          <p:nvPr/>
        </p:nvSpPr>
        <p:spPr>
          <a:xfrm>
            <a:off x="4709160" y="1371600"/>
            <a:ext cx="4023360" cy="1325880"/>
          </a:xfrm>
          <a:prstGeom prst="roundRect">
            <a:avLst>
              <a:gd name="adj" fmla="val 3448"/>
            </a:avLst>
          </a:prstGeom>
          <a:solidFill>
            <a:srgbClr val="232830"/>
          </a:solidFill>
          <a:ln/>
        </p:spPr>
      </p:sp>
      <p:sp>
        <p:nvSpPr>
          <p:cNvPr id="10" name="Text 8"/>
          <p:cNvSpPr/>
          <p:nvPr/>
        </p:nvSpPr>
        <p:spPr>
          <a:xfrm>
            <a:off x="4873752" y="1463040"/>
            <a:ext cx="3730752" cy="1143000"/>
          </a:xfrm>
          <a:prstGeom prst="rect">
            <a:avLst/>
          </a:prstGeom>
          <a:noFill/>
          <a:ln/>
        </p:spPr>
        <p:txBody>
          <a:bodyPr wrap="square" lIns="0" tIns="0" rIns="0" bIns="0" rtlCol="0" anchor="t"/>
          <a:lstStyle/>
          <a:p>
            <a:pPr marL="0" indent="0">
              <a:lnSpc>
                <a:spcPct val="112000"/>
              </a:lnSpc>
              <a:buNone/>
            </a:pPr>
            <a:r>
              <a:rPr lang="en-US" sz="1100" dirty="0">
                <a:solidFill>
                  <a:srgbClr val="A3D9A5"/>
                </a:solidFill>
                <a:latin typeface="Courier New" pitchFamily="34" charset="0"/>
                <a:ea typeface="Courier New" pitchFamily="34" charset="-122"/>
                <a:cs typeface="Courier New" pitchFamily="34" charset="-120"/>
              </a:rPr>
              <a:t>34  /* deleted: stay blocked */</a:t>
            </a:r>
            <a:endParaRPr lang="en-US" sz="1100" dirty="0"/>
          </a:p>
          <a:p>
            <a:pPr marL="0" indent="0">
              <a:lnSpc>
                <a:spcPct val="112000"/>
              </a:lnSpc>
              <a:buNone/>
            </a:pPr>
            <a:r>
              <a:rPr lang="en-US" sz="1100" dirty="0">
                <a:solidFill>
                  <a:srgbClr val="D8DEE9"/>
                </a:solidFill>
                <a:latin typeface="Courier New" pitchFamily="34" charset="0"/>
                <a:ea typeface="Courier New" pitchFamily="34" charset="-122"/>
                <a:cs typeface="Courier New" pitchFamily="34" charset="-120"/>
              </a:rPr>
              <a:t>36  while (reaped &lt; 3)</a:t>
            </a:r>
            <a:endParaRPr lang="en-US" sz="1100" dirty="0"/>
          </a:p>
          <a:p>
            <a:pPr marL="0" indent="0">
              <a:lnSpc>
                <a:spcPct val="112000"/>
              </a:lnSpc>
              <a:buNone/>
            </a:pPr>
            <a:r>
              <a:rPr lang="en-US" sz="1100" b="1" dirty="0">
                <a:solidFill>
                  <a:srgbClr val="A3D9A5"/>
                </a:solidFill>
                <a:latin typeface="Courier New" pitchFamily="34" charset="0"/>
                <a:ea typeface="Courier New" pitchFamily="34" charset="-122"/>
                <a:cs typeface="Courier New" pitchFamily="34" charset="-120"/>
              </a:rPr>
              <a:t>37      sigsuspend(&amp;prev);</a:t>
            </a:r>
            <a:endParaRPr lang="en-US" sz="1100" dirty="0"/>
          </a:p>
          <a:p>
            <a:pPr marL="0" indent="0">
              <a:lnSpc>
                <a:spcPct val="112000"/>
              </a:lnSpc>
              <a:buNone/>
            </a:pPr>
            <a:r>
              <a:rPr lang="en-US" sz="1100" dirty="0">
                <a:solidFill>
                  <a:srgbClr val="D8DEE9"/>
                </a:solidFill>
                <a:latin typeface="Courier New" pitchFamily="34" charset="0"/>
                <a:ea typeface="Courier New" pitchFamily="34" charset="-122"/>
                <a:cs typeface="Courier New" pitchFamily="34" charset="-120"/>
              </a:rPr>
              <a:t>38  Sigprocmask(SIG_SETMASK,</a:t>
            </a:r>
            <a:endParaRPr lang="en-US" sz="1100" dirty="0"/>
          </a:p>
          <a:p>
            <a:pPr marL="0" indent="0">
              <a:lnSpc>
                <a:spcPct val="112000"/>
              </a:lnSpc>
              <a:buNone/>
            </a:pPr>
            <a:r>
              <a:rPr lang="en-US" sz="1100" dirty="0">
                <a:solidFill>
                  <a:srgbClr val="D8DEE9"/>
                </a:solidFill>
                <a:latin typeface="Courier New" pitchFamily="34" charset="0"/>
                <a:ea typeface="Courier New" pitchFamily="34" charset="-122"/>
                <a:cs typeface="Courier New" pitchFamily="34" charset="-120"/>
              </a:rPr>
              <a:t>               &amp;prev, NULL);</a:t>
            </a:r>
            <a:endParaRPr lang="en-US" sz="1100" dirty="0"/>
          </a:p>
        </p:txBody>
      </p:sp>
      <p:sp>
        <p:nvSpPr>
          <p:cNvPr id="11" name="Text 9"/>
          <p:cNvSpPr/>
          <p:nvPr/>
        </p:nvSpPr>
        <p:spPr>
          <a:xfrm>
            <a:off x="457200" y="3017520"/>
            <a:ext cx="8229600" cy="1737360"/>
          </a:xfrm>
          <a:prstGeom prst="rect">
            <a:avLst/>
          </a:prstGeom>
          <a:noFill/>
          <a:ln/>
        </p:spPr>
        <p:txBody>
          <a:bodyPr wrap="square" lIns="0" tIns="0" rIns="0" bIns="0" rtlCol="0" anchor="t"/>
          <a:lstStyle/>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Delete the unblock on line 34 — SIGCHLD stays blocked across every test of reaped, so the handler cannot fire between test and wait.</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sigsuspend(&amp;prev) = unblock + sleep + re-block, as one atomic step. No extra local variable needed.</a:t>
            </a:r>
            <a:endParaRPr lang="en-US" sz="1200" dirty="0"/>
          </a:p>
          <a:p>
            <a:pPr marL="152400" indent="-1524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Grading note: full credit if sigsuspend(&amp;prev) is in the loop and SIGCHLD is blocked between iterations; restoring the mask afterward (line 38) is good practice but optional here.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10</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2.2 (C)</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Why sigsuspend closes the race</a:t>
            </a:r>
            <a:endParaRPr lang="en-US" sz="2300" dirty="0"/>
          </a:p>
        </p:txBody>
      </p:sp>
      <p:sp>
        <p:nvSpPr>
          <p:cNvPr id="5" name="Shape 3"/>
          <p:cNvSpPr/>
          <p:nvPr/>
        </p:nvSpPr>
        <p:spPr>
          <a:xfrm>
            <a:off x="457200" y="1920240"/>
            <a:ext cx="1920240" cy="548640"/>
          </a:xfrm>
          <a:prstGeom prst="rect">
            <a:avLst/>
          </a:prstGeom>
          <a:solidFill>
            <a:srgbClr val="31435C"/>
          </a:solidFill>
          <a:ln w="19050">
            <a:solidFill>
              <a:srgbClr val="FFFFFF"/>
            </a:solidFill>
            <a:prstDash val="solid"/>
          </a:ln>
        </p:spPr>
      </p:sp>
      <p:sp>
        <p:nvSpPr>
          <p:cNvPr id="6" name="Text 4"/>
          <p:cNvSpPr/>
          <p:nvPr/>
        </p:nvSpPr>
        <p:spPr>
          <a:xfrm>
            <a:off x="457200" y="1920240"/>
            <a:ext cx="1920240" cy="548640"/>
          </a:xfrm>
          <a:prstGeom prst="rect">
            <a:avLst/>
          </a:prstGeom>
          <a:noFill/>
          <a:ln/>
        </p:spPr>
        <p:txBody>
          <a:bodyPr wrap="square" lIns="381" tIns="381" rIns="381" bIns="381"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BLOCKED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test reaped &lt; 3</a:t>
            </a:r>
            <a:endParaRPr lang="en-US" sz="1050" dirty="0"/>
          </a:p>
        </p:txBody>
      </p:sp>
      <p:sp>
        <p:nvSpPr>
          <p:cNvPr id="7" name="Shape 5"/>
          <p:cNvSpPr/>
          <p:nvPr/>
        </p:nvSpPr>
        <p:spPr>
          <a:xfrm>
            <a:off x="2377440" y="1920240"/>
            <a:ext cx="3200400" cy="548640"/>
          </a:xfrm>
          <a:prstGeom prst="rect">
            <a:avLst/>
          </a:prstGeom>
          <a:solidFill>
            <a:srgbClr val="E2F1F0"/>
          </a:solidFill>
          <a:ln w="19050">
            <a:solidFill>
              <a:srgbClr val="FFFFFF"/>
            </a:solidFill>
            <a:prstDash val="solid"/>
          </a:ln>
        </p:spPr>
      </p:sp>
      <p:sp>
        <p:nvSpPr>
          <p:cNvPr id="8" name="Text 6"/>
          <p:cNvSpPr/>
          <p:nvPr/>
        </p:nvSpPr>
        <p:spPr>
          <a:xfrm>
            <a:off x="2377440" y="1920240"/>
            <a:ext cx="3200400" cy="548640"/>
          </a:xfrm>
          <a:prstGeom prst="rect">
            <a:avLst/>
          </a:prstGeom>
          <a:noFill/>
          <a:ln/>
        </p:spPr>
        <p:txBody>
          <a:bodyPr wrap="square" lIns="381" tIns="381" rIns="381" bIns="381" rtlCol="0" anchor="ctr"/>
          <a:lstStyle/>
          <a:p>
            <a:pPr marL="0" indent="0" algn="ctr">
              <a:buNone/>
            </a:pPr>
            <a:r>
              <a:rPr lang="en-US" sz="1050" b="1" dirty="0">
                <a:solidFill>
                  <a:srgbClr val="0A6363"/>
                </a:solidFill>
                <a:latin typeface="Calibri" pitchFamily="34" charset="0"/>
                <a:ea typeface="Calibri" pitchFamily="34" charset="-122"/>
                <a:cs typeface="Calibri" pitchFamily="34" charset="-120"/>
              </a:rPr>
              <a:t>UNBLOCKED — asleep inside sigsuspend</a:t>
            </a:r>
            <a:endParaRPr lang="en-US" sz="1050" dirty="0"/>
          </a:p>
          <a:p>
            <a:pPr marL="0" indent="0" algn="ctr">
              <a:buNone/>
            </a:pPr>
            <a:r>
              <a:rPr lang="en-US" sz="1050" b="1" dirty="0">
                <a:solidFill>
                  <a:srgbClr val="0A6363"/>
                </a:solidFill>
                <a:latin typeface="Calibri" pitchFamily="34" charset="0"/>
                <a:ea typeface="Calibri" pitchFamily="34" charset="-122"/>
                <a:cs typeface="Calibri" pitchFamily="34" charset="-120"/>
              </a:rPr>
              <a:t>signal delivered here → handler runs</a:t>
            </a:r>
            <a:endParaRPr lang="en-US" sz="1050" dirty="0"/>
          </a:p>
        </p:txBody>
      </p:sp>
      <p:sp>
        <p:nvSpPr>
          <p:cNvPr id="9" name="Shape 7"/>
          <p:cNvSpPr/>
          <p:nvPr/>
        </p:nvSpPr>
        <p:spPr>
          <a:xfrm>
            <a:off x="5577840" y="1920240"/>
            <a:ext cx="1828800" cy="548640"/>
          </a:xfrm>
          <a:prstGeom prst="rect">
            <a:avLst/>
          </a:prstGeom>
          <a:solidFill>
            <a:srgbClr val="31435C"/>
          </a:solidFill>
          <a:ln w="19050">
            <a:solidFill>
              <a:srgbClr val="FFFFFF"/>
            </a:solidFill>
            <a:prstDash val="solid"/>
          </a:ln>
        </p:spPr>
      </p:sp>
      <p:sp>
        <p:nvSpPr>
          <p:cNvPr id="10" name="Text 8"/>
          <p:cNvSpPr/>
          <p:nvPr/>
        </p:nvSpPr>
        <p:spPr>
          <a:xfrm>
            <a:off x="5577840" y="1920240"/>
            <a:ext cx="1828800" cy="548640"/>
          </a:xfrm>
          <a:prstGeom prst="rect">
            <a:avLst/>
          </a:prstGeom>
          <a:noFill/>
          <a:ln/>
        </p:spPr>
        <p:txBody>
          <a:bodyPr wrap="square" lIns="381" tIns="381" rIns="381" bIns="381"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BLOCKED again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before sigsuspend returns</a:t>
            </a:r>
            <a:endParaRPr lang="en-US" sz="1050" dirty="0"/>
          </a:p>
        </p:txBody>
      </p:sp>
      <p:sp>
        <p:nvSpPr>
          <p:cNvPr id="11" name="Shape 9"/>
          <p:cNvSpPr/>
          <p:nvPr/>
        </p:nvSpPr>
        <p:spPr>
          <a:xfrm>
            <a:off x="7406640" y="1920240"/>
            <a:ext cx="1325880" cy="548640"/>
          </a:xfrm>
          <a:prstGeom prst="rect">
            <a:avLst/>
          </a:prstGeom>
          <a:solidFill>
            <a:srgbClr val="31435C"/>
          </a:solidFill>
          <a:ln w="19050">
            <a:solidFill>
              <a:srgbClr val="FFFFFF"/>
            </a:solidFill>
            <a:prstDash val="solid"/>
          </a:ln>
        </p:spPr>
      </p:sp>
      <p:sp>
        <p:nvSpPr>
          <p:cNvPr id="12" name="Text 10"/>
          <p:cNvSpPr/>
          <p:nvPr/>
        </p:nvSpPr>
        <p:spPr>
          <a:xfrm>
            <a:off x="7406640" y="1920240"/>
            <a:ext cx="1325880" cy="548640"/>
          </a:xfrm>
          <a:prstGeom prst="rect">
            <a:avLst/>
          </a:prstGeom>
          <a:noFill/>
          <a:ln/>
        </p:spPr>
        <p:txBody>
          <a:bodyPr wrap="square" lIns="381" tIns="381" rIns="381" bIns="381"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loop:</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re-test</a:t>
            </a:r>
            <a:endParaRPr lang="en-US" sz="1050" dirty="0"/>
          </a:p>
        </p:txBody>
      </p:sp>
      <p:sp>
        <p:nvSpPr>
          <p:cNvPr id="13" name="Shape 11"/>
          <p:cNvSpPr/>
          <p:nvPr/>
        </p:nvSpPr>
        <p:spPr>
          <a:xfrm>
            <a:off x="2377440" y="1920240"/>
            <a:ext cx="3200400" cy="548640"/>
          </a:xfrm>
          <a:prstGeom prst="rect">
            <a:avLst/>
          </a:prstGeom>
          <a:ln w="34925">
            <a:solidFill>
              <a:srgbClr val="0E8A8A"/>
            </a:solidFill>
            <a:prstDash val="solid"/>
          </a:ln>
        </p:spPr>
      </p:sp>
      <p:sp>
        <p:nvSpPr>
          <p:cNvPr id="14" name="Text 12"/>
          <p:cNvSpPr/>
          <p:nvPr/>
        </p:nvSpPr>
        <p:spPr>
          <a:xfrm>
            <a:off x="2377440" y="1536192"/>
            <a:ext cx="3200400" cy="237744"/>
          </a:xfrm>
          <a:prstGeom prst="rect">
            <a:avLst/>
          </a:prstGeom>
          <a:noFill/>
          <a:ln/>
        </p:spPr>
        <p:txBody>
          <a:bodyPr wrap="square" lIns="0" tIns="0" rIns="0" bIns="0" rtlCol="0" anchor="ctr"/>
          <a:lstStyle/>
          <a:p>
            <a:pPr marL="0" indent="0" algn="ctr">
              <a:buNone/>
            </a:pPr>
            <a:r>
              <a:rPr lang="en-US" sz="950" b="1" kern="0" spc="50" dirty="0">
                <a:solidFill>
                  <a:srgbClr val="0A6363"/>
                </a:solidFill>
                <a:latin typeface="Trebuchet MS" pitchFamily="34" charset="0"/>
                <a:ea typeface="Trebuchet MS" pitchFamily="34" charset="-122"/>
                <a:cs typeface="Trebuchet MS" pitchFamily="34" charset="-120"/>
              </a:rPr>
              <a:t>ATOMIC — swap + sleep happen as one step w.r.t. signal delivery</a:t>
            </a:r>
            <a:endParaRPr lang="en-US" sz="950" dirty="0"/>
          </a:p>
        </p:txBody>
      </p:sp>
      <p:sp>
        <p:nvSpPr>
          <p:cNvPr id="15" name="Text 13"/>
          <p:cNvSpPr/>
          <p:nvPr/>
        </p:nvSpPr>
        <p:spPr>
          <a:xfrm>
            <a:off x="457200" y="1234440"/>
            <a:ext cx="3657600" cy="22860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process mask over time →</a:t>
            </a:r>
            <a:endParaRPr lang="en-US" sz="1050" dirty="0"/>
          </a:p>
        </p:txBody>
      </p:sp>
      <p:sp>
        <p:nvSpPr>
          <p:cNvPr id="16" name="Shape 14"/>
          <p:cNvSpPr/>
          <p:nvPr/>
        </p:nvSpPr>
        <p:spPr>
          <a:xfrm>
            <a:off x="457200" y="3063240"/>
            <a:ext cx="8275320" cy="1600200"/>
          </a:xfrm>
          <a:prstGeom prst="rect">
            <a:avLst/>
          </a:prstGeom>
          <a:solidFill>
            <a:srgbClr val="FFFFFF"/>
          </a:solidFill>
          <a:ln w="12700">
            <a:solidFill>
              <a:srgbClr val="DDE1E6"/>
            </a:solidFill>
            <a:prstDash val="solid"/>
          </a:ln>
        </p:spPr>
      </p:sp>
      <p:sp>
        <p:nvSpPr>
          <p:cNvPr id="17" name="Shape 15"/>
          <p:cNvSpPr/>
          <p:nvPr/>
        </p:nvSpPr>
        <p:spPr>
          <a:xfrm>
            <a:off x="457200" y="3063240"/>
            <a:ext cx="64008" cy="1600200"/>
          </a:xfrm>
          <a:prstGeom prst="rect">
            <a:avLst/>
          </a:prstGeom>
          <a:solidFill>
            <a:srgbClr val="0E8A8A"/>
          </a:solidFill>
          <a:ln/>
        </p:spPr>
      </p:sp>
      <p:sp>
        <p:nvSpPr>
          <p:cNvPr id="18" name="Text 16"/>
          <p:cNvSpPr/>
          <p:nvPr/>
        </p:nvSpPr>
        <p:spPr>
          <a:xfrm>
            <a:off x="658368" y="3127248"/>
            <a:ext cx="1280160" cy="182880"/>
          </a:xfrm>
          <a:prstGeom prst="rect">
            <a:avLst/>
          </a:prstGeom>
          <a:noFill/>
          <a:ln/>
        </p:spPr>
        <p:txBody>
          <a:bodyPr wrap="square" lIns="0" tIns="0" rIns="0" bIns="0" rtlCol="0" anchor="ctr"/>
          <a:lstStyle/>
          <a:p>
            <a:pPr marL="0" indent="0">
              <a:buNone/>
            </a:pPr>
            <a:r>
              <a:rPr lang="en-US" sz="850" b="1" kern="0" spc="200" dirty="0">
                <a:solidFill>
                  <a:srgbClr val="0E8A8A"/>
                </a:solidFill>
                <a:latin typeface="Trebuchet MS" pitchFamily="34" charset="0"/>
                <a:ea typeface="Trebuchet MS" pitchFamily="34" charset="-122"/>
                <a:cs typeface="Trebuchet MS" pitchFamily="34" charset="-120"/>
              </a:rPr>
              <a:t>ANSWER</a:t>
            </a:r>
            <a:endParaRPr lang="en-US" sz="850" dirty="0"/>
          </a:p>
        </p:txBody>
      </p:sp>
      <p:sp>
        <p:nvSpPr>
          <p:cNvPr id="19" name="Text 17"/>
          <p:cNvSpPr/>
          <p:nvPr/>
        </p:nvSpPr>
        <p:spPr>
          <a:xfrm>
            <a:off x="658368" y="3310128"/>
            <a:ext cx="7909560" cy="1289304"/>
          </a:xfrm>
          <a:prstGeom prst="rect">
            <a:avLst/>
          </a:prstGeom>
          <a:noFill/>
          <a:ln/>
        </p:spPr>
        <p:txBody>
          <a:bodyPr wrap="square" lIns="0" tIns="0" rIns="0" bIns="0" rtlCol="0" anchor="t"/>
          <a:lstStyle/>
          <a:p>
            <a:pPr marL="0" indent="0">
              <a:spcAft>
                <a:spcPts val="400"/>
              </a:spcAft>
              <a:buNone/>
            </a:pPr>
            <a:r>
              <a:rPr lang="en-US" sz="1200" b="1" dirty="0">
                <a:solidFill>
                  <a:srgbClr val="1F2937"/>
                </a:solidFill>
                <a:latin typeface="Calibri" pitchFamily="34" charset="0"/>
                <a:ea typeface="Calibri" pitchFamily="34" charset="-122"/>
                <a:cs typeface="Calibri" pitchFamily="34" charset="-120"/>
              </a:rPr>
              <a:t>sigsuspend(&amp;prev) atomically:  </a:t>
            </a:r>
            <a:endParaRPr lang="en-US" sz="1200" dirty="0"/>
          </a:p>
          <a:p>
            <a:pPr marL="0" indent="0">
              <a:spcAft>
                <a:spcPts val="600"/>
              </a:spcAft>
              <a:buNone/>
            </a:pPr>
            <a:r>
              <a:rPr lang="en-US" sz="1200" dirty="0">
                <a:solidFill>
                  <a:srgbClr val="1F2937"/>
                </a:solidFill>
                <a:latin typeface="Calibri" pitchFamily="34" charset="0"/>
                <a:ea typeface="Calibri" pitchFamily="34" charset="-122"/>
                <a:cs typeface="Calibri" pitchFamily="34" charset="-120"/>
              </a:rPr>
              <a:t>(i) swaps the mask to prev (SIGCHLD unblocked),  (ii) sleeps until a signal is delivered,  (iii) restores the blocking mask before returning.</a:t>
            </a:r>
            <a:endParaRPr lang="en-US" sz="1200" dirty="0"/>
          </a:p>
          <a:p>
            <a:pPr marL="0" indent="0">
              <a:buNone/>
            </a:pPr>
            <a:r>
              <a:rPr lang="en-US" sz="1200" b="1" dirty="0">
                <a:solidFill>
                  <a:srgbClr val="1F2937"/>
                </a:solidFill>
                <a:latin typeface="Calibri" pitchFamily="34" charset="0"/>
                <a:ea typeface="Calibri" pitchFamily="34" charset="-122"/>
                <a:cs typeface="Calibri" pitchFamily="34" charset="-120"/>
              </a:rPr>
              <a:t>A SIGCHLD that fires between loop iterations is held pending — it cannot be delivered and lost. The test and the wait are no longer separated by an unsafe window.</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11</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2.2 (D)</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Why polling with usleep(100) is strictly worse</a:t>
            </a:r>
            <a:endParaRPr lang="en-US" sz="2300" dirty="0"/>
          </a:p>
        </p:txBody>
      </p:sp>
      <p:sp>
        <p:nvSpPr>
          <p:cNvPr id="5" name="Shape 3"/>
          <p:cNvSpPr/>
          <p:nvPr/>
        </p:nvSpPr>
        <p:spPr>
          <a:xfrm>
            <a:off x="457200" y="1143000"/>
            <a:ext cx="3657600" cy="685800"/>
          </a:xfrm>
          <a:prstGeom prst="roundRect">
            <a:avLst>
              <a:gd name="adj" fmla="val 6667"/>
            </a:avLst>
          </a:prstGeom>
          <a:solidFill>
            <a:srgbClr val="232830"/>
          </a:solidFill>
          <a:ln/>
        </p:spPr>
      </p:sp>
      <p:sp>
        <p:nvSpPr>
          <p:cNvPr id="6" name="Text 4"/>
          <p:cNvSpPr/>
          <p:nvPr/>
        </p:nvSpPr>
        <p:spPr>
          <a:xfrm>
            <a:off x="621792" y="1234440"/>
            <a:ext cx="3364992" cy="502920"/>
          </a:xfrm>
          <a:prstGeom prst="rect">
            <a:avLst/>
          </a:prstGeom>
          <a:noFill/>
          <a:ln/>
        </p:spPr>
        <p:txBody>
          <a:bodyPr wrap="square" lIns="0" tIns="0" rIns="0" bIns="0" rtlCol="0" anchor="t"/>
          <a:lstStyle/>
          <a:p>
            <a:pPr marL="0" indent="0">
              <a:lnSpc>
                <a:spcPct val="112000"/>
              </a:lnSpc>
              <a:buNone/>
            </a:pPr>
            <a:r>
              <a:rPr lang="en-US" sz="1100" dirty="0">
                <a:solidFill>
                  <a:srgbClr val="D8DEE9"/>
                </a:solidFill>
                <a:latin typeface="Courier New" pitchFamily="34" charset="0"/>
                <a:ea typeface="Courier New" pitchFamily="34" charset="-122"/>
                <a:cs typeface="Courier New" pitchFamily="34" charset="-120"/>
              </a:rPr>
              <a:t>while (reaped != 3)</a:t>
            </a:r>
            <a:endParaRPr lang="en-US" sz="1100" dirty="0"/>
          </a:p>
          <a:p>
            <a:pPr marL="0" indent="0">
              <a:lnSpc>
                <a:spcPct val="112000"/>
              </a:lnSpc>
              <a:buNone/>
            </a:pPr>
            <a:r>
              <a:rPr lang="en-US" sz="1100" dirty="0">
                <a:solidFill>
                  <a:srgbClr val="E9C46A"/>
                </a:solidFill>
                <a:latin typeface="Courier New" pitchFamily="34" charset="0"/>
                <a:ea typeface="Courier New" pitchFamily="34" charset="-122"/>
                <a:cs typeface="Courier New" pitchFamily="34" charset="-120"/>
              </a:rPr>
              <a:t>    usleep(100);   /* poll */</a:t>
            </a:r>
            <a:endParaRPr lang="en-US" sz="1100" dirty="0"/>
          </a:p>
        </p:txBody>
      </p:sp>
      <p:sp>
        <p:nvSpPr>
          <p:cNvPr id="7" name="Shape 5"/>
          <p:cNvSpPr/>
          <p:nvPr/>
        </p:nvSpPr>
        <p:spPr>
          <a:xfrm>
            <a:off x="457200" y="2148840"/>
            <a:ext cx="4023360" cy="2286000"/>
          </a:xfrm>
          <a:prstGeom prst="rect">
            <a:avLst/>
          </a:prstGeom>
          <a:solidFill>
            <a:srgbClr val="FFFFFF"/>
          </a:solidFill>
          <a:ln w="12700">
            <a:solidFill>
              <a:srgbClr val="DDE1E6"/>
            </a:solidFill>
            <a:prstDash val="solid"/>
          </a:ln>
        </p:spPr>
      </p:sp>
      <p:sp>
        <p:nvSpPr>
          <p:cNvPr id="8" name="Shape 6"/>
          <p:cNvSpPr/>
          <p:nvPr/>
        </p:nvSpPr>
        <p:spPr>
          <a:xfrm>
            <a:off x="457200" y="2148840"/>
            <a:ext cx="64008" cy="2286000"/>
          </a:xfrm>
          <a:prstGeom prst="rect">
            <a:avLst/>
          </a:prstGeom>
          <a:solidFill>
            <a:srgbClr val="B23A2F"/>
          </a:solidFill>
          <a:ln/>
        </p:spPr>
      </p:sp>
      <p:sp>
        <p:nvSpPr>
          <p:cNvPr id="9" name="Text 7"/>
          <p:cNvSpPr/>
          <p:nvPr/>
        </p:nvSpPr>
        <p:spPr>
          <a:xfrm>
            <a:off x="713232" y="2331720"/>
            <a:ext cx="3474720" cy="228600"/>
          </a:xfrm>
          <a:prstGeom prst="rect">
            <a:avLst/>
          </a:prstGeom>
          <a:noFill/>
          <a:ln/>
        </p:spPr>
        <p:txBody>
          <a:bodyPr wrap="square" lIns="0" tIns="0" rIns="0" bIns="0" rtlCol="0" anchor="ctr"/>
          <a:lstStyle/>
          <a:p>
            <a:pPr marL="0" indent="0">
              <a:buNone/>
            </a:pPr>
            <a:r>
              <a:rPr lang="en-US" sz="1100" b="1" kern="0" spc="100" dirty="0">
                <a:solidFill>
                  <a:srgbClr val="B23A2F"/>
                </a:solidFill>
                <a:latin typeface="Trebuchet MS" pitchFamily="34" charset="0"/>
                <a:ea typeface="Trebuchet MS" pitchFamily="34" charset="-122"/>
                <a:cs typeface="Trebuchet MS" pitchFamily="34" charset="-120"/>
              </a:rPr>
              <a:t>1 · BURNS CPU</a:t>
            </a:r>
            <a:endParaRPr lang="en-US" sz="1100" dirty="0"/>
          </a:p>
        </p:txBody>
      </p:sp>
      <p:sp>
        <p:nvSpPr>
          <p:cNvPr id="10" name="Text 8"/>
          <p:cNvSpPr/>
          <p:nvPr/>
        </p:nvSpPr>
        <p:spPr>
          <a:xfrm>
            <a:off x="713232" y="2633472"/>
            <a:ext cx="3520440" cy="16916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The parent wakes every 100 µs to re-check, whether or not anything happened — thousands of pointless wakeups per second. sigsuspend sleeps until the event, spending zero CPU waiting.</a:t>
            </a:r>
            <a:endParaRPr lang="en-US" sz="1200" dirty="0"/>
          </a:p>
        </p:txBody>
      </p:sp>
      <p:sp>
        <p:nvSpPr>
          <p:cNvPr id="11" name="Shape 9"/>
          <p:cNvSpPr/>
          <p:nvPr/>
        </p:nvSpPr>
        <p:spPr>
          <a:xfrm>
            <a:off x="4709160" y="2148840"/>
            <a:ext cx="4023360" cy="2286000"/>
          </a:xfrm>
          <a:prstGeom prst="rect">
            <a:avLst/>
          </a:prstGeom>
          <a:solidFill>
            <a:srgbClr val="FFFFFF"/>
          </a:solidFill>
          <a:ln w="12700">
            <a:solidFill>
              <a:srgbClr val="DDE1E6"/>
            </a:solidFill>
            <a:prstDash val="solid"/>
          </a:ln>
        </p:spPr>
      </p:sp>
      <p:sp>
        <p:nvSpPr>
          <p:cNvPr id="12" name="Shape 10"/>
          <p:cNvSpPr/>
          <p:nvPr/>
        </p:nvSpPr>
        <p:spPr>
          <a:xfrm>
            <a:off x="4709160" y="2148840"/>
            <a:ext cx="64008" cy="2286000"/>
          </a:xfrm>
          <a:prstGeom prst="rect">
            <a:avLst/>
          </a:prstGeom>
          <a:solidFill>
            <a:srgbClr val="B23A2F"/>
          </a:solidFill>
          <a:ln/>
        </p:spPr>
      </p:sp>
      <p:sp>
        <p:nvSpPr>
          <p:cNvPr id="13" name="Text 11"/>
          <p:cNvSpPr/>
          <p:nvPr/>
        </p:nvSpPr>
        <p:spPr>
          <a:xfrm>
            <a:off x="4965192" y="2331720"/>
            <a:ext cx="3474720" cy="228600"/>
          </a:xfrm>
          <a:prstGeom prst="rect">
            <a:avLst/>
          </a:prstGeom>
          <a:noFill/>
          <a:ln/>
        </p:spPr>
        <p:txBody>
          <a:bodyPr wrap="square" lIns="0" tIns="0" rIns="0" bIns="0" rtlCol="0" anchor="ctr"/>
          <a:lstStyle/>
          <a:p>
            <a:pPr marL="0" indent="0">
              <a:buNone/>
            </a:pPr>
            <a:r>
              <a:rPr lang="en-US" sz="1100" b="1" kern="0" spc="100" dirty="0">
                <a:solidFill>
                  <a:srgbClr val="B23A2F"/>
                </a:solidFill>
                <a:latin typeface="Trebuchet MS" pitchFamily="34" charset="0"/>
                <a:ea typeface="Trebuchet MS" pitchFamily="34" charset="-122"/>
                <a:cs typeface="Trebuchet MS" pitchFamily="34" charset="-120"/>
              </a:rPr>
              <a:t>2 · ADDS LATENCY</a:t>
            </a:r>
            <a:endParaRPr lang="en-US" sz="1100" dirty="0"/>
          </a:p>
        </p:txBody>
      </p:sp>
      <p:sp>
        <p:nvSpPr>
          <p:cNvPr id="14" name="Text 12"/>
          <p:cNvSpPr/>
          <p:nvPr/>
        </p:nvSpPr>
        <p:spPr>
          <a:xfrm>
            <a:off x="4965192" y="2633472"/>
            <a:ext cx="3520440" cy="16916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Even when the handler runs mid-sleep, the parent doesn't notice until the 100 µs timer expires — bounded but nonzero delay on every child exit. sigsuspend returns the instant the handler finishes.</a:t>
            </a:r>
            <a:endParaRPr lang="en-US" sz="1200" dirty="0"/>
          </a:p>
        </p:txBody>
      </p:sp>
      <p:sp>
        <p:nvSpPr>
          <p:cNvPr id="15" name="Text 13"/>
          <p:cNvSpPr/>
          <p:nvPr/>
        </p:nvSpPr>
        <p:spPr>
          <a:xfrm>
            <a:off x="457200" y="4572000"/>
            <a:ext cx="5486400" cy="27432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Either objection alone earns full credit.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12</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2.3 (A)</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Grade the handler against G0 / G1 / G2</a:t>
            </a:r>
            <a:endParaRPr lang="en-US" sz="2300" dirty="0"/>
          </a:p>
        </p:txBody>
      </p:sp>
      <p:sp>
        <p:nvSpPr>
          <p:cNvPr id="5" name="Shape 3"/>
          <p:cNvSpPr/>
          <p:nvPr/>
        </p:nvSpPr>
        <p:spPr>
          <a:xfrm>
            <a:off x="457200" y="1143000"/>
            <a:ext cx="2743200" cy="3017520"/>
          </a:xfrm>
          <a:prstGeom prst="rect">
            <a:avLst/>
          </a:prstGeom>
          <a:solidFill>
            <a:srgbClr val="FFFFFF"/>
          </a:solidFill>
          <a:ln w="12700">
            <a:solidFill>
              <a:srgbClr val="DDE1E6"/>
            </a:solidFill>
            <a:prstDash val="solid"/>
          </a:ln>
        </p:spPr>
      </p:sp>
      <p:sp>
        <p:nvSpPr>
          <p:cNvPr id="6" name="Shape 4"/>
          <p:cNvSpPr/>
          <p:nvPr/>
        </p:nvSpPr>
        <p:spPr>
          <a:xfrm>
            <a:off x="457200" y="1143000"/>
            <a:ext cx="64008" cy="3017520"/>
          </a:xfrm>
          <a:prstGeom prst="rect">
            <a:avLst/>
          </a:prstGeom>
          <a:solidFill>
            <a:srgbClr val="B23A2F"/>
          </a:solidFill>
          <a:ln/>
        </p:spPr>
      </p:sp>
      <p:sp>
        <p:nvSpPr>
          <p:cNvPr id="7" name="Text 5"/>
          <p:cNvSpPr/>
          <p:nvPr/>
        </p:nvSpPr>
        <p:spPr>
          <a:xfrm>
            <a:off x="658368" y="1325880"/>
            <a:ext cx="1097280" cy="320040"/>
          </a:xfrm>
          <a:prstGeom prst="rect">
            <a:avLst/>
          </a:prstGeom>
          <a:noFill/>
          <a:ln/>
        </p:spPr>
        <p:txBody>
          <a:bodyPr wrap="square" lIns="0" tIns="0" rIns="0" bIns="0" rtlCol="0" anchor="ctr"/>
          <a:lstStyle/>
          <a:p>
            <a:pPr marL="0" indent="0">
              <a:buNone/>
            </a:pPr>
            <a:r>
              <a:rPr lang="en-US" sz="1800" b="1" dirty="0">
                <a:solidFill>
                  <a:srgbClr val="B23A2F"/>
                </a:solidFill>
                <a:latin typeface="Trebuchet MS" pitchFamily="34" charset="0"/>
                <a:ea typeface="Trebuchet MS" pitchFamily="34" charset="-122"/>
                <a:cs typeface="Trebuchet MS" pitchFamily="34" charset="-120"/>
              </a:rPr>
              <a:t>G1</a:t>
            </a:r>
            <a:endParaRPr lang="en-US" sz="1800" dirty="0"/>
          </a:p>
        </p:txBody>
      </p:sp>
      <p:sp>
        <p:nvSpPr>
          <p:cNvPr id="8" name="Text 6"/>
          <p:cNvSpPr/>
          <p:nvPr/>
        </p:nvSpPr>
        <p:spPr>
          <a:xfrm>
            <a:off x="658368" y="1664208"/>
            <a:ext cx="2340864" cy="201168"/>
          </a:xfrm>
          <a:prstGeom prst="rect">
            <a:avLst/>
          </a:prstGeom>
          <a:noFill/>
          <a:ln/>
        </p:spPr>
        <p:txBody>
          <a:bodyPr wrap="square" lIns="0" tIns="0" rIns="0" bIns="0" rtlCol="0" anchor="ctr"/>
          <a:lstStyle/>
          <a:p>
            <a:pPr marL="0" indent="0">
              <a:buNone/>
            </a:pPr>
            <a:r>
              <a:rPr lang="en-US" sz="900" b="1" kern="0" spc="150" dirty="0">
                <a:solidFill>
                  <a:srgbClr val="B23A2F"/>
                </a:solidFill>
                <a:latin typeface="Trebuchet MS" pitchFamily="34" charset="0"/>
                <a:ea typeface="Trebuchet MS" pitchFamily="34" charset="-122"/>
                <a:cs typeface="Trebuchet MS" pitchFamily="34" charset="-120"/>
              </a:rPr>
              <a:t>VIOLATED · LINE 8</a:t>
            </a:r>
            <a:endParaRPr lang="en-US" sz="900" dirty="0"/>
          </a:p>
        </p:txBody>
      </p:sp>
      <p:sp>
        <p:nvSpPr>
          <p:cNvPr id="9" name="Text 7"/>
          <p:cNvSpPr/>
          <p:nvPr/>
        </p:nvSpPr>
        <p:spPr>
          <a:xfrm>
            <a:off x="658368" y="1938528"/>
            <a:ext cx="2340864" cy="457200"/>
          </a:xfrm>
          <a:prstGeom prst="rect">
            <a:avLst/>
          </a:prstGeom>
          <a:noFill/>
          <a:ln/>
        </p:spPr>
        <p:txBody>
          <a:bodyPr wrap="square" lIns="0" tIns="0" rIns="0" bIns="0"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printf is not async-signal-safe</a:t>
            </a:r>
            <a:endParaRPr lang="en-US" sz="1200" dirty="0"/>
          </a:p>
        </p:txBody>
      </p:sp>
      <p:sp>
        <p:nvSpPr>
          <p:cNvPr id="10" name="Text 8"/>
          <p:cNvSpPr/>
          <p:nvPr/>
        </p:nvSpPr>
        <p:spPr>
          <a:xfrm>
            <a:off x="658368" y="2432304"/>
            <a:ext cx="2340864" cy="16459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It takes the stdio lock and writes a user-space buffer. If main is mid-printf (line 33/39) when SIGCHLD fires, the handler deadlocks on the lock or corrupts the buffer.</a:t>
            </a:r>
            <a:endParaRPr lang="en-US" sz="1050" dirty="0"/>
          </a:p>
        </p:txBody>
      </p:sp>
      <p:sp>
        <p:nvSpPr>
          <p:cNvPr id="11" name="Shape 9"/>
          <p:cNvSpPr/>
          <p:nvPr/>
        </p:nvSpPr>
        <p:spPr>
          <a:xfrm>
            <a:off x="3383280" y="1143000"/>
            <a:ext cx="2743200" cy="3017520"/>
          </a:xfrm>
          <a:prstGeom prst="rect">
            <a:avLst/>
          </a:prstGeom>
          <a:solidFill>
            <a:srgbClr val="FFFFFF"/>
          </a:solidFill>
          <a:ln w="12700">
            <a:solidFill>
              <a:srgbClr val="DDE1E6"/>
            </a:solidFill>
            <a:prstDash val="solid"/>
          </a:ln>
        </p:spPr>
      </p:sp>
      <p:sp>
        <p:nvSpPr>
          <p:cNvPr id="12" name="Shape 10"/>
          <p:cNvSpPr/>
          <p:nvPr/>
        </p:nvSpPr>
        <p:spPr>
          <a:xfrm>
            <a:off x="3383280" y="1143000"/>
            <a:ext cx="64008" cy="3017520"/>
          </a:xfrm>
          <a:prstGeom prst="rect">
            <a:avLst/>
          </a:prstGeom>
          <a:solidFill>
            <a:srgbClr val="B23A2F"/>
          </a:solidFill>
          <a:ln/>
        </p:spPr>
      </p:sp>
      <p:sp>
        <p:nvSpPr>
          <p:cNvPr id="13" name="Text 11"/>
          <p:cNvSpPr/>
          <p:nvPr/>
        </p:nvSpPr>
        <p:spPr>
          <a:xfrm>
            <a:off x="3584448" y="1325880"/>
            <a:ext cx="1097280" cy="320040"/>
          </a:xfrm>
          <a:prstGeom prst="rect">
            <a:avLst/>
          </a:prstGeom>
          <a:noFill/>
          <a:ln/>
        </p:spPr>
        <p:txBody>
          <a:bodyPr wrap="square" lIns="0" tIns="0" rIns="0" bIns="0" rtlCol="0" anchor="ctr"/>
          <a:lstStyle/>
          <a:p>
            <a:pPr marL="0" indent="0">
              <a:buNone/>
            </a:pPr>
            <a:r>
              <a:rPr lang="en-US" sz="1800" b="1" dirty="0">
                <a:solidFill>
                  <a:srgbClr val="B23A2F"/>
                </a:solidFill>
                <a:latin typeface="Trebuchet MS" pitchFamily="34" charset="0"/>
                <a:ea typeface="Trebuchet MS" pitchFamily="34" charset="-122"/>
                <a:cs typeface="Trebuchet MS" pitchFamily="34" charset="-120"/>
              </a:rPr>
              <a:t>G2</a:t>
            </a:r>
            <a:endParaRPr lang="en-US" sz="1800" dirty="0"/>
          </a:p>
        </p:txBody>
      </p:sp>
      <p:sp>
        <p:nvSpPr>
          <p:cNvPr id="14" name="Text 12"/>
          <p:cNvSpPr/>
          <p:nvPr/>
        </p:nvSpPr>
        <p:spPr>
          <a:xfrm>
            <a:off x="3584448" y="1664208"/>
            <a:ext cx="2340864" cy="201168"/>
          </a:xfrm>
          <a:prstGeom prst="rect">
            <a:avLst/>
          </a:prstGeom>
          <a:noFill/>
          <a:ln/>
        </p:spPr>
        <p:txBody>
          <a:bodyPr wrap="square" lIns="0" tIns="0" rIns="0" bIns="0" rtlCol="0" anchor="ctr"/>
          <a:lstStyle/>
          <a:p>
            <a:pPr marL="0" indent="0">
              <a:buNone/>
            </a:pPr>
            <a:r>
              <a:rPr lang="en-US" sz="900" b="1" kern="0" spc="150" dirty="0">
                <a:solidFill>
                  <a:srgbClr val="B23A2F"/>
                </a:solidFill>
                <a:latin typeface="Trebuchet MS" pitchFamily="34" charset="0"/>
                <a:ea typeface="Trebuchet MS" pitchFamily="34" charset="-122"/>
                <a:cs typeface="Trebuchet MS" pitchFamily="34" charset="-120"/>
              </a:rPr>
              <a:t>VIOLATED · errno</a:t>
            </a:r>
            <a:endParaRPr lang="en-US" sz="900" dirty="0"/>
          </a:p>
        </p:txBody>
      </p:sp>
      <p:sp>
        <p:nvSpPr>
          <p:cNvPr id="15" name="Text 13"/>
          <p:cNvSpPr/>
          <p:nvPr/>
        </p:nvSpPr>
        <p:spPr>
          <a:xfrm>
            <a:off x="3584448" y="1938528"/>
            <a:ext cx="2340864" cy="457200"/>
          </a:xfrm>
          <a:prstGeom prst="rect">
            <a:avLst/>
          </a:prstGeom>
          <a:noFill/>
          <a:ln/>
        </p:spPr>
        <p:txBody>
          <a:bodyPr wrap="square" lIns="0" tIns="0" rIns="0" bIns="0"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errno never saved / restored</a:t>
            </a:r>
            <a:endParaRPr lang="en-US" sz="1200" dirty="0"/>
          </a:p>
        </p:txBody>
      </p:sp>
      <p:sp>
        <p:nvSpPr>
          <p:cNvPr id="16" name="Text 14"/>
          <p:cNvSpPr/>
          <p:nvPr/>
        </p:nvSpPr>
        <p:spPr>
          <a:xfrm>
            <a:off x="3584448" y="2432304"/>
            <a:ext cx="2340864" cy="16459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waitpid (line 7) sets errno = ECHILD when no children remain. If main was mid-syscall, its errno check afterwards sees the handler's stale value.</a:t>
            </a:r>
            <a:endParaRPr lang="en-US" sz="1050" dirty="0"/>
          </a:p>
        </p:txBody>
      </p:sp>
      <p:sp>
        <p:nvSpPr>
          <p:cNvPr id="17" name="Shape 15"/>
          <p:cNvSpPr/>
          <p:nvPr/>
        </p:nvSpPr>
        <p:spPr>
          <a:xfrm>
            <a:off x="6309360" y="1143000"/>
            <a:ext cx="2423160" cy="3017520"/>
          </a:xfrm>
          <a:prstGeom prst="rect">
            <a:avLst/>
          </a:prstGeom>
          <a:solidFill>
            <a:srgbClr val="FFFFFF"/>
          </a:solidFill>
          <a:ln w="12700">
            <a:solidFill>
              <a:srgbClr val="DDE1E6"/>
            </a:solidFill>
            <a:prstDash val="solid"/>
          </a:ln>
        </p:spPr>
      </p:sp>
      <p:sp>
        <p:nvSpPr>
          <p:cNvPr id="18" name="Shape 16"/>
          <p:cNvSpPr/>
          <p:nvPr/>
        </p:nvSpPr>
        <p:spPr>
          <a:xfrm>
            <a:off x="6309360" y="1143000"/>
            <a:ext cx="64008" cy="3017520"/>
          </a:xfrm>
          <a:prstGeom prst="rect">
            <a:avLst/>
          </a:prstGeom>
          <a:solidFill>
            <a:srgbClr val="B08400"/>
          </a:solidFill>
          <a:ln/>
        </p:spPr>
      </p:sp>
      <p:sp>
        <p:nvSpPr>
          <p:cNvPr id="19" name="Text 17"/>
          <p:cNvSpPr/>
          <p:nvPr/>
        </p:nvSpPr>
        <p:spPr>
          <a:xfrm>
            <a:off x="6510528" y="1325880"/>
            <a:ext cx="1097280" cy="320040"/>
          </a:xfrm>
          <a:prstGeom prst="rect">
            <a:avLst/>
          </a:prstGeom>
          <a:noFill/>
          <a:ln/>
        </p:spPr>
        <p:txBody>
          <a:bodyPr wrap="square" lIns="0" tIns="0" rIns="0" bIns="0" rtlCol="0" anchor="ctr"/>
          <a:lstStyle/>
          <a:p>
            <a:pPr marL="0" indent="0">
              <a:buNone/>
            </a:pPr>
            <a:r>
              <a:rPr lang="en-US" sz="1800" b="1" dirty="0">
                <a:solidFill>
                  <a:srgbClr val="B08400"/>
                </a:solidFill>
                <a:latin typeface="Trebuchet MS" pitchFamily="34" charset="0"/>
                <a:ea typeface="Trebuchet MS" pitchFamily="34" charset="-122"/>
                <a:cs typeface="Trebuchet MS" pitchFamily="34" charset="-120"/>
              </a:rPr>
              <a:t>G0</a:t>
            </a:r>
            <a:endParaRPr lang="en-US" sz="1800" dirty="0"/>
          </a:p>
        </p:txBody>
      </p:sp>
      <p:sp>
        <p:nvSpPr>
          <p:cNvPr id="20" name="Text 18"/>
          <p:cNvSpPr/>
          <p:nvPr/>
        </p:nvSpPr>
        <p:spPr>
          <a:xfrm>
            <a:off x="6510528" y="1664208"/>
            <a:ext cx="2020824" cy="201168"/>
          </a:xfrm>
          <a:prstGeom prst="rect">
            <a:avLst/>
          </a:prstGeom>
          <a:noFill/>
          <a:ln/>
        </p:spPr>
        <p:txBody>
          <a:bodyPr wrap="square" lIns="0" tIns="0" rIns="0" bIns="0" rtlCol="0" anchor="ctr"/>
          <a:lstStyle/>
          <a:p>
            <a:pPr marL="0" indent="0">
              <a:buNone/>
            </a:pPr>
            <a:r>
              <a:rPr lang="en-US" sz="900" b="1" kern="0" spc="150" dirty="0">
                <a:solidFill>
                  <a:srgbClr val="B08400"/>
                </a:solidFill>
                <a:latin typeface="Trebuchet MS" pitchFamily="34" charset="0"/>
                <a:ea typeface="Trebuchet MS" pitchFamily="34" charset="-122"/>
                <a:cs typeface="Trebuchet MS" pitchFamily="34" charset="-120"/>
              </a:rPr>
              <a:t>ALSO ACCEPTED</a:t>
            </a:r>
            <a:endParaRPr lang="en-US" sz="900" dirty="0"/>
          </a:p>
        </p:txBody>
      </p:sp>
      <p:sp>
        <p:nvSpPr>
          <p:cNvPr id="21" name="Text 19"/>
          <p:cNvSpPr/>
          <p:nvPr/>
        </p:nvSpPr>
        <p:spPr>
          <a:xfrm>
            <a:off x="6510528" y="1938528"/>
            <a:ext cx="2020824" cy="457200"/>
          </a:xfrm>
          <a:prstGeom prst="rect">
            <a:avLst/>
          </a:prstGeom>
          <a:noFill/>
          <a:ln/>
        </p:spPr>
        <p:txBody>
          <a:bodyPr wrap="square" lIns="0" tIns="0" rIns="0" bIns="0"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Does more than the minimum</a:t>
            </a:r>
            <a:endParaRPr lang="en-US" sz="1200" dirty="0"/>
          </a:p>
        </p:txBody>
      </p:sp>
      <p:sp>
        <p:nvSpPr>
          <p:cNvPr id="22" name="Text 20"/>
          <p:cNvSpPr/>
          <p:nvPr/>
        </p:nvSpPr>
        <p:spPr>
          <a:xfrm>
            <a:off x="6510528" y="2432304"/>
            <a:ext cx="2020824" cy="1645920"/>
          </a:xfrm>
          <a:prstGeom prst="rect">
            <a:avLst/>
          </a:prstGeom>
          <a:noFill/>
          <a:ln/>
        </p:spPr>
        <p:txBody>
          <a:bodyPr wrap="square" lIns="0" tIns="0" rIns="0" bIns="0" rtlCol="0" anchor="t"/>
          <a:lstStyle/>
          <a:p>
            <a:pPr marL="0" indent="0">
              <a:buNone/>
            </a:pPr>
            <a:r>
              <a:rPr lang="en-US" sz="1050" dirty="0">
                <a:solidFill>
                  <a:srgbClr val="1F2937"/>
                </a:solidFill>
                <a:latin typeface="Calibri" pitchFamily="34" charset="0"/>
                <a:ea typeface="Calibri" pitchFamily="34" charset="-122"/>
                <a:cs typeface="Calibri" pitchFamily="34" charset="-120"/>
              </a:rPr>
              <a:t>Formatting a running total (reaped + 1) is non-essential bookkeeping inside a handler — and that count was racy anyway.</a:t>
            </a:r>
            <a:endParaRPr lang="en-US" sz="1050" dirty="0"/>
          </a:p>
        </p:txBody>
      </p:sp>
      <p:sp>
        <p:nvSpPr>
          <p:cNvPr id="23" name="Text 21"/>
          <p:cNvSpPr/>
          <p:nvPr/>
        </p:nvSpPr>
        <p:spPr>
          <a:xfrm>
            <a:off x="457200" y="4389120"/>
            <a:ext cx="8229600" cy="27432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Exam answers must name the guideline, the line number, and what's wrong — two violations required.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13</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2.3 (B)</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The safe rewrite</a:t>
            </a:r>
            <a:endParaRPr lang="en-US" sz="2300" dirty="0"/>
          </a:p>
        </p:txBody>
      </p:sp>
      <p:sp>
        <p:nvSpPr>
          <p:cNvPr id="5" name="Shape 3"/>
          <p:cNvSpPr/>
          <p:nvPr/>
        </p:nvSpPr>
        <p:spPr>
          <a:xfrm>
            <a:off x="457200" y="1097280"/>
            <a:ext cx="5212080" cy="2514600"/>
          </a:xfrm>
          <a:prstGeom prst="roundRect">
            <a:avLst>
              <a:gd name="adj" fmla="val 1818"/>
            </a:avLst>
          </a:prstGeom>
          <a:solidFill>
            <a:srgbClr val="232830"/>
          </a:solidFill>
          <a:ln/>
        </p:spPr>
      </p:sp>
      <p:sp>
        <p:nvSpPr>
          <p:cNvPr id="6" name="Text 4"/>
          <p:cNvSpPr/>
          <p:nvPr/>
        </p:nvSpPr>
        <p:spPr>
          <a:xfrm>
            <a:off x="621792" y="1188720"/>
            <a:ext cx="4919472" cy="2331720"/>
          </a:xfrm>
          <a:prstGeom prst="rect">
            <a:avLst/>
          </a:prstGeom>
          <a:noFill/>
          <a:ln/>
        </p:spPr>
        <p:txBody>
          <a:bodyPr wrap="square" lIns="0" tIns="0" rIns="0" bIns="0" rtlCol="0" anchor="t"/>
          <a:lstStyle/>
          <a:p>
            <a:pPr marL="0" indent="0">
              <a:lnSpc>
                <a:spcPct val="112000"/>
              </a:lnSpc>
              <a:buNone/>
            </a:pPr>
            <a:r>
              <a:rPr lang="en-US" sz="1150" dirty="0">
                <a:solidFill>
                  <a:srgbClr val="D8DEE9"/>
                </a:solidFill>
                <a:latin typeface="Courier New" pitchFamily="34" charset="0"/>
                <a:ea typeface="Courier New" pitchFamily="34" charset="-122"/>
                <a:cs typeface="Courier New" pitchFamily="34" charset="-120"/>
              </a:rPr>
              <a:t>void chld_handler(int sig) {</a:t>
            </a:r>
            <a:endParaRPr lang="en-US" sz="1150" dirty="0"/>
          </a:p>
          <a:p>
            <a:pPr marL="0" indent="0">
              <a:lnSpc>
                <a:spcPct val="112000"/>
              </a:lnSpc>
              <a:buNone/>
            </a:pPr>
            <a:r>
              <a:rPr lang="en-US" sz="1150" dirty="0">
                <a:solidFill>
                  <a:srgbClr val="E9C46A"/>
                </a:solidFill>
                <a:latin typeface="Courier New" pitchFamily="34" charset="0"/>
                <a:ea typeface="Courier New" pitchFamily="34" charset="-122"/>
                <a:cs typeface="Courier New" pitchFamily="34" charset="-120"/>
              </a:rPr>
              <a:t>    int saved_errno = errno;</a:t>
            </a:r>
            <a:endParaRPr lang="en-US" sz="1150" dirty="0"/>
          </a:p>
          <a:p>
            <a:pPr marL="0" indent="0">
              <a:lnSpc>
                <a:spcPct val="112000"/>
              </a:lnSpc>
              <a:buNone/>
            </a:pPr>
            <a:r>
              <a:rPr lang="en-US" sz="1150" dirty="0">
                <a:solidFill>
                  <a:srgbClr val="D8DEE9"/>
                </a:solidFill>
                <a:latin typeface="Courier New" pitchFamily="34" charset="0"/>
                <a:ea typeface="Courier New" pitchFamily="34" charset="-122"/>
                <a:cs typeface="Courier New" pitchFamily="34" charset="-120"/>
              </a:rPr>
              <a:t>    pid_t pid;</a:t>
            </a:r>
            <a:endParaRPr lang="en-US" sz="1150" dirty="0"/>
          </a:p>
          <a:p>
            <a:pPr marL="0" indent="0">
              <a:lnSpc>
                <a:spcPct val="112000"/>
              </a:lnSpc>
              <a:buNone/>
            </a:pPr>
            <a:r>
              <a:rPr lang="en-US" sz="1150" dirty="0">
                <a:solidFill>
                  <a:srgbClr val="D8DEE9"/>
                </a:solidFill>
                <a:latin typeface="Courier New" pitchFamily="34" charset="0"/>
                <a:ea typeface="Courier New" pitchFamily="34" charset="-122"/>
                <a:cs typeface="Courier New" pitchFamily="34" charset="-120"/>
              </a:rPr>
              <a:t>    while ((pid = waitpid(-1, NULL,</a:t>
            </a:r>
            <a:endParaRPr lang="en-US" sz="1150" dirty="0"/>
          </a:p>
          <a:p>
            <a:pPr marL="0" indent="0">
              <a:lnSpc>
                <a:spcPct val="112000"/>
              </a:lnSpc>
              <a:buNone/>
            </a:pPr>
            <a:r>
              <a:rPr lang="en-US" sz="1150" dirty="0">
                <a:solidFill>
                  <a:srgbClr val="D8DEE9"/>
                </a:solidFill>
                <a:latin typeface="Courier New" pitchFamily="34" charset="0"/>
                <a:ea typeface="Courier New" pitchFamily="34" charset="-122"/>
                <a:cs typeface="Courier New" pitchFamily="34" charset="-120"/>
              </a:rPr>
              <a:t>                  WNOHANG)) &gt; 0) {</a:t>
            </a:r>
            <a:endParaRPr lang="en-US" sz="1150" dirty="0"/>
          </a:p>
          <a:p>
            <a:pPr marL="0" indent="0">
              <a:lnSpc>
                <a:spcPct val="112000"/>
              </a:lnSpc>
              <a:buNone/>
            </a:pPr>
            <a:r>
              <a:rPr lang="en-US" sz="1150" dirty="0">
                <a:solidFill>
                  <a:srgbClr val="A3D9A5"/>
                </a:solidFill>
                <a:latin typeface="Courier New" pitchFamily="34" charset="0"/>
                <a:ea typeface="Courier New" pitchFamily="34" charset="-122"/>
                <a:cs typeface="Courier New" pitchFamily="34" charset="-120"/>
              </a:rPr>
              <a:t>        sio_puts("reaped pid ");</a:t>
            </a:r>
            <a:endParaRPr lang="en-US" sz="1150" dirty="0"/>
          </a:p>
          <a:p>
            <a:pPr marL="0" indent="0">
              <a:lnSpc>
                <a:spcPct val="112000"/>
              </a:lnSpc>
              <a:buNone/>
            </a:pPr>
            <a:r>
              <a:rPr lang="en-US" sz="1150" dirty="0">
                <a:solidFill>
                  <a:srgbClr val="A3D9A5"/>
                </a:solidFill>
                <a:latin typeface="Courier New" pitchFamily="34" charset="0"/>
                <a:ea typeface="Courier New" pitchFamily="34" charset="-122"/>
                <a:cs typeface="Courier New" pitchFamily="34" charset="-120"/>
              </a:rPr>
              <a:t>        sio_putl((long)pid);</a:t>
            </a:r>
            <a:endParaRPr lang="en-US" sz="1150" dirty="0"/>
          </a:p>
          <a:p>
            <a:pPr marL="0" indent="0">
              <a:lnSpc>
                <a:spcPct val="112000"/>
              </a:lnSpc>
              <a:buNone/>
            </a:pPr>
            <a:r>
              <a:rPr lang="en-US" sz="1150" dirty="0">
                <a:solidFill>
                  <a:srgbClr val="A3D9A5"/>
                </a:solidFill>
                <a:latin typeface="Courier New" pitchFamily="34" charset="0"/>
                <a:ea typeface="Courier New" pitchFamily="34" charset="-122"/>
                <a:cs typeface="Courier New" pitchFamily="34" charset="-120"/>
              </a:rPr>
              <a:t>        sio_puts("\n");</a:t>
            </a:r>
            <a:endParaRPr lang="en-US" sz="1150" dirty="0"/>
          </a:p>
          <a:p>
            <a:pPr marL="0" indent="0">
              <a:lnSpc>
                <a:spcPct val="112000"/>
              </a:lnSpc>
              <a:buNone/>
            </a:pPr>
            <a:r>
              <a:rPr lang="en-US" sz="1150" dirty="0">
                <a:solidFill>
                  <a:srgbClr val="D8DEE9"/>
                </a:solidFill>
                <a:latin typeface="Courier New" pitchFamily="34" charset="0"/>
                <a:ea typeface="Courier New" pitchFamily="34" charset="-122"/>
                <a:cs typeface="Courier New" pitchFamily="34" charset="-120"/>
              </a:rPr>
              <a:t>        reaped++;</a:t>
            </a:r>
            <a:endParaRPr lang="en-US" sz="1150" dirty="0"/>
          </a:p>
          <a:p>
            <a:pPr marL="0" indent="0">
              <a:lnSpc>
                <a:spcPct val="112000"/>
              </a:lnSpc>
              <a:buNone/>
            </a:pPr>
            <a:r>
              <a:rPr lang="en-US" sz="1150" dirty="0">
                <a:solidFill>
                  <a:srgbClr val="D8DEE9"/>
                </a:solidFill>
                <a:latin typeface="Courier New" pitchFamily="34" charset="0"/>
                <a:ea typeface="Courier New" pitchFamily="34" charset="-122"/>
                <a:cs typeface="Courier New" pitchFamily="34" charset="-120"/>
              </a:rPr>
              <a:t>    }</a:t>
            </a:r>
            <a:endParaRPr lang="en-US" sz="1150" dirty="0"/>
          </a:p>
          <a:p>
            <a:pPr marL="0" indent="0">
              <a:lnSpc>
                <a:spcPct val="112000"/>
              </a:lnSpc>
              <a:buNone/>
            </a:pPr>
            <a:r>
              <a:rPr lang="en-US" sz="1150" dirty="0">
                <a:solidFill>
                  <a:srgbClr val="E9C46A"/>
                </a:solidFill>
                <a:latin typeface="Courier New" pitchFamily="34" charset="0"/>
                <a:ea typeface="Courier New" pitchFamily="34" charset="-122"/>
                <a:cs typeface="Courier New" pitchFamily="34" charset="-120"/>
              </a:rPr>
              <a:t>    errno = saved_errno;</a:t>
            </a:r>
            <a:endParaRPr lang="en-US" sz="1150" dirty="0"/>
          </a:p>
          <a:p>
            <a:pPr marL="0" indent="0">
              <a:lnSpc>
                <a:spcPct val="112000"/>
              </a:lnSpc>
              <a:buNone/>
            </a:pPr>
            <a:r>
              <a:rPr lang="en-US" sz="1150" dirty="0">
                <a:solidFill>
                  <a:srgbClr val="D8DEE9"/>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5897880" y="1097280"/>
            <a:ext cx="2834640" cy="868680"/>
          </a:xfrm>
          <a:prstGeom prst="rect">
            <a:avLst/>
          </a:prstGeom>
          <a:solidFill>
            <a:srgbClr val="FFFFFF"/>
          </a:solidFill>
          <a:ln w="12700">
            <a:solidFill>
              <a:srgbClr val="DDE1E6"/>
            </a:solidFill>
            <a:prstDash val="solid"/>
          </a:ln>
        </p:spPr>
      </p:sp>
      <p:sp>
        <p:nvSpPr>
          <p:cNvPr id="8" name="Shape 6"/>
          <p:cNvSpPr/>
          <p:nvPr/>
        </p:nvSpPr>
        <p:spPr>
          <a:xfrm>
            <a:off x="5897880" y="1097280"/>
            <a:ext cx="64008" cy="868680"/>
          </a:xfrm>
          <a:prstGeom prst="rect">
            <a:avLst/>
          </a:prstGeom>
          <a:solidFill>
            <a:srgbClr val="C2641A"/>
          </a:solidFill>
          <a:ln/>
        </p:spPr>
      </p:sp>
      <p:sp>
        <p:nvSpPr>
          <p:cNvPr id="9" name="Text 7"/>
          <p:cNvSpPr/>
          <p:nvPr/>
        </p:nvSpPr>
        <p:spPr>
          <a:xfrm>
            <a:off x="6080760" y="1170432"/>
            <a:ext cx="2468880" cy="201168"/>
          </a:xfrm>
          <a:prstGeom prst="rect">
            <a:avLst/>
          </a:prstGeom>
          <a:noFill/>
          <a:ln/>
        </p:spPr>
        <p:txBody>
          <a:bodyPr wrap="square" lIns="0" tIns="0" rIns="0" bIns="0" rtlCol="0" anchor="ctr"/>
          <a:lstStyle/>
          <a:p>
            <a:pPr marL="0" indent="0">
              <a:buNone/>
            </a:pPr>
            <a:r>
              <a:rPr lang="en-US" sz="950" b="1" kern="0" spc="100" dirty="0">
                <a:solidFill>
                  <a:srgbClr val="C2641A"/>
                </a:solidFill>
                <a:latin typeface="Trebuchet MS" pitchFamily="34" charset="0"/>
                <a:ea typeface="Trebuchet MS" pitchFamily="34" charset="-122"/>
                <a:cs typeface="Trebuchet MS" pitchFamily="34" charset="-120"/>
              </a:rPr>
              <a:t>G2 — SNAPSHOT + RESTORE</a:t>
            </a:r>
            <a:endParaRPr lang="en-US" sz="950" dirty="0"/>
          </a:p>
        </p:txBody>
      </p:sp>
      <p:sp>
        <p:nvSpPr>
          <p:cNvPr id="10" name="Text 8"/>
          <p:cNvSpPr/>
          <p:nvPr/>
        </p:nvSpPr>
        <p:spPr>
          <a:xfrm>
            <a:off x="6080760" y="1389888"/>
            <a:ext cx="2514600" cy="548640"/>
          </a:xfrm>
          <a:prstGeom prst="rect">
            <a:avLst/>
          </a:prstGeom>
          <a:noFill/>
          <a:ln/>
        </p:spPr>
        <p:txBody>
          <a:bodyPr wrap="square" lIns="0" tIns="0" rIns="0" bIns="0" rtlCol="0" anchor="t"/>
          <a:lstStyle/>
          <a:p>
            <a:pPr marL="0" indent="0">
              <a:buNone/>
            </a:pPr>
            <a:r>
              <a:rPr lang="en-US" sz="1000" dirty="0">
                <a:solidFill>
                  <a:srgbClr val="1F2937"/>
                </a:solidFill>
                <a:latin typeface="Calibri" pitchFamily="34" charset="0"/>
                <a:ea typeface="Calibri" pitchFamily="34" charset="-122"/>
                <a:cs typeface="Calibri" pitchFamily="34" charset="-120"/>
              </a:rPr>
              <a:t>errno saved on entry, restored on exit; main's view is undisturbed.</a:t>
            </a:r>
            <a:endParaRPr lang="en-US" sz="1000" dirty="0"/>
          </a:p>
        </p:txBody>
      </p:sp>
      <p:sp>
        <p:nvSpPr>
          <p:cNvPr id="11" name="Shape 9"/>
          <p:cNvSpPr/>
          <p:nvPr/>
        </p:nvSpPr>
        <p:spPr>
          <a:xfrm>
            <a:off x="5897880" y="2103120"/>
            <a:ext cx="2834640" cy="868680"/>
          </a:xfrm>
          <a:prstGeom prst="rect">
            <a:avLst/>
          </a:prstGeom>
          <a:solidFill>
            <a:srgbClr val="FFFFFF"/>
          </a:solidFill>
          <a:ln w="12700">
            <a:solidFill>
              <a:srgbClr val="DDE1E6"/>
            </a:solidFill>
            <a:prstDash val="solid"/>
          </a:ln>
        </p:spPr>
      </p:sp>
      <p:sp>
        <p:nvSpPr>
          <p:cNvPr id="12" name="Shape 10"/>
          <p:cNvSpPr/>
          <p:nvPr/>
        </p:nvSpPr>
        <p:spPr>
          <a:xfrm>
            <a:off x="5897880" y="2103120"/>
            <a:ext cx="64008" cy="868680"/>
          </a:xfrm>
          <a:prstGeom prst="rect">
            <a:avLst/>
          </a:prstGeom>
          <a:solidFill>
            <a:srgbClr val="5E9E52"/>
          </a:solidFill>
          <a:ln/>
        </p:spPr>
      </p:sp>
      <p:sp>
        <p:nvSpPr>
          <p:cNvPr id="13" name="Text 11"/>
          <p:cNvSpPr/>
          <p:nvPr/>
        </p:nvSpPr>
        <p:spPr>
          <a:xfrm>
            <a:off x="6080760" y="2176272"/>
            <a:ext cx="2468880" cy="201168"/>
          </a:xfrm>
          <a:prstGeom prst="rect">
            <a:avLst/>
          </a:prstGeom>
          <a:noFill/>
          <a:ln/>
        </p:spPr>
        <p:txBody>
          <a:bodyPr wrap="square" lIns="0" tIns="0" rIns="0" bIns="0" rtlCol="0" anchor="ctr"/>
          <a:lstStyle/>
          <a:p>
            <a:pPr marL="0" indent="0">
              <a:buNone/>
            </a:pPr>
            <a:r>
              <a:rPr lang="en-US" sz="950" b="1" kern="0" spc="100" dirty="0">
                <a:solidFill>
                  <a:srgbClr val="5E9E52"/>
                </a:solidFill>
                <a:latin typeface="Trebuchet MS" pitchFamily="34" charset="0"/>
                <a:ea typeface="Trebuchet MS" pitchFamily="34" charset="-122"/>
                <a:cs typeface="Trebuchet MS" pitchFamily="34" charset="-120"/>
              </a:rPr>
              <a:t>G1 — SIO ONLY</a:t>
            </a:r>
            <a:endParaRPr lang="en-US" sz="950" dirty="0"/>
          </a:p>
        </p:txBody>
      </p:sp>
      <p:sp>
        <p:nvSpPr>
          <p:cNvPr id="14" name="Text 12"/>
          <p:cNvSpPr/>
          <p:nvPr/>
        </p:nvSpPr>
        <p:spPr>
          <a:xfrm>
            <a:off x="6080760" y="2395728"/>
            <a:ext cx="2514600" cy="548640"/>
          </a:xfrm>
          <a:prstGeom prst="rect">
            <a:avLst/>
          </a:prstGeom>
          <a:noFill/>
          <a:ln/>
        </p:spPr>
        <p:txBody>
          <a:bodyPr wrap="square" lIns="0" tIns="0" rIns="0" bIns="0" rtlCol="0" anchor="t"/>
          <a:lstStyle/>
          <a:p>
            <a:pPr marL="0" indent="0">
              <a:buNone/>
            </a:pPr>
            <a:r>
              <a:rPr lang="en-US" sz="1000" dirty="0">
                <a:solidFill>
                  <a:srgbClr val="1F2937"/>
                </a:solidFill>
                <a:latin typeface="Calibri" pitchFamily="34" charset="0"/>
                <a:ea typeface="Calibri" pitchFamily="34" charset="-122"/>
                <a:cs typeface="Calibri" pitchFamily="34" charset="-120"/>
              </a:rPr>
              <a:t>sio_puts / sio_putl are bare write(2) calls: on the async-signal-safe list, no locks, no malloc.</a:t>
            </a:r>
            <a:endParaRPr lang="en-US" sz="1000" dirty="0"/>
          </a:p>
        </p:txBody>
      </p:sp>
      <p:sp>
        <p:nvSpPr>
          <p:cNvPr id="15" name="Shape 13"/>
          <p:cNvSpPr/>
          <p:nvPr/>
        </p:nvSpPr>
        <p:spPr>
          <a:xfrm>
            <a:off x="5897880" y="3108960"/>
            <a:ext cx="2834640" cy="868680"/>
          </a:xfrm>
          <a:prstGeom prst="rect">
            <a:avLst/>
          </a:prstGeom>
          <a:solidFill>
            <a:srgbClr val="FFFFFF"/>
          </a:solidFill>
          <a:ln w="12700">
            <a:solidFill>
              <a:srgbClr val="DDE1E6"/>
            </a:solidFill>
            <a:prstDash val="solid"/>
          </a:ln>
        </p:spPr>
      </p:sp>
      <p:sp>
        <p:nvSpPr>
          <p:cNvPr id="16" name="Shape 14"/>
          <p:cNvSpPr/>
          <p:nvPr/>
        </p:nvSpPr>
        <p:spPr>
          <a:xfrm>
            <a:off x="5897880" y="3108960"/>
            <a:ext cx="64008" cy="868680"/>
          </a:xfrm>
          <a:prstGeom prst="rect">
            <a:avLst/>
          </a:prstGeom>
          <a:solidFill>
            <a:srgbClr val="0E8A8A"/>
          </a:solidFill>
          <a:ln/>
        </p:spPr>
      </p:sp>
      <p:sp>
        <p:nvSpPr>
          <p:cNvPr id="17" name="Text 15"/>
          <p:cNvSpPr/>
          <p:nvPr/>
        </p:nvSpPr>
        <p:spPr>
          <a:xfrm>
            <a:off x="6080760" y="3182112"/>
            <a:ext cx="2468880" cy="201168"/>
          </a:xfrm>
          <a:prstGeom prst="rect">
            <a:avLst/>
          </a:prstGeom>
          <a:noFill/>
          <a:ln/>
        </p:spPr>
        <p:txBody>
          <a:bodyPr wrap="square" lIns="0" tIns="0" rIns="0" bIns="0" rtlCol="0" anchor="ctr"/>
          <a:lstStyle/>
          <a:p>
            <a:pPr marL="0" indent="0">
              <a:buNone/>
            </a:pPr>
            <a:r>
              <a:rPr lang="en-US" sz="950" b="1" kern="0" spc="100" dirty="0">
                <a:solidFill>
                  <a:srgbClr val="0E8A8A"/>
                </a:solidFill>
                <a:latin typeface="Trebuchet MS" pitchFamily="34" charset="0"/>
                <a:ea typeface="Trebuchet MS" pitchFamily="34" charset="-122"/>
                <a:cs typeface="Trebuchet MS" pitchFamily="34" charset="-120"/>
              </a:rPr>
              <a:t>G0 — MINIMUM WORK</a:t>
            </a:r>
            <a:endParaRPr lang="en-US" sz="950" dirty="0"/>
          </a:p>
        </p:txBody>
      </p:sp>
      <p:sp>
        <p:nvSpPr>
          <p:cNvPr id="18" name="Text 16"/>
          <p:cNvSpPr/>
          <p:nvPr/>
        </p:nvSpPr>
        <p:spPr>
          <a:xfrm>
            <a:off x="6080760" y="3401568"/>
            <a:ext cx="2514600" cy="548640"/>
          </a:xfrm>
          <a:prstGeom prst="rect">
            <a:avLst/>
          </a:prstGeom>
          <a:noFill/>
          <a:ln/>
        </p:spPr>
        <p:txBody>
          <a:bodyPr wrap="square" lIns="0" tIns="0" rIns="0" bIns="0" rtlCol="0" anchor="t"/>
          <a:lstStyle/>
          <a:p>
            <a:pPr marL="0" indent="0">
              <a:buNone/>
            </a:pPr>
            <a:r>
              <a:rPr lang="en-US" sz="1000" dirty="0">
                <a:solidFill>
                  <a:srgbClr val="1F2937"/>
                </a:solidFill>
                <a:latin typeface="Calibri" pitchFamily="34" charset="0"/>
                <a:ea typeface="Calibri" pitchFamily="34" charset="-122"/>
                <a:cs typeface="Calibri" pitchFamily="34" charset="-120"/>
              </a:rPr>
              <a:t>Reap, count, log the pid. The racy running total is gone.</a:t>
            </a:r>
            <a:endParaRPr lang="en-US" sz="1000" dirty="0"/>
          </a:p>
        </p:txBody>
      </p:sp>
      <p:sp>
        <p:nvSpPr>
          <p:cNvPr id="19" name="Text 17"/>
          <p:cNvSpPr/>
          <p:nvPr/>
        </p:nvSpPr>
        <p:spPr>
          <a:xfrm>
            <a:off x="457200" y="4343400"/>
            <a:ext cx="8229600" cy="27432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Any equivalent earns credit: sio_* only, save/restore errno, no printf / snprintf / malloc.</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14</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2.3 (C)</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Handler writes vs. main's printf: safe?</a:t>
            </a:r>
            <a:endParaRPr lang="en-US" sz="2300" dirty="0"/>
          </a:p>
        </p:txBody>
      </p:sp>
      <p:sp>
        <p:nvSpPr>
          <p:cNvPr id="5" name="Shape 3"/>
          <p:cNvSpPr/>
          <p:nvPr/>
        </p:nvSpPr>
        <p:spPr>
          <a:xfrm>
            <a:off x="548640" y="1188720"/>
            <a:ext cx="2103120" cy="640080"/>
          </a:xfrm>
          <a:prstGeom prst="rect">
            <a:avLst/>
          </a:prstGeom>
          <a:solidFill>
            <a:srgbClr val="FFFFFF"/>
          </a:solidFill>
          <a:ln w="12700">
            <a:solidFill>
              <a:srgbClr val="DDE1E6"/>
            </a:solidFill>
            <a:prstDash val="solid"/>
          </a:ln>
        </p:spPr>
      </p:sp>
      <p:sp>
        <p:nvSpPr>
          <p:cNvPr id="6" name="Text 4"/>
          <p:cNvSpPr/>
          <p:nvPr/>
        </p:nvSpPr>
        <p:spPr>
          <a:xfrm>
            <a:off x="548640" y="1188720"/>
            <a:ext cx="2103120" cy="640080"/>
          </a:xfrm>
          <a:prstGeom prst="rect">
            <a:avLst/>
          </a:prstGeom>
          <a:noFill/>
          <a:ln/>
        </p:spPr>
        <p:txBody>
          <a:bodyPr wrap="square" lIns="381" tIns="381" rIns="381" bIns="381"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handler:</a:t>
            </a:r>
            <a:endParaRPr lang="en-US" sz="1050" dirty="0"/>
          </a:p>
          <a:p>
            <a:pPr marL="0" indent="0" algn="ctr">
              <a:buNone/>
            </a:pPr>
            <a:r>
              <a:rPr lang="en-US" sz="1050" dirty="0">
                <a:solidFill>
                  <a:srgbClr val="1F2937"/>
                </a:solidFill>
                <a:latin typeface="Courier New" pitchFamily="34" charset="0"/>
                <a:ea typeface="Courier New" pitchFamily="34" charset="-122"/>
                <a:cs typeface="Courier New" pitchFamily="34" charset="-120"/>
              </a:rPr>
              <a:t>sio_puts → write(2)</a:t>
            </a:r>
            <a:endParaRPr lang="en-US" sz="1050" dirty="0"/>
          </a:p>
        </p:txBody>
      </p:sp>
      <p:sp>
        <p:nvSpPr>
          <p:cNvPr id="7" name="Shape 5"/>
          <p:cNvSpPr/>
          <p:nvPr/>
        </p:nvSpPr>
        <p:spPr>
          <a:xfrm>
            <a:off x="548640" y="2057400"/>
            <a:ext cx="2103120" cy="640080"/>
          </a:xfrm>
          <a:prstGeom prst="rect">
            <a:avLst/>
          </a:prstGeom>
          <a:solidFill>
            <a:srgbClr val="FFFFFF"/>
          </a:solidFill>
          <a:ln w="12700">
            <a:solidFill>
              <a:srgbClr val="DDE1E6"/>
            </a:solidFill>
            <a:prstDash val="solid"/>
          </a:ln>
        </p:spPr>
      </p:sp>
      <p:sp>
        <p:nvSpPr>
          <p:cNvPr id="8" name="Text 6"/>
          <p:cNvSpPr/>
          <p:nvPr/>
        </p:nvSpPr>
        <p:spPr>
          <a:xfrm>
            <a:off x="548640" y="2057400"/>
            <a:ext cx="2103120" cy="640080"/>
          </a:xfrm>
          <a:prstGeom prst="rect">
            <a:avLst/>
          </a:prstGeom>
          <a:noFill/>
          <a:ln/>
        </p:spPr>
        <p:txBody>
          <a:bodyPr wrap="square" lIns="381" tIns="381" rIns="381" bIns="381"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main:</a:t>
            </a:r>
            <a:endParaRPr lang="en-US" sz="1050" dirty="0"/>
          </a:p>
          <a:p>
            <a:pPr marL="0" indent="0" algn="ctr">
              <a:buNone/>
            </a:pPr>
            <a:r>
              <a:rPr lang="en-US" sz="1050" dirty="0">
                <a:solidFill>
                  <a:srgbClr val="1F2937"/>
                </a:solidFill>
                <a:latin typeface="Courier New" pitchFamily="34" charset="0"/>
                <a:ea typeface="Courier New" pitchFamily="34" charset="-122"/>
                <a:cs typeface="Courier New" pitchFamily="34" charset="-120"/>
              </a:rPr>
              <a:t>printf flush → write(2)</a:t>
            </a:r>
            <a:endParaRPr lang="en-US" sz="1050" dirty="0"/>
          </a:p>
        </p:txBody>
      </p:sp>
      <p:sp>
        <p:nvSpPr>
          <p:cNvPr id="9" name="Shape 7"/>
          <p:cNvSpPr/>
          <p:nvPr/>
        </p:nvSpPr>
        <p:spPr>
          <a:xfrm>
            <a:off x="2651760" y="1508760"/>
            <a:ext cx="1554480" cy="320040"/>
          </a:xfrm>
          <a:prstGeom prst="line">
            <a:avLst/>
          </a:prstGeom>
          <a:noFill/>
          <a:ln w="25400">
            <a:solidFill>
              <a:srgbClr val="0E8A8A"/>
            </a:solidFill>
            <a:prstDash val="solid"/>
            <a:tailEnd type="triangle"/>
          </a:ln>
        </p:spPr>
      </p:sp>
      <p:sp>
        <p:nvSpPr>
          <p:cNvPr id="10" name="Shape 8"/>
          <p:cNvSpPr/>
          <p:nvPr/>
        </p:nvSpPr>
        <p:spPr>
          <a:xfrm flipV="1">
            <a:off x="2651760" y="2103120"/>
            <a:ext cx="1554480" cy="274320"/>
          </a:xfrm>
          <a:prstGeom prst="line">
            <a:avLst/>
          </a:prstGeom>
          <a:noFill/>
          <a:ln w="25400">
            <a:solidFill>
              <a:srgbClr val="0E8A8A"/>
            </a:solidFill>
            <a:prstDash val="solid"/>
            <a:tailEnd type="triangle"/>
          </a:ln>
        </p:spPr>
      </p:sp>
      <p:sp>
        <p:nvSpPr>
          <p:cNvPr id="11" name="Shape 9"/>
          <p:cNvSpPr/>
          <p:nvPr/>
        </p:nvSpPr>
        <p:spPr>
          <a:xfrm>
            <a:off x="4206240" y="1508760"/>
            <a:ext cx="2377440" cy="868680"/>
          </a:xfrm>
          <a:prstGeom prst="rect">
            <a:avLst/>
          </a:prstGeom>
          <a:solidFill>
            <a:srgbClr val="E2F1F0"/>
          </a:solidFill>
          <a:ln w="25400">
            <a:solidFill>
              <a:srgbClr val="0E8A8A"/>
            </a:solidFill>
            <a:prstDash val="solid"/>
          </a:ln>
        </p:spPr>
      </p:sp>
      <p:sp>
        <p:nvSpPr>
          <p:cNvPr id="12" name="Text 10"/>
          <p:cNvSpPr/>
          <p:nvPr/>
        </p:nvSpPr>
        <p:spPr>
          <a:xfrm>
            <a:off x="4206240" y="1508760"/>
            <a:ext cx="2377440" cy="868680"/>
          </a:xfrm>
          <a:prstGeom prst="rect">
            <a:avLst/>
          </a:prstGeom>
          <a:noFill/>
          <a:ln/>
        </p:spPr>
        <p:txBody>
          <a:bodyPr wrap="square" lIns="0" tIns="0" rIns="0" bIns="0" rtlCol="0" anchor="ctr"/>
          <a:lstStyle/>
          <a:p>
            <a:pPr marL="0" indent="0" algn="ctr">
              <a:buNone/>
            </a:pPr>
            <a:r>
              <a:rPr lang="en-US" sz="1050" b="1" dirty="0">
                <a:solidFill>
                  <a:srgbClr val="0A6363"/>
                </a:solidFill>
                <a:latin typeface="Calibri" pitchFamily="34" charset="0"/>
                <a:ea typeface="Calibri" pitchFamily="34" charset="-122"/>
                <a:cs typeface="Calibri" pitchFamily="34" charset="-120"/>
              </a:rPr>
              <a:t>O_APPEND file</a:t>
            </a:r>
            <a:endParaRPr lang="en-US" sz="1050" dirty="0"/>
          </a:p>
          <a:p>
            <a:pPr marL="0" indent="0" algn="ctr">
              <a:buNone/>
            </a:pPr>
            <a:r>
              <a:rPr lang="en-US" sz="1050" b="1" dirty="0">
                <a:solidFill>
                  <a:srgbClr val="0A6363"/>
                </a:solidFill>
                <a:latin typeface="Calibri" pitchFamily="34" charset="0"/>
                <a:ea typeface="Calibri" pitchFamily="34" charset="-122"/>
                <a:cs typeface="Calibri" pitchFamily="34" charset="-120"/>
              </a:rPr>
              <a:t>each write(2) = atomic</a:t>
            </a:r>
            <a:endParaRPr lang="en-US" sz="1050" dirty="0"/>
          </a:p>
          <a:p>
            <a:pPr marL="0" indent="0" algn="ctr">
              <a:buNone/>
            </a:pPr>
            <a:r>
              <a:rPr lang="en-US" sz="1050" b="1" dirty="0">
                <a:solidFill>
                  <a:srgbClr val="0A6363"/>
                </a:solidFill>
                <a:latin typeface="Calibri" pitchFamily="34" charset="0"/>
                <a:ea typeface="Calibri" pitchFamily="34" charset="-122"/>
                <a:cs typeface="Calibri" pitchFamily="34" charset="-120"/>
              </a:rPr>
              <a:t>seek-to-EOF + write</a:t>
            </a:r>
            <a:endParaRPr lang="en-US" sz="1050" dirty="0"/>
          </a:p>
        </p:txBody>
      </p:sp>
      <p:sp>
        <p:nvSpPr>
          <p:cNvPr id="13" name="Text 11"/>
          <p:cNvSpPr/>
          <p:nvPr/>
        </p:nvSpPr>
        <p:spPr>
          <a:xfrm>
            <a:off x="6766560" y="1691640"/>
            <a:ext cx="1920240" cy="54864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writes are sequenced at EOF,</a:t>
            </a:r>
            <a:endParaRPr lang="en-US" sz="1000" dirty="0"/>
          </a:p>
          <a:p>
            <a:pPr marL="0" indent="0">
              <a:buNone/>
            </a:pPr>
            <a:r>
              <a:rPr lang="en-US" sz="1000" i="1" dirty="0">
                <a:solidFill>
                  <a:srgbClr val="6B7280"/>
                </a:solidFill>
                <a:latin typeface="Calibri" pitchFamily="34" charset="0"/>
                <a:ea typeface="Calibri" pitchFamily="34" charset="-122"/>
                <a:cs typeface="Calibri" pitchFamily="34" charset="-120"/>
              </a:rPr>
              <a:t>never split mid-write</a:t>
            </a:r>
            <a:endParaRPr lang="en-US" sz="1000" dirty="0"/>
          </a:p>
        </p:txBody>
      </p:sp>
      <p:sp>
        <p:nvSpPr>
          <p:cNvPr id="14" name="Shape 12"/>
          <p:cNvSpPr/>
          <p:nvPr/>
        </p:nvSpPr>
        <p:spPr>
          <a:xfrm>
            <a:off x="457200" y="2880360"/>
            <a:ext cx="8275320" cy="868680"/>
          </a:xfrm>
          <a:prstGeom prst="rect">
            <a:avLst/>
          </a:prstGeom>
          <a:solidFill>
            <a:srgbClr val="FFFFFF"/>
          </a:solidFill>
          <a:ln w="12700">
            <a:solidFill>
              <a:srgbClr val="DDE1E6"/>
            </a:solidFill>
            <a:prstDash val="solid"/>
          </a:ln>
        </p:spPr>
      </p:sp>
      <p:sp>
        <p:nvSpPr>
          <p:cNvPr id="15" name="Shape 13"/>
          <p:cNvSpPr/>
          <p:nvPr/>
        </p:nvSpPr>
        <p:spPr>
          <a:xfrm>
            <a:off x="457200" y="2880360"/>
            <a:ext cx="64008" cy="868680"/>
          </a:xfrm>
          <a:prstGeom prst="rect">
            <a:avLst/>
          </a:prstGeom>
          <a:solidFill>
            <a:srgbClr val="0E8A8A"/>
          </a:solidFill>
          <a:ln/>
        </p:spPr>
      </p:sp>
      <p:sp>
        <p:nvSpPr>
          <p:cNvPr id="16" name="Text 14"/>
          <p:cNvSpPr/>
          <p:nvPr/>
        </p:nvSpPr>
        <p:spPr>
          <a:xfrm>
            <a:off x="658368" y="2944368"/>
            <a:ext cx="1280160" cy="182880"/>
          </a:xfrm>
          <a:prstGeom prst="rect">
            <a:avLst/>
          </a:prstGeom>
          <a:noFill/>
          <a:ln/>
        </p:spPr>
        <p:txBody>
          <a:bodyPr wrap="square" lIns="0" tIns="0" rIns="0" bIns="0" rtlCol="0" anchor="ctr"/>
          <a:lstStyle/>
          <a:p>
            <a:pPr marL="0" indent="0">
              <a:buNone/>
            </a:pPr>
            <a:r>
              <a:rPr lang="en-US" sz="850" b="1" kern="0" spc="200" dirty="0">
                <a:solidFill>
                  <a:srgbClr val="0E8A8A"/>
                </a:solidFill>
                <a:latin typeface="Trebuchet MS" pitchFamily="34" charset="0"/>
                <a:ea typeface="Trebuchet MS" pitchFamily="34" charset="-122"/>
                <a:cs typeface="Trebuchet MS" pitchFamily="34" charset="-120"/>
              </a:rPr>
              <a:t>ANSWER</a:t>
            </a:r>
            <a:endParaRPr lang="en-US" sz="850" dirty="0"/>
          </a:p>
        </p:txBody>
      </p:sp>
      <p:sp>
        <p:nvSpPr>
          <p:cNvPr id="17" name="Text 15"/>
          <p:cNvSpPr/>
          <p:nvPr/>
        </p:nvSpPr>
        <p:spPr>
          <a:xfrm>
            <a:off x="658368" y="3127248"/>
            <a:ext cx="7909560" cy="557784"/>
          </a:xfrm>
          <a:prstGeom prst="rect">
            <a:avLst/>
          </a:prstGeom>
          <a:noFill/>
          <a:ln/>
        </p:spPr>
        <p:txBody>
          <a:bodyPr wrap="square" lIns="0" tIns="0" rIns="0" bIns="0" rtlCol="0" anchor="t"/>
          <a:lstStyle/>
          <a:p>
            <a:pPr marL="0" indent="0">
              <a:buNone/>
            </a:pPr>
            <a:r>
              <a:rPr lang="en-US" sz="1200" b="1" dirty="0">
                <a:solidFill>
                  <a:srgbClr val="1F2937"/>
                </a:solidFill>
                <a:latin typeface="Calibri" pitchFamily="34" charset="0"/>
                <a:ea typeface="Calibri" pitchFamily="34" charset="-122"/>
                <a:cs typeface="Calibri" pitchFamily="34" charset="-120"/>
              </a:rPr>
              <a:t>Yes — safe per write. </a:t>
            </a:r>
            <a:r>
              <a:rPr lang="en-US" sz="1200" dirty="0">
                <a:solidFill>
                  <a:srgbClr val="1F2937"/>
                </a:solidFill>
                <a:latin typeface="Calibri" pitchFamily="34" charset="0"/>
                <a:ea typeface="Calibri" pitchFamily="34" charset="-122"/>
                <a:cs typeface="Calibri" pitchFamily="34" charset="-120"/>
              </a:rPr>
              <a:t>Each sio_puts is a single write(2), and O_APPEND makes every write(2) an atomic seek-to-EOF + write in the kernel, so concurrent writers' bytes never intermix within one call.  (Week 8: O_APPEND write atomicity.)</a:t>
            </a:r>
            <a:endParaRPr lang="en-US" sz="1200" dirty="0"/>
          </a:p>
        </p:txBody>
      </p:sp>
      <p:sp>
        <p:nvSpPr>
          <p:cNvPr id="18" name="Shape 16"/>
          <p:cNvSpPr/>
          <p:nvPr/>
        </p:nvSpPr>
        <p:spPr>
          <a:xfrm>
            <a:off x="457200" y="3886200"/>
            <a:ext cx="8275320" cy="868680"/>
          </a:xfrm>
          <a:prstGeom prst="rect">
            <a:avLst/>
          </a:prstGeom>
          <a:solidFill>
            <a:srgbClr val="FCF8EC"/>
          </a:solidFill>
          <a:ln w="12700">
            <a:solidFill>
              <a:srgbClr val="DDE1E6"/>
            </a:solidFill>
            <a:prstDash val="solid"/>
          </a:ln>
        </p:spPr>
      </p:sp>
      <p:sp>
        <p:nvSpPr>
          <p:cNvPr id="19" name="Shape 17"/>
          <p:cNvSpPr/>
          <p:nvPr/>
        </p:nvSpPr>
        <p:spPr>
          <a:xfrm>
            <a:off x="457200" y="3886200"/>
            <a:ext cx="64008" cy="868680"/>
          </a:xfrm>
          <a:prstGeom prst="rect">
            <a:avLst/>
          </a:prstGeom>
          <a:solidFill>
            <a:srgbClr val="B08400"/>
          </a:solidFill>
          <a:ln/>
        </p:spPr>
      </p:sp>
      <p:sp>
        <p:nvSpPr>
          <p:cNvPr id="20" name="Text 18"/>
          <p:cNvSpPr/>
          <p:nvPr/>
        </p:nvSpPr>
        <p:spPr>
          <a:xfrm>
            <a:off x="685800" y="4005072"/>
            <a:ext cx="7863840" cy="640080"/>
          </a:xfrm>
          <a:prstGeom prst="rect">
            <a:avLst/>
          </a:prstGeom>
          <a:noFill/>
          <a:ln/>
        </p:spPr>
        <p:txBody>
          <a:bodyPr wrap="square" lIns="0" tIns="0" rIns="0" bIns="0" rtlCol="0" anchor="ctr"/>
          <a:lstStyle/>
          <a:p>
            <a:pPr marL="0" indent="0">
              <a:buNone/>
            </a:pPr>
            <a:r>
              <a:rPr lang="en-US" sz="1150" b="1" dirty="0">
                <a:solidFill>
                  <a:srgbClr val="8A6800"/>
                </a:solidFill>
                <a:latin typeface="Calibri" pitchFamily="34" charset="0"/>
                <a:ea typeface="Calibri" pitchFamily="34" charset="-122"/>
                <a:cs typeface="Calibri" pitchFamily="34" charset="-120"/>
              </a:rPr>
              <a:t>Subtlety worth flagging:  </a:t>
            </a:r>
            <a:r>
              <a:rPr lang="en-US" sz="1150" dirty="0">
                <a:solidFill>
                  <a:srgbClr val="1F2937"/>
                </a:solidFill>
                <a:latin typeface="Calibri" pitchFamily="34" charset="0"/>
                <a:ea typeface="Calibri" pitchFamily="34" charset="-122"/>
                <a:cs typeface="Calibri" pitchFamily="34" charset="-120"/>
              </a:rPr>
              <a:t>the full line “reaped pid X\n” spans three sio_* calls. Main's flush can land between them and garble the line — but no single write is ever split.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15</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0E8A8A"/>
                </a:solidFill>
                <a:latin typeface="Trebuchet MS" pitchFamily="34" charset="0"/>
                <a:ea typeface="Trebuchet MS" pitchFamily="34" charset="-122"/>
                <a:cs typeface="Trebuchet MS" pitchFamily="34" charset="-120"/>
              </a:rPr>
              <a:t>PROBLEM 2 · TAKEAWAYS</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Four rules to carry into the Final Exam</a:t>
            </a:r>
            <a:endParaRPr lang="en-US" sz="2300" dirty="0"/>
          </a:p>
        </p:txBody>
      </p:sp>
      <p:sp>
        <p:nvSpPr>
          <p:cNvPr id="5" name="Shape 3"/>
          <p:cNvSpPr/>
          <p:nvPr/>
        </p:nvSpPr>
        <p:spPr>
          <a:xfrm>
            <a:off x="457200" y="1197864"/>
            <a:ext cx="420624" cy="420624"/>
          </a:xfrm>
          <a:prstGeom prst="ellipse">
            <a:avLst/>
          </a:prstGeom>
          <a:solidFill>
            <a:srgbClr val="0E8A8A"/>
          </a:solidFill>
          <a:ln/>
        </p:spPr>
      </p:sp>
      <p:sp>
        <p:nvSpPr>
          <p:cNvPr id="6" name="Text 4"/>
          <p:cNvSpPr/>
          <p:nvPr/>
        </p:nvSpPr>
        <p:spPr>
          <a:xfrm>
            <a:off x="457200" y="1197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7" name="Text 5"/>
          <p:cNvSpPr/>
          <p:nvPr/>
        </p:nvSpPr>
        <p:spPr>
          <a:xfrm>
            <a:off x="1051560" y="1143000"/>
            <a:ext cx="7680960" cy="77724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Count arrows, not files  —  </a:t>
            </a:r>
            <a:r>
              <a:rPr lang="en-US" sz="1250" dirty="0">
                <a:solidFill>
                  <a:srgbClr val="1F2937"/>
                </a:solidFill>
                <a:latin typeface="Calibri" pitchFamily="34" charset="0"/>
                <a:ea typeface="Calibri" pitchFamily="34" charset="-122"/>
                <a:cs typeface="Calibri" pitchFamily="34" charset="-120"/>
              </a:rPr>
              <a:t>Dup2 aliases descriptors onto existing OFT entries; Fork copies whole descriptor tables. Refcount = number of slots pointing in.</a:t>
            </a:r>
            <a:endParaRPr lang="en-US" sz="1250" dirty="0"/>
          </a:p>
        </p:txBody>
      </p:sp>
      <p:sp>
        <p:nvSpPr>
          <p:cNvPr id="8" name="Shape 6"/>
          <p:cNvSpPr/>
          <p:nvPr/>
        </p:nvSpPr>
        <p:spPr>
          <a:xfrm>
            <a:off x="457200" y="2066544"/>
            <a:ext cx="420624" cy="420624"/>
          </a:xfrm>
          <a:prstGeom prst="ellipse">
            <a:avLst/>
          </a:prstGeom>
          <a:solidFill>
            <a:srgbClr val="0E8A8A"/>
          </a:solidFill>
          <a:ln/>
        </p:spPr>
      </p:sp>
      <p:sp>
        <p:nvSpPr>
          <p:cNvPr id="9" name="Text 7"/>
          <p:cNvSpPr/>
          <p:nvPr/>
        </p:nvSpPr>
        <p:spPr>
          <a:xfrm>
            <a:off x="457200" y="20665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1051560" y="2011680"/>
            <a:ext cx="7680960" cy="77724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Races live in gaps  —  </a:t>
            </a:r>
            <a:r>
              <a:rPr lang="en-US" sz="1250" dirty="0">
                <a:solidFill>
                  <a:srgbClr val="1F2937"/>
                </a:solidFill>
                <a:latin typeface="Calibri" pitchFamily="34" charset="0"/>
                <a:ea typeface="Calibri" pitchFamily="34" charset="-122"/>
                <a:cs typeface="Calibri" pitchFamily="34" charset="-120"/>
              </a:rPr>
              <a:t>Any test-then-wait without blocking has a window where the event fires and is lost. Name the gap, drop a signal in it.</a:t>
            </a:r>
            <a:endParaRPr lang="en-US" sz="1250" dirty="0"/>
          </a:p>
        </p:txBody>
      </p:sp>
      <p:sp>
        <p:nvSpPr>
          <p:cNvPr id="11" name="Shape 9"/>
          <p:cNvSpPr/>
          <p:nvPr/>
        </p:nvSpPr>
        <p:spPr>
          <a:xfrm>
            <a:off x="457200" y="2935224"/>
            <a:ext cx="420624" cy="420624"/>
          </a:xfrm>
          <a:prstGeom prst="ellipse">
            <a:avLst/>
          </a:prstGeom>
          <a:solidFill>
            <a:srgbClr val="0E8A8A"/>
          </a:solidFill>
          <a:ln/>
        </p:spPr>
      </p:sp>
      <p:sp>
        <p:nvSpPr>
          <p:cNvPr id="12" name="Text 10"/>
          <p:cNvSpPr/>
          <p:nvPr/>
        </p:nvSpPr>
        <p:spPr>
          <a:xfrm>
            <a:off x="457200" y="29352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3" name="Text 11"/>
          <p:cNvSpPr/>
          <p:nvPr/>
        </p:nvSpPr>
        <p:spPr>
          <a:xfrm>
            <a:off x="1051560" y="2880360"/>
            <a:ext cx="7680960" cy="77724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sigsuspend = atomic unblock + sleep + re-block  —  </a:t>
            </a:r>
            <a:r>
              <a:rPr lang="en-US" sz="1250" dirty="0">
                <a:solidFill>
                  <a:srgbClr val="1F2937"/>
                </a:solidFill>
                <a:latin typeface="Calibri" pitchFamily="34" charset="0"/>
                <a:ea typeface="Calibri" pitchFamily="34" charset="-122"/>
                <a:cs typeface="Calibri" pitchFamily="34" charset="-120"/>
              </a:rPr>
              <a:t>Keep the signal blocked everywhere except inside the wait itself.</a:t>
            </a:r>
            <a:endParaRPr lang="en-US" sz="1250" dirty="0"/>
          </a:p>
        </p:txBody>
      </p:sp>
      <p:sp>
        <p:nvSpPr>
          <p:cNvPr id="14" name="Shape 12"/>
          <p:cNvSpPr/>
          <p:nvPr/>
        </p:nvSpPr>
        <p:spPr>
          <a:xfrm>
            <a:off x="457200" y="3803904"/>
            <a:ext cx="420624" cy="420624"/>
          </a:xfrm>
          <a:prstGeom prst="ellipse">
            <a:avLst/>
          </a:prstGeom>
          <a:solidFill>
            <a:srgbClr val="0E8A8A"/>
          </a:solidFill>
          <a:ln/>
        </p:spPr>
      </p:sp>
      <p:sp>
        <p:nvSpPr>
          <p:cNvPr id="15" name="Text 13"/>
          <p:cNvSpPr/>
          <p:nvPr/>
        </p:nvSpPr>
        <p:spPr>
          <a:xfrm>
            <a:off x="457200" y="380390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16" name="Text 14"/>
          <p:cNvSpPr/>
          <p:nvPr/>
        </p:nvSpPr>
        <p:spPr>
          <a:xfrm>
            <a:off x="1051560" y="3749040"/>
            <a:ext cx="7680960" cy="77724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Handlers: safe functions only + save errno  —  </a:t>
            </a:r>
            <a:r>
              <a:rPr lang="en-US" sz="1250" dirty="0">
                <a:solidFill>
                  <a:srgbClr val="1F2937"/>
                </a:solidFill>
                <a:latin typeface="Calibri" pitchFamily="34" charset="0"/>
                <a:ea typeface="Calibri" pitchFamily="34" charset="-122"/>
                <a:cs typeface="Calibri" pitchFamily="34" charset="-120"/>
              </a:rPr>
              <a:t>write/sio_* yes, printf no; snapshot errno on entry, restore on exit; O_APPEND makes each write(2) atomic at EOF.</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1C29"/>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76819B"/>
                </a:solidFill>
                <a:latin typeface="Calibri" pitchFamily="34" charset="0"/>
                <a:ea typeface="Calibri" pitchFamily="34" charset="-122"/>
                <a:cs typeface="Calibri" pitchFamily="34" charset="-120"/>
              </a:rPr>
              <a:t>ICS Quiz Walkthrough  ·  16</a:t>
            </a:r>
            <a:endParaRPr lang="en-US" sz="850" dirty="0"/>
          </a:p>
        </p:txBody>
      </p:sp>
      <p:sp>
        <p:nvSpPr>
          <p:cNvPr id="3" name="Shape 1"/>
          <p:cNvSpPr/>
          <p:nvPr/>
        </p:nvSpPr>
        <p:spPr>
          <a:xfrm>
            <a:off x="0" y="0"/>
            <a:ext cx="164592" cy="5143500"/>
          </a:xfrm>
          <a:prstGeom prst="rect">
            <a:avLst/>
          </a:prstGeom>
          <a:solidFill>
            <a:srgbClr val="C2641A"/>
          </a:solidFill>
          <a:ln/>
        </p:spPr>
      </p:sp>
      <p:sp>
        <p:nvSpPr>
          <p:cNvPr id="4" name="Text 2"/>
          <p:cNvSpPr/>
          <p:nvPr/>
        </p:nvSpPr>
        <p:spPr>
          <a:xfrm>
            <a:off x="640080" y="1005840"/>
            <a:ext cx="7315200" cy="274320"/>
          </a:xfrm>
          <a:prstGeom prst="rect">
            <a:avLst/>
          </a:prstGeom>
          <a:noFill/>
          <a:ln/>
        </p:spPr>
        <p:txBody>
          <a:bodyPr wrap="square" lIns="0" tIns="0" rIns="0" bIns="0" rtlCol="0" anchor="ctr"/>
          <a:lstStyle/>
          <a:p>
            <a:pPr marL="0" indent="0">
              <a:buNone/>
            </a:pPr>
            <a:r>
              <a:rPr lang="en-US" sz="1300" b="1" kern="0" spc="300" dirty="0">
                <a:solidFill>
                  <a:srgbClr val="C2641A"/>
                </a:solidFill>
                <a:latin typeface="Trebuchet MS" pitchFamily="34" charset="0"/>
                <a:ea typeface="Trebuchet MS" pitchFamily="34" charset="-122"/>
                <a:cs typeface="Trebuchet MS" pitchFamily="34" charset="-120"/>
              </a:rPr>
              <a:t>PROBLEM 3  ·  39 PTS</a:t>
            </a:r>
            <a:endParaRPr lang="en-US" sz="1300" dirty="0"/>
          </a:p>
        </p:txBody>
      </p:sp>
      <p:sp>
        <p:nvSpPr>
          <p:cNvPr id="5" name="Text 3"/>
          <p:cNvSpPr/>
          <p:nvPr/>
        </p:nvSpPr>
        <p:spPr>
          <a:xfrm>
            <a:off x="640080" y="1371600"/>
            <a:ext cx="8046720" cy="1463040"/>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Virtual memory:</a:t>
            </a:r>
            <a:endParaRPr lang="en-US" sz="3400" dirty="0"/>
          </a:p>
          <a:p>
            <a:pPr marL="0" indent="0">
              <a:buNone/>
            </a:pPr>
            <a:r>
              <a:rPr lang="en-US" sz="3400" b="1" dirty="0">
                <a:solidFill>
                  <a:srgbClr val="FFFFFF"/>
                </a:solidFill>
                <a:latin typeface="Trebuchet MS" pitchFamily="34" charset="0"/>
                <a:ea typeface="Trebuchet MS" pitchFamily="34" charset="-122"/>
                <a:cs typeface="Trebuchet MS" pitchFamily="34" charset="-120"/>
              </a:rPr>
              <a:t>page tables, caches, mmap</a:t>
            </a:r>
            <a:endParaRPr lang="en-US" sz="3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17</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3.1</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Bit-width fundamentals</a:t>
            </a:r>
            <a:endParaRPr lang="en-US" sz="2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75320" cy="3456432"/>
        </p:xfrm>
        <a:graphic>
          <a:graphicData uri="http://schemas.openxmlformats.org/drawingml/2006/table">
            <a:tbl>
              <a:tblPr/>
              <a:tblGrid>
                <a:gridCol w="30175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Quantity</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C2641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C2641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Where it comes from</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C2641A"/>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VPO / PPO</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94470F"/>
                          </a:solidFill>
                          <a:latin typeface="Courier New" pitchFamily="34" charset="0"/>
                          <a:ea typeface="Courier New" pitchFamily="34" charset="-122"/>
                          <a:cs typeface="Courier New" pitchFamily="34" charset="-120"/>
                        </a:rPr>
                        <a:t>12</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tc>
                  <a:txBody>
                    <a:bodyPr/>
                    <a:lstStyle/>
                    <a:p>
                      <a:pPr marL="0" indent="0">
                        <a:buNone/>
                      </a:pPr>
                      <a:r>
                        <a:rPr lang="en-US" sz="1100" dirty="0">
                          <a:solidFill>
                            <a:srgbClr val="6B7280"/>
                          </a:solidFill>
                          <a:latin typeface="Courier New" pitchFamily="34" charset="0"/>
                          <a:ea typeface="Courier New" pitchFamily="34" charset="-122"/>
                          <a:cs typeface="Courier New" pitchFamily="34" charset="-120"/>
                        </a:rPr>
                        <a:t>log₂ 4096 — page offset</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VPN</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tc>
                  <a:txBody>
                    <a:bodyPr/>
                    <a:lstStyle/>
                    <a:p>
                      <a:pPr marL="0" indent="0" algn="ctr">
                        <a:buNone/>
                      </a:pPr>
                      <a:r>
                        <a:rPr lang="en-US" sz="1200" b="1" dirty="0">
                          <a:solidFill>
                            <a:srgbClr val="94470F"/>
                          </a:solidFill>
                          <a:latin typeface="Courier New" pitchFamily="34" charset="0"/>
                          <a:ea typeface="Courier New" pitchFamily="34" charset="-122"/>
                          <a:cs typeface="Courier New" pitchFamily="34" charset="-120"/>
                        </a:rPr>
                        <a:t>36</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tc>
                  <a:txBody>
                    <a:bodyPr/>
                    <a:lstStyle/>
                    <a:p>
                      <a:pPr marL="0" indent="0">
                        <a:buNone/>
                      </a:pPr>
                      <a:r>
                        <a:rPr lang="en-US" sz="1100" dirty="0">
                          <a:solidFill>
                            <a:srgbClr val="6B7280"/>
                          </a:solidFill>
                          <a:latin typeface="Courier New" pitchFamily="34" charset="0"/>
                          <a:ea typeface="Courier New" pitchFamily="34" charset="-122"/>
                          <a:cs typeface="Courier New" pitchFamily="34" charset="-120"/>
                        </a:rPr>
                        <a:t>48 − 12</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PPN</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94470F"/>
                          </a:solidFill>
                          <a:latin typeface="Courier New" pitchFamily="34" charset="0"/>
                          <a:ea typeface="Courier New" pitchFamily="34" charset="-122"/>
                          <a:cs typeface="Courier New" pitchFamily="34" charset="-120"/>
                        </a:rPr>
                        <a:t>40</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tc>
                  <a:txBody>
                    <a:bodyPr/>
                    <a:lstStyle/>
                    <a:p>
                      <a:pPr marL="0" indent="0">
                        <a:buNone/>
                      </a:pPr>
                      <a:r>
                        <a:rPr lang="en-US" sz="1100" dirty="0">
                          <a:solidFill>
                            <a:srgbClr val="6B7280"/>
                          </a:solidFill>
                          <a:latin typeface="Courier New" pitchFamily="34" charset="0"/>
                          <a:ea typeface="Courier New" pitchFamily="34" charset="-122"/>
                          <a:cs typeface="Courier New" pitchFamily="34" charset="-120"/>
                        </a:rPr>
                        <a:t>52 − 12</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Entries per page-table page</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tc>
                  <a:txBody>
                    <a:bodyPr/>
                    <a:lstStyle/>
                    <a:p>
                      <a:pPr marL="0" indent="0" algn="ctr">
                        <a:buNone/>
                      </a:pPr>
                      <a:r>
                        <a:rPr lang="en-US" sz="1200" b="1" dirty="0">
                          <a:solidFill>
                            <a:srgbClr val="94470F"/>
                          </a:solidFill>
                          <a:latin typeface="Courier New" pitchFamily="34" charset="0"/>
                          <a:ea typeface="Courier New" pitchFamily="34" charset="-122"/>
                          <a:cs typeface="Courier New" pitchFamily="34" charset="-120"/>
                        </a:rPr>
                        <a:t>512</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tc>
                  <a:txBody>
                    <a:bodyPr/>
                    <a:lstStyle/>
                    <a:p>
                      <a:pPr marL="0" indent="0">
                        <a:buNone/>
                      </a:pPr>
                      <a:r>
                        <a:rPr lang="en-US" sz="1100" dirty="0">
                          <a:solidFill>
                            <a:srgbClr val="6B7280"/>
                          </a:solidFill>
                          <a:latin typeface="Courier New" pitchFamily="34" charset="0"/>
                          <a:ea typeface="Courier New" pitchFamily="34" charset="-122"/>
                          <a:cs typeface="Courier New" pitchFamily="34" charset="-120"/>
                        </a:rPr>
                        <a:t>4096 B ÷ 8 B per PTE</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Index bits per level</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94470F"/>
                          </a:solidFill>
                          <a:latin typeface="Courier New" pitchFamily="34" charset="0"/>
                          <a:ea typeface="Courier New" pitchFamily="34" charset="-122"/>
                          <a:cs typeface="Courier New" pitchFamily="34" charset="-120"/>
                        </a:rPr>
                        <a:t>9</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tc>
                  <a:txBody>
                    <a:bodyPr/>
                    <a:lstStyle/>
                    <a:p>
                      <a:pPr marL="0" indent="0">
                        <a:buNone/>
                      </a:pPr>
                      <a:r>
                        <a:rPr lang="en-US" sz="1100" dirty="0">
                          <a:solidFill>
                            <a:srgbClr val="6B7280"/>
                          </a:solidFill>
                          <a:latin typeface="Courier New" pitchFamily="34" charset="0"/>
                          <a:ea typeface="Courier New" pitchFamily="34" charset="-122"/>
                          <a:cs typeface="Courier New" pitchFamily="34" charset="-120"/>
                        </a:rPr>
                        <a:t>log₂ 512</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Cache offset (CO)</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tc>
                  <a:txBody>
                    <a:bodyPr/>
                    <a:lstStyle/>
                    <a:p>
                      <a:pPr marL="0" indent="0" algn="ctr">
                        <a:buNone/>
                      </a:pPr>
                      <a:r>
                        <a:rPr lang="en-US" sz="1200" b="1" dirty="0">
                          <a:solidFill>
                            <a:srgbClr val="94470F"/>
                          </a:solidFill>
                          <a:latin typeface="Courier New" pitchFamily="34" charset="0"/>
                          <a:ea typeface="Courier New" pitchFamily="34" charset="-122"/>
                          <a:cs typeface="Courier New" pitchFamily="34" charset="-120"/>
                        </a:rPr>
                        <a:t>6</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tc>
                  <a:txBody>
                    <a:bodyPr/>
                    <a:lstStyle/>
                    <a:p>
                      <a:pPr marL="0" indent="0">
                        <a:buNone/>
                      </a:pPr>
                      <a:r>
                        <a:rPr lang="en-US" sz="1100" dirty="0">
                          <a:solidFill>
                            <a:srgbClr val="6B7280"/>
                          </a:solidFill>
                          <a:latin typeface="Courier New" pitchFamily="34" charset="0"/>
                          <a:ea typeface="Courier New" pitchFamily="34" charset="-122"/>
                          <a:cs typeface="Courier New" pitchFamily="34" charset="-120"/>
                        </a:rPr>
                        <a:t>log₂ 64-byte line</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extLst>
                  <a:ext uri="{0D108BD9-81ED-4DB2-BD59-A6C34878D82A}">
                    <a16:rowId xmlns:a16="http://schemas.microsoft.com/office/drawing/2014/main" val="10006"/>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Cache index (CI)</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94470F"/>
                          </a:solidFill>
                          <a:latin typeface="Courier New" pitchFamily="34" charset="0"/>
                          <a:ea typeface="Courier New" pitchFamily="34" charset="-122"/>
                          <a:cs typeface="Courier New" pitchFamily="34" charset="-120"/>
                        </a:rPr>
                        <a:t>6</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tc>
                  <a:txBody>
                    <a:bodyPr/>
                    <a:lstStyle/>
                    <a:p>
                      <a:pPr marL="0" indent="0">
                        <a:buNone/>
                      </a:pPr>
                      <a:r>
                        <a:rPr lang="en-US" sz="1100" dirty="0">
                          <a:solidFill>
                            <a:srgbClr val="6B7280"/>
                          </a:solidFill>
                          <a:latin typeface="Courier New" pitchFamily="34" charset="0"/>
                          <a:ea typeface="Courier New" pitchFamily="34" charset="-122"/>
                          <a:cs typeface="Courier New" pitchFamily="34" charset="-120"/>
                        </a:rPr>
                        <a:t>log₂ 64 sets</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Cache tag (CT)</a:t>
                      </a:r>
                      <a:endParaRPr lang="en-US" sz="1100" dirty="0">
                        <a:latin typeface="Calibri" charset="0"/>
                        <a:ea typeface="Calibri" charset="0"/>
                        <a:cs typeface="Calibri"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tc>
                  <a:txBody>
                    <a:bodyPr/>
                    <a:lstStyle/>
                    <a:p>
                      <a:pPr marL="0" indent="0" algn="ctr">
                        <a:buNone/>
                      </a:pPr>
                      <a:r>
                        <a:rPr lang="en-US" sz="1200" b="1" dirty="0">
                          <a:solidFill>
                            <a:srgbClr val="94470F"/>
                          </a:solidFill>
                          <a:latin typeface="Courier New" pitchFamily="34" charset="0"/>
                          <a:ea typeface="Courier New" pitchFamily="34" charset="-122"/>
                          <a:cs typeface="Courier New" pitchFamily="34" charset="-120"/>
                        </a:rPr>
                        <a:t>40</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tc>
                  <a:txBody>
                    <a:bodyPr/>
                    <a:lstStyle/>
                    <a:p>
                      <a:pPr marL="0" indent="0">
                        <a:buNone/>
                      </a:pPr>
                      <a:r>
                        <a:rPr lang="en-US" sz="1100" dirty="0">
                          <a:solidFill>
                            <a:srgbClr val="6B7280"/>
                          </a:solidFill>
                          <a:latin typeface="Courier New" pitchFamily="34" charset="0"/>
                          <a:ea typeface="Courier New" pitchFamily="34" charset="-122"/>
                          <a:cs typeface="Courier New" pitchFamily="34" charset="-120"/>
                        </a:rPr>
                        <a:t>52 − 6 − 6 (physical)</a:t>
                      </a:r>
                      <a:endParaRPr lang="en-US" sz="1100" dirty="0">
                        <a:latin typeface="Courier New" charset="0"/>
                        <a:ea typeface="Courier New" charset="0"/>
                        <a:cs typeface="Courier New" charset="0"/>
                      </a:endParaRPr>
                    </a:p>
                  </a:txBody>
                  <a:tcPr marL="54864" marR="54864" marT="54864" marB="54864" anchor="ctr">
                    <a:lnL w="9525" cap="flat" cmpd="sng" algn="ctr">
                      <a:solidFill>
                        <a:srgbClr val="E4DED4"/>
                      </a:solidFill>
                      <a:prstDash val="solid"/>
                      <a:round/>
                      <a:headEnd type="none" w="med" len="med"/>
                      <a:tailEnd type="none" w="med" len="med"/>
                    </a:lnL>
                    <a:lnR w="9525" cap="flat" cmpd="sng" algn="ctr">
                      <a:solidFill>
                        <a:srgbClr val="E4DED4"/>
                      </a:solidFill>
                      <a:prstDash val="solid"/>
                      <a:round/>
                      <a:headEnd type="none" w="med" len="med"/>
                      <a:tailEnd type="none" w="med" len="med"/>
                    </a:lnR>
                    <a:lnT w="9525" cap="flat" cmpd="sng" algn="ctr">
                      <a:solidFill>
                        <a:srgbClr val="E4DED4"/>
                      </a:solidFill>
                      <a:prstDash val="solid"/>
                      <a:round/>
                      <a:headEnd type="none" w="med" len="med"/>
                      <a:tailEnd type="none" w="med" len="med"/>
                    </a:lnT>
                    <a:lnB w="9525" cap="flat" cmpd="sng" algn="ctr">
                      <a:solidFill>
                        <a:srgbClr val="E4DED4"/>
                      </a:solidFill>
                      <a:prstDash val="solid"/>
                      <a:round/>
                      <a:headEnd type="none" w="med" len="med"/>
                      <a:tailEnd type="none" w="med" len="med"/>
                    </a:lnB>
                    <a:solidFill>
                      <a:srgbClr val="F2EDE6"/>
                    </a:solidFill>
                  </a:tcPr>
                </a:tc>
                <a:extLst>
                  <a:ext uri="{0D108BD9-81ED-4DB2-BD59-A6C34878D82A}">
                    <a16:rowId xmlns:a16="http://schemas.microsoft.com/office/drawing/2014/main" val="10008"/>
                  </a:ext>
                </a:extLst>
              </a:tr>
            </a:tbl>
          </a:graphicData>
        </a:graphic>
      </p:graphicFrame>
      <p:pic>
        <p:nvPicPr>
          <p:cNvPr id="6" name="Picture 5">
            <a:extLst>
              <a:ext uri="{FF2B5EF4-FFF2-40B4-BE49-F238E27FC236}">
                <a16:creationId xmlns:a16="http://schemas.microsoft.com/office/drawing/2014/main" id="{1554E862-6827-EEFE-EDDB-9F73B2D5CBBF}"/>
              </a:ext>
            </a:extLst>
          </p:cNvPr>
          <p:cNvPicPr>
            <a:picLocks noChangeAspect="1"/>
          </p:cNvPicPr>
          <p:nvPr/>
        </p:nvPicPr>
        <p:blipFill>
          <a:blip r:embed="rId3"/>
          <a:stretch>
            <a:fillRect/>
          </a:stretch>
        </p:blipFill>
        <p:spPr>
          <a:xfrm>
            <a:off x="6896100" y="3448059"/>
            <a:ext cx="1960033" cy="16954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18</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3.2 SETUP</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Decompose the 8 MB region's addresses first</a:t>
            </a:r>
            <a:endParaRPr lang="en-US" sz="2300" dirty="0"/>
          </a:p>
        </p:txBody>
      </p:sp>
      <p:sp>
        <p:nvSpPr>
          <p:cNvPr id="5" name="Shape 3"/>
          <p:cNvSpPr/>
          <p:nvPr/>
        </p:nvSpPr>
        <p:spPr>
          <a:xfrm>
            <a:off x="640080" y="1234440"/>
            <a:ext cx="1474470" cy="502920"/>
          </a:xfrm>
          <a:prstGeom prst="rect">
            <a:avLst/>
          </a:prstGeom>
          <a:solidFill>
            <a:srgbClr val="F2EDE6"/>
          </a:solidFill>
          <a:ln w="12700">
            <a:solidFill>
              <a:srgbClr val="C9BFAE"/>
            </a:solidFill>
            <a:prstDash val="solid"/>
          </a:ln>
        </p:spPr>
      </p:sp>
      <p:sp>
        <p:nvSpPr>
          <p:cNvPr id="6" name="Text 4"/>
          <p:cNvSpPr/>
          <p:nvPr/>
        </p:nvSpPr>
        <p:spPr>
          <a:xfrm>
            <a:off x="640080" y="1234440"/>
            <a:ext cx="1474470" cy="502920"/>
          </a:xfrm>
          <a:prstGeom prst="rect">
            <a:avLst/>
          </a:prstGeom>
          <a:noFill/>
          <a:ln/>
        </p:spPr>
        <p:txBody>
          <a:bodyPr wrap="square" lIns="0" tIns="0" rIns="0" bIns="0" rtlCol="0" anchor="ctr"/>
          <a:lstStyle/>
          <a:p>
            <a:pPr marL="0" indent="0" algn="ctr">
              <a:buNone/>
            </a:pPr>
            <a:r>
              <a:rPr lang="en-US" sz="1150" b="1" dirty="0">
                <a:solidFill>
                  <a:srgbClr val="1F2937"/>
                </a:solidFill>
                <a:latin typeface="Courier New" pitchFamily="34" charset="0"/>
                <a:ea typeface="Courier New" pitchFamily="34" charset="-122"/>
                <a:cs typeface="Courier New" pitchFamily="34" charset="-120"/>
              </a:rPr>
              <a:t>L1 : 9</a:t>
            </a:r>
            <a:endParaRPr lang="en-US" sz="1150" dirty="0"/>
          </a:p>
        </p:txBody>
      </p:sp>
      <p:sp>
        <p:nvSpPr>
          <p:cNvPr id="7" name="Text 5"/>
          <p:cNvSpPr/>
          <p:nvPr/>
        </p:nvSpPr>
        <p:spPr>
          <a:xfrm>
            <a:off x="640080" y="1764792"/>
            <a:ext cx="1474470" cy="182880"/>
          </a:xfrm>
          <a:prstGeom prst="rect">
            <a:avLst/>
          </a:prstGeom>
          <a:noFill/>
          <a:ln/>
        </p:spPr>
        <p:txBody>
          <a:bodyPr wrap="square" lIns="0" tIns="0" rIns="0" bIns="0" rtlCol="0" anchor="ctr"/>
          <a:lstStyle/>
          <a:p>
            <a:pPr marL="0" indent="0" algn="ctr">
              <a:buNone/>
            </a:pPr>
            <a:r>
              <a:rPr lang="en-US" sz="850" dirty="0">
                <a:solidFill>
                  <a:srgbClr val="6B7280"/>
                </a:solidFill>
                <a:latin typeface="Courier New" pitchFamily="34" charset="0"/>
                <a:ea typeface="Courier New" pitchFamily="34" charset="-122"/>
                <a:cs typeface="Courier New" pitchFamily="34" charset="-120"/>
              </a:rPr>
              <a:t>bits 47–39</a:t>
            </a:r>
            <a:endParaRPr lang="en-US" sz="850" dirty="0"/>
          </a:p>
        </p:txBody>
      </p:sp>
      <p:sp>
        <p:nvSpPr>
          <p:cNvPr id="8" name="Shape 6"/>
          <p:cNvSpPr/>
          <p:nvPr/>
        </p:nvSpPr>
        <p:spPr>
          <a:xfrm>
            <a:off x="2114550" y="1234440"/>
            <a:ext cx="1474470" cy="502920"/>
          </a:xfrm>
          <a:prstGeom prst="rect">
            <a:avLst/>
          </a:prstGeom>
          <a:solidFill>
            <a:srgbClr val="F2EDE6"/>
          </a:solidFill>
          <a:ln w="12700">
            <a:solidFill>
              <a:srgbClr val="C9BFAE"/>
            </a:solidFill>
            <a:prstDash val="solid"/>
          </a:ln>
        </p:spPr>
      </p:sp>
      <p:sp>
        <p:nvSpPr>
          <p:cNvPr id="9" name="Text 7"/>
          <p:cNvSpPr/>
          <p:nvPr/>
        </p:nvSpPr>
        <p:spPr>
          <a:xfrm>
            <a:off x="2114550" y="1234440"/>
            <a:ext cx="1474470" cy="502920"/>
          </a:xfrm>
          <a:prstGeom prst="rect">
            <a:avLst/>
          </a:prstGeom>
          <a:noFill/>
          <a:ln/>
        </p:spPr>
        <p:txBody>
          <a:bodyPr wrap="square" lIns="0" tIns="0" rIns="0" bIns="0" rtlCol="0" anchor="ctr"/>
          <a:lstStyle/>
          <a:p>
            <a:pPr marL="0" indent="0" algn="ctr">
              <a:buNone/>
            </a:pPr>
            <a:r>
              <a:rPr lang="en-US" sz="1150" b="1" dirty="0">
                <a:solidFill>
                  <a:srgbClr val="1F2937"/>
                </a:solidFill>
                <a:latin typeface="Courier New" pitchFamily="34" charset="0"/>
                <a:ea typeface="Courier New" pitchFamily="34" charset="-122"/>
                <a:cs typeface="Courier New" pitchFamily="34" charset="-120"/>
              </a:rPr>
              <a:t>L2 : 9</a:t>
            </a:r>
            <a:endParaRPr lang="en-US" sz="1150" dirty="0"/>
          </a:p>
        </p:txBody>
      </p:sp>
      <p:sp>
        <p:nvSpPr>
          <p:cNvPr id="10" name="Text 8"/>
          <p:cNvSpPr/>
          <p:nvPr/>
        </p:nvSpPr>
        <p:spPr>
          <a:xfrm>
            <a:off x="2114550" y="1764792"/>
            <a:ext cx="1474470" cy="182880"/>
          </a:xfrm>
          <a:prstGeom prst="rect">
            <a:avLst/>
          </a:prstGeom>
          <a:noFill/>
          <a:ln/>
        </p:spPr>
        <p:txBody>
          <a:bodyPr wrap="square" lIns="0" tIns="0" rIns="0" bIns="0" rtlCol="0" anchor="ctr"/>
          <a:lstStyle/>
          <a:p>
            <a:pPr marL="0" indent="0" algn="ctr">
              <a:buNone/>
            </a:pPr>
            <a:r>
              <a:rPr lang="en-US" sz="850" dirty="0">
                <a:solidFill>
                  <a:srgbClr val="6B7280"/>
                </a:solidFill>
                <a:latin typeface="Courier New" pitchFamily="34" charset="0"/>
                <a:ea typeface="Courier New" pitchFamily="34" charset="-122"/>
                <a:cs typeface="Courier New" pitchFamily="34" charset="-120"/>
              </a:rPr>
              <a:t>bits 38–30</a:t>
            </a:r>
            <a:endParaRPr lang="en-US" sz="850" dirty="0"/>
          </a:p>
        </p:txBody>
      </p:sp>
      <p:sp>
        <p:nvSpPr>
          <p:cNvPr id="11" name="Shape 9"/>
          <p:cNvSpPr/>
          <p:nvPr/>
        </p:nvSpPr>
        <p:spPr>
          <a:xfrm>
            <a:off x="3589020" y="1234440"/>
            <a:ext cx="1474470" cy="502920"/>
          </a:xfrm>
          <a:prstGeom prst="rect">
            <a:avLst/>
          </a:prstGeom>
          <a:solidFill>
            <a:srgbClr val="C2641A"/>
          </a:solidFill>
          <a:ln w="12700">
            <a:solidFill>
              <a:srgbClr val="C9BFAE"/>
            </a:solidFill>
            <a:prstDash val="solid"/>
          </a:ln>
        </p:spPr>
      </p:sp>
      <p:sp>
        <p:nvSpPr>
          <p:cNvPr id="12" name="Text 10"/>
          <p:cNvSpPr/>
          <p:nvPr/>
        </p:nvSpPr>
        <p:spPr>
          <a:xfrm>
            <a:off x="3589020" y="1234440"/>
            <a:ext cx="147447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ourier New" pitchFamily="34" charset="0"/>
                <a:ea typeface="Courier New" pitchFamily="34" charset="-122"/>
                <a:cs typeface="Courier New" pitchFamily="34" charset="-120"/>
              </a:rPr>
              <a:t>L3 : 9</a:t>
            </a:r>
            <a:endParaRPr lang="en-US" sz="1150" dirty="0"/>
          </a:p>
        </p:txBody>
      </p:sp>
      <p:sp>
        <p:nvSpPr>
          <p:cNvPr id="13" name="Text 11"/>
          <p:cNvSpPr/>
          <p:nvPr/>
        </p:nvSpPr>
        <p:spPr>
          <a:xfrm>
            <a:off x="3589020" y="1764792"/>
            <a:ext cx="1474470" cy="182880"/>
          </a:xfrm>
          <a:prstGeom prst="rect">
            <a:avLst/>
          </a:prstGeom>
          <a:noFill/>
          <a:ln/>
        </p:spPr>
        <p:txBody>
          <a:bodyPr wrap="square" lIns="0" tIns="0" rIns="0" bIns="0" rtlCol="0" anchor="ctr"/>
          <a:lstStyle/>
          <a:p>
            <a:pPr marL="0" indent="0" algn="ctr">
              <a:buNone/>
            </a:pPr>
            <a:r>
              <a:rPr lang="en-US" sz="850" dirty="0">
                <a:solidFill>
                  <a:srgbClr val="6B7280"/>
                </a:solidFill>
                <a:latin typeface="Courier New" pitchFamily="34" charset="0"/>
                <a:ea typeface="Courier New" pitchFamily="34" charset="-122"/>
                <a:cs typeface="Courier New" pitchFamily="34" charset="-120"/>
              </a:rPr>
              <a:t>bits 29–21</a:t>
            </a:r>
            <a:endParaRPr lang="en-US" sz="850" dirty="0"/>
          </a:p>
        </p:txBody>
      </p:sp>
      <p:sp>
        <p:nvSpPr>
          <p:cNvPr id="14" name="Shape 12"/>
          <p:cNvSpPr/>
          <p:nvPr/>
        </p:nvSpPr>
        <p:spPr>
          <a:xfrm>
            <a:off x="5063490" y="1234440"/>
            <a:ext cx="1474470" cy="502920"/>
          </a:xfrm>
          <a:prstGeom prst="rect">
            <a:avLst/>
          </a:prstGeom>
          <a:solidFill>
            <a:srgbClr val="F2EDE6"/>
          </a:solidFill>
          <a:ln w="12700">
            <a:solidFill>
              <a:srgbClr val="C9BFAE"/>
            </a:solidFill>
            <a:prstDash val="solid"/>
          </a:ln>
        </p:spPr>
      </p:sp>
      <p:sp>
        <p:nvSpPr>
          <p:cNvPr id="15" name="Text 13"/>
          <p:cNvSpPr/>
          <p:nvPr/>
        </p:nvSpPr>
        <p:spPr>
          <a:xfrm>
            <a:off x="5063490" y="1234440"/>
            <a:ext cx="1474470" cy="502920"/>
          </a:xfrm>
          <a:prstGeom prst="rect">
            <a:avLst/>
          </a:prstGeom>
          <a:noFill/>
          <a:ln/>
        </p:spPr>
        <p:txBody>
          <a:bodyPr wrap="square" lIns="0" tIns="0" rIns="0" bIns="0" rtlCol="0" anchor="ctr"/>
          <a:lstStyle/>
          <a:p>
            <a:pPr marL="0" indent="0" algn="ctr">
              <a:buNone/>
            </a:pPr>
            <a:r>
              <a:rPr lang="en-US" sz="1150" b="1" dirty="0">
                <a:solidFill>
                  <a:srgbClr val="1F2937"/>
                </a:solidFill>
                <a:latin typeface="Courier New" pitchFamily="34" charset="0"/>
                <a:ea typeface="Courier New" pitchFamily="34" charset="-122"/>
                <a:cs typeface="Courier New" pitchFamily="34" charset="-120"/>
              </a:rPr>
              <a:t>L4 : 9</a:t>
            </a:r>
            <a:endParaRPr lang="en-US" sz="1150" dirty="0"/>
          </a:p>
        </p:txBody>
      </p:sp>
      <p:sp>
        <p:nvSpPr>
          <p:cNvPr id="16" name="Text 14"/>
          <p:cNvSpPr/>
          <p:nvPr/>
        </p:nvSpPr>
        <p:spPr>
          <a:xfrm>
            <a:off x="5063490" y="1764792"/>
            <a:ext cx="1474470" cy="182880"/>
          </a:xfrm>
          <a:prstGeom prst="rect">
            <a:avLst/>
          </a:prstGeom>
          <a:noFill/>
          <a:ln/>
        </p:spPr>
        <p:txBody>
          <a:bodyPr wrap="square" lIns="0" tIns="0" rIns="0" bIns="0" rtlCol="0" anchor="ctr"/>
          <a:lstStyle/>
          <a:p>
            <a:pPr marL="0" indent="0" algn="ctr">
              <a:buNone/>
            </a:pPr>
            <a:r>
              <a:rPr lang="en-US" sz="850" dirty="0">
                <a:solidFill>
                  <a:srgbClr val="6B7280"/>
                </a:solidFill>
                <a:latin typeface="Courier New" pitchFamily="34" charset="0"/>
                <a:ea typeface="Courier New" pitchFamily="34" charset="-122"/>
                <a:cs typeface="Courier New" pitchFamily="34" charset="-120"/>
              </a:rPr>
              <a:t>bits 20–12</a:t>
            </a:r>
            <a:endParaRPr lang="en-US" sz="850" dirty="0"/>
          </a:p>
        </p:txBody>
      </p:sp>
      <p:sp>
        <p:nvSpPr>
          <p:cNvPr id="17" name="Shape 15"/>
          <p:cNvSpPr/>
          <p:nvPr/>
        </p:nvSpPr>
        <p:spPr>
          <a:xfrm>
            <a:off x="6537960" y="1234440"/>
            <a:ext cx="1965960" cy="502920"/>
          </a:xfrm>
          <a:prstGeom prst="rect">
            <a:avLst/>
          </a:prstGeom>
          <a:solidFill>
            <a:srgbClr val="E8E4DC"/>
          </a:solidFill>
          <a:ln w="12700">
            <a:solidFill>
              <a:srgbClr val="C9BFAE"/>
            </a:solidFill>
            <a:prstDash val="solid"/>
          </a:ln>
        </p:spPr>
      </p:sp>
      <p:sp>
        <p:nvSpPr>
          <p:cNvPr id="18" name="Text 16"/>
          <p:cNvSpPr/>
          <p:nvPr/>
        </p:nvSpPr>
        <p:spPr>
          <a:xfrm>
            <a:off x="6537960" y="1234440"/>
            <a:ext cx="1965960" cy="502920"/>
          </a:xfrm>
          <a:prstGeom prst="rect">
            <a:avLst/>
          </a:prstGeom>
          <a:noFill/>
          <a:ln/>
        </p:spPr>
        <p:txBody>
          <a:bodyPr wrap="square" lIns="0" tIns="0" rIns="0" bIns="0" rtlCol="0" anchor="ctr"/>
          <a:lstStyle/>
          <a:p>
            <a:pPr marL="0" indent="0" algn="ctr">
              <a:buNone/>
            </a:pPr>
            <a:r>
              <a:rPr lang="en-US" sz="1150" b="1" dirty="0">
                <a:solidFill>
                  <a:srgbClr val="1F2937"/>
                </a:solidFill>
                <a:latin typeface="Courier New" pitchFamily="34" charset="0"/>
                <a:ea typeface="Courier New" pitchFamily="34" charset="-122"/>
                <a:cs typeface="Courier New" pitchFamily="34" charset="-120"/>
              </a:rPr>
              <a:t>VPO : 12</a:t>
            </a:r>
            <a:endParaRPr lang="en-US" sz="1150" dirty="0"/>
          </a:p>
        </p:txBody>
      </p:sp>
      <p:sp>
        <p:nvSpPr>
          <p:cNvPr id="19" name="Text 17"/>
          <p:cNvSpPr/>
          <p:nvPr/>
        </p:nvSpPr>
        <p:spPr>
          <a:xfrm>
            <a:off x="6537960" y="1764792"/>
            <a:ext cx="1965960" cy="182880"/>
          </a:xfrm>
          <a:prstGeom prst="rect">
            <a:avLst/>
          </a:prstGeom>
          <a:noFill/>
          <a:ln/>
        </p:spPr>
        <p:txBody>
          <a:bodyPr wrap="square" lIns="0" tIns="0" rIns="0" bIns="0" rtlCol="0" anchor="ctr"/>
          <a:lstStyle/>
          <a:p>
            <a:pPr marL="0" indent="0" algn="ctr">
              <a:buNone/>
            </a:pPr>
            <a:r>
              <a:rPr lang="en-US" sz="850" dirty="0">
                <a:solidFill>
                  <a:srgbClr val="6B7280"/>
                </a:solidFill>
                <a:latin typeface="Courier New" pitchFamily="34" charset="0"/>
                <a:ea typeface="Courier New" pitchFamily="34" charset="-122"/>
                <a:cs typeface="Courier New" pitchFamily="34" charset="-120"/>
              </a:rPr>
              <a:t>bits 11–0</a:t>
            </a:r>
            <a:endParaRPr lang="en-US" sz="850" dirty="0"/>
          </a:p>
        </p:txBody>
      </p:sp>
      <p:sp>
        <p:nvSpPr>
          <p:cNvPr id="20" name="Text 18"/>
          <p:cNvSpPr/>
          <p:nvPr/>
        </p:nvSpPr>
        <p:spPr>
          <a:xfrm>
            <a:off x="4206240" y="2212848"/>
            <a:ext cx="1042416" cy="182880"/>
          </a:xfrm>
          <a:prstGeom prst="rect">
            <a:avLst/>
          </a:prstGeom>
          <a:noFill/>
          <a:ln/>
        </p:spPr>
        <p:txBody>
          <a:bodyPr wrap="square" lIns="0" tIns="0" rIns="0" bIns="0" rtlCol="0" anchor="ctr"/>
          <a:lstStyle/>
          <a:p>
            <a:pPr marL="0" indent="0" algn="ctr">
              <a:buNone/>
            </a:pPr>
            <a:r>
              <a:rPr lang="en-US" sz="900" b="1" dirty="0">
                <a:solidFill>
                  <a:srgbClr val="6B7280"/>
                </a:solidFill>
                <a:latin typeface="Trebuchet MS" pitchFamily="34" charset="0"/>
                <a:ea typeface="Trebuchet MS" pitchFamily="34" charset="-122"/>
                <a:cs typeface="Trebuchet MS" pitchFamily="34" charset="-120"/>
              </a:rPr>
              <a:t>L1</a:t>
            </a:r>
            <a:endParaRPr lang="en-US" sz="900" dirty="0"/>
          </a:p>
        </p:txBody>
      </p:sp>
      <p:sp>
        <p:nvSpPr>
          <p:cNvPr id="21" name="Text 19"/>
          <p:cNvSpPr/>
          <p:nvPr/>
        </p:nvSpPr>
        <p:spPr>
          <a:xfrm>
            <a:off x="5358384" y="2212848"/>
            <a:ext cx="1042416" cy="182880"/>
          </a:xfrm>
          <a:prstGeom prst="rect">
            <a:avLst/>
          </a:prstGeom>
          <a:noFill/>
          <a:ln/>
        </p:spPr>
        <p:txBody>
          <a:bodyPr wrap="square" lIns="0" tIns="0" rIns="0" bIns="0" rtlCol="0" anchor="ctr"/>
          <a:lstStyle/>
          <a:p>
            <a:pPr marL="0" indent="0" algn="ctr">
              <a:buNone/>
            </a:pPr>
            <a:r>
              <a:rPr lang="en-US" sz="900" b="1" dirty="0">
                <a:solidFill>
                  <a:srgbClr val="6B7280"/>
                </a:solidFill>
                <a:latin typeface="Trebuchet MS" pitchFamily="34" charset="0"/>
                <a:ea typeface="Trebuchet MS" pitchFamily="34" charset="-122"/>
                <a:cs typeface="Trebuchet MS" pitchFamily="34" charset="-120"/>
              </a:rPr>
              <a:t>L2</a:t>
            </a:r>
            <a:endParaRPr lang="en-US" sz="900" dirty="0"/>
          </a:p>
        </p:txBody>
      </p:sp>
      <p:sp>
        <p:nvSpPr>
          <p:cNvPr id="22" name="Text 20"/>
          <p:cNvSpPr/>
          <p:nvPr/>
        </p:nvSpPr>
        <p:spPr>
          <a:xfrm>
            <a:off x="6510528" y="2212848"/>
            <a:ext cx="1042416" cy="182880"/>
          </a:xfrm>
          <a:prstGeom prst="rect">
            <a:avLst/>
          </a:prstGeom>
          <a:noFill/>
          <a:ln/>
        </p:spPr>
        <p:txBody>
          <a:bodyPr wrap="square" lIns="0" tIns="0" rIns="0" bIns="0" rtlCol="0" anchor="ctr"/>
          <a:lstStyle/>
          <a:p>
            <a:pPr marL="0" indent="0" algn="ctr">
              <a:buNone/>
            </a:pPr>
            <a:r>
              <a:rPr lang="en-US" sz="900" b="1" dirty="0">
                <a:solidFill>
                  <a:srgbClr val="6B7280"/>
                </a:solidFill>
                <a:latin typeface="Trebuchet MS" pitchFamily="34" charset="0"/>
                <a:ea typeface="Trebuchet MS" pitchFamily="34" charset="-122"/>
                <a:cs typeface="Trebuchet MS" pitchFamily="34" charset="-120"/>
              </a:rPr>
              <a:t>L3</a:t>
            </a:r>
            <a:endParaRPr lang="en-US" sz="900" dirty="0"/>
          </a:p>
        </p:txBody>
      </p:sp>
      <p:sp>
        <p:nvSpPr>
          <p:cNvPr id="23" name="Text 21"/>
          <p:cNvSpPr/>
          <p:nvPr/>
        </p:nvSpPr>
        <p:spPr>
          <a:xfrm>
            <a:off x="7662672" y="2212848"/>
            <a:ext cx="1042416" cy="182880"/>
          </a:xfrm>
          <a:prstGeom prst="rect">
            <a:avLst/>
          </a:prstGeom>
          <a:noFill/>
          <a:ln/>
        </p:spPr>
        <p:txBody>
          <a:bodyPr wrap="square" lIns="0" tIns="0" rIns="0" bIns="0" rtlCol="0" anchor="ctr"/>
          <a:lstStyle/>
          <a:p>
            <a:pPr marL="0" indent="0" algn="ctr">
              <a:buNone/>
            </a:pPr>
            <a:r>
              <a:rPr lang="en-US" sz="900" b="1" dirty="0">
                <a:solidFill>
                  <a:srgbClr val="6B7280"/>
                </a:solidFill>
                <a:latin typeface="Trebuchet MS" pitchFamily="34" charset="0"/>
                <a:ea typeface="Trebuchet MS" pitchFamily="34" charset="-122"/>
                <a:cs typeface="Trebuchet MS" pitchFamily="34" charset="-120"/>
              </a:rPr>
              <a:t>L4</a:t>
            </a:r>
            <a:endParaRPr lang="en-US" sz="900" dirty="0"/>
          </a:p>
        </p:txBody>
      </p:sp>
      <p:sp>
        <p:nvSpPr>
          <p:cNvPr id="24" name="Text 22"/>
          <p:cNvSpPr/>
          <p:nvPr/>
        </p:nvSpPr>
        <p:spPr>
          <a:xfrm>
            <a:off x="640080" y="2423160"/>
            <a:ext cx="960120" cy="502920"/>
          </a:xfrm>
          <a:prstGeom prst="rect">
            <a:avLst/>
          </a:prstGeom>
          <a:noFill/>
          <a:ln/>
        </p:spPr>
        <p:txBody>
          <a:bodyPr wrap="square" lIns="0" tIns="0" rIns="0" bIns="0" rtlCol="0" anchor="ctr"/>
          <a:lstStyle/>
          <a:p>
            <a:pPr marL="0" indent="0">
              <a:buNone/>
            </a:pPr>
            <a:r>
              <a:rPr lang="en-US" sz="1050" b="1" dirty="0">
                <a:solidFill>
                  <a:srgbClr val="6B7280"/>
                </a:solidFill>
                <a:latin typeface="Trebuchet MS" pitchFamily="34" charset="0"/>
                <a:ea typeface="Trebuchet MS" pitchFamily="34" charset="-122"/>
                <a:cs typeface="Trebuchet MS" pitchFamily="34" charset="-120"/>
              </a:rPr>
              <a:t>START</a:t>
            </a:r>
            <a:endParaRPr lang="en-US" sz="1050" dirty="0"/>
          </a:p>
        </p:txBody>
      </p:sp>
      <p:sp>
        <p:nvSpPr>
          <p:cNvPr id="25" name="Text 23"/>
          <p:cNvSpPr/>
          <p:nvPr/>
        </p:nvSpPr>
        <p:spPr>
          <a:xfrm>
            <a:off x="1600200" y="2423160"/>
            <a:ext cx="2514600" cy="502920"/>
          </a:xfrm>
          <a:prstGeom prst="rect">
            <a:avLst/>
          </a:prstGeom>
          <a:noFill/>
          <a:ln/>
        </p:spPr>
        <p:txBody>
          <a:bodyPr wrap="square" lIns="0" tIns="0" rIns="0" bIns="0" rtlCol="0" anchor="ctr"/>
          <a:lstStyle/>
          <a:p>
            <a:pPr marL="0" indent="0">
              <a:buNone/>
            </a:pPr>
            <a:r>
              <a:rPr lang="en-US" sz="1100" dirty="0">
                <a:solidFill>
                  <a:srgbClr val="1F2937"/>
                </a:solidFill>
                <a:latin typeface="Courier New" pitchFamily="34" charset="0"/>
                <a:ea typeface="Courier New" pitchFamily="34" charset="-122"/>
                <a:cs typeface="Courier New" pitchFamily="34" charset="-120"/>
              </a:rPr>
              <a:t>0x0000_0000_0040_0000</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 2²² (4 MB)</a:t>
            </a:r>
            <a:endParaRPr lang="en-US" sz="1100" dirty="0"/>
          </a:p>
        </p:txBody>
      </p:sp>
      <p:sp>
        <p:nvSpPr>
          <p:cNvPr id="26" name="Shape 24"/>
          <p:cNvSpPr/>
          <p:nvPr/>
        </p:nvSpPr>
        <p:spPr>
          <a:xfrm>
            <a:off x="4206240" y="2468880"/>
            <a:ext cx="1042416" cy="420624"/>
          </a:xfrm>
          <a:prstGeom prst="rect">
            <a:avLst/>
          </a:prstGeom>
          <a:solidFill>
            <a:srgbClr val="FFFFFF"/>
          </a:solidFill>
          <a:ln w="12700">
            <a:solidFill>
              <a:srgbClr val="DDE1E6"/>
            </a:solidFill>
            <a:prstDash val="solid"/>
          </a:ln>
        </p:spPr>
      </p:sp>
      <p:sp>
        <p:nvSpPr>
          <p:cNvPr id="27" name="Text 25"/>
          <p:cNvSpPr/>
          <p:nvPr/>
        </p:nvSpPr>
        <p:spPr>
          <a:xfrm>
            <a:off x="4206240" y="2468880"/>
            <a:ext cx="1042416" cy="420624"/>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0</a:t>
            </a:r>
            <a:endParaRPr lang="en-US" sz="1050" dirty="0"/>
          </a:p>
        </p:txBody>
      </p:sp>
      <p:sp>
        <p:nvSpPr>
          <p:cNvPr id="28" name="Shape 26"/>
          <p:cNvSpPr/>
          <p:nvPr/>
        </p:nvSpPr>
        <p:spPr>
          <a:xfrm>
            <a:off x="5358384" y="2468880"/>
            <a:ext cx="1042416" cy="420624"/>
          </a:xfrm>
          <a:prstGeom prst="rect">
            <a:avLst/>
          </a:prstGeom>
          <a:solidFill>
            <a:srgbClr val="FFFFFF"/>
          </a:solidFill>
          <a:ln w="12700">
            <a:solidFill>
              <a:srgbClr val="DDE1E6"/>
            </a:solidFill>
            <a:prstDash val="solid"/>
          </a:ln>
        </p:spPr>
      </p:sp>
      <p:sp>
        <p:nvSpPr>
          <p:cNvPr id="29" name="Text 27"/>
          <p:cNvSpPr/>
          <p:nvPr/>
        </p:nvSpPr>
        <p:spPr>
          <a:xfrm>
            <a:off x="5358384" y="2468880"/>
            <a:ext cx="1042416" cy="420624"/>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0</a:t>
            </a:r>
            <a:endParaRPr lang="en-US" sz="1050" dirty="0"/>
          </a:p>
        </p:txBody>
      </p:sp>
      <p:sp>
        <p:nvSpPr>
          <p:cNvPr id="30" name="Shape 28"/>
          <p:cNvSpPr/>
          <p:nvPr/>
        </p:nvSpPr>
        <p:spPr>
          <a:xfrm>
            <a:off x="6510528" y="2468880"/>
            <a:ext cx="1042416" cy="420624"/>
          </a:xfrm>
          <a:prstGeom prst="rect">
            <a:avLst/>
          </a:prstGeom>
          <a:solidFill>
            <a:srgbClr val="F8ECDF"/>
          </a:solidFill>
          <a:ln w="22225">
            <a:solidFill>
              <a:srgbClr val="C2641A"/>
            </a:solidFill>
            <a:prstDash val="solid"/>
          </a:ln>
        </p:spPr>
      </p:sp>
      <p:sp>
        <p:nvSpPr>
          <p:cNvPr id="31" name="Text 29"/>
          <p:cNvSpPr/>
          <p:nvPr/>
        </p:nvSpPr>
        <p:spPr>
          <a:xfrm>
            <a:off x="6510528" y="2468880"/>
            <a:ext cx="1042416" cy="420624"/>
          </a:xfrm>
          <a:prstGeom prst="rect">
            <a:avLst/>
          </a:prstGeom>
          <a:noFill/>
          <a:ln/>
        </p:spPr>
        <p:txBody>
          <a:bodyPr wrap="square" lIns="0" tIns="0" rIns="0" bIns="0" rtlCol="0" anchor="ctr"/>
          <a:lstStyle/>
          <a:p>
            <a:pPr marL="0" indent="0" algn="ctr">
              <a:buNone/>
            </a:pPr>
            <a:r>
              <a:rPr lang="en-US" sz="1050" b="1" dirty="0">
                <a:solidFill>
                  <a:srgbClr val="94470F"/>
                </a:solidFill>
                <a:latin typeface="Courier New" pitchFamily="34" charset="0"/>
                <a:ea typeface="Courier New" pitchFamily="34" charset="-122"/>
                <a:cs typeface="Courier New" pitchFamily="34" charset="-120"/>
              </a:rPr>
              <a:t>2</a:t>
            </a:r>
            <a:endParaRPr lang="en-US" sz="1050" dirty="0"/>
          </a:p>
        </p:txBody>
      </p:sp>
      <p:sp>
        <p:nvSpPr>
          <p:cNvPr id="32" name="Shape 30"/>
          <p:cNvSpPr/>
          <p:nvPr/>
        </p:nvSpPr>
        <p:spPr>
          <a:xfrm>
            <a:off x="7662672" y="2468880"/>
            <a:ext cx="1042416" cy="420624"/>
          </a:xfrm>
          <a:prstGeom prst="rect">
            <a:avLst/>
          </a:prstGeom>
          <a:solidFill>
            <a:srgbClr val="FFFFFF"/>
          </a:solidFill>
          <a:ln w="12700">
            <a:solidFill>
              <a:srgbClr val="DDE1E6"/>
            </a:solidFill>
            <a:prstDash val="solid"/>
          </a:ln>
        </p:spPr>
      </p:sp>
      <p:sp>
        <p:nvSpPr>
          <p:cNvPr id="33" name="Text 31"/>
          <p:cNvSpPr/>
          <p:nvPr/>
        </p:nvSpPr>
        <p:spPr>
          <a:xfrm>
            <a:off x="7662672" y="2468880"/>
            <a:ext cx="1042416" cy="420624"/>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0</a:t>
            </a:r>
            <a:endParaRPr lang="en-US" sz="1050" dirty="0"/>
          </a:p>
        </p:txBody>
      </p:sp>
      <p:sp>
        <p:nvSpPr>
          <p:cNvPr id="34" name="Text 32"/>
          <p:cNvSpPr/>
          <p:nvPr/>
        </p:nvSpPr>
        <p:spPr>
          <a:xfrm>
            <a:off x="640080" y="3063240"/>
            <a:ext cx="960120" cy="502920"/>
          </a:xfrm>
          <a:prstGeom prst="rect">
            <a:avLst/>
          </a:prstGeom>
          <a:noFill/>
          <a:ln/>
        </p:spPr>
        <p:txBody>
          <a:bodyPr wrap="square" lIns="0" tIns="0" rIns="0" bIns="0" rtlCol="0" anchor="ctr"/>
          <a:lstStyle/>
          <a:p>
            <a:pPr marL="0" indent="0">
              <a:buNone/>
            </a:pPr>
            <a:r>
              <a:rPr lang="en-US" sz="1050" b="1" dirty="0">
                <a:solidFill>
                  <a:srgbClr val="6B7280"/>
                </a:solidFill>
                <a:latin typeface="Trebuchet MS" pitchFamily="34" charset="0"/>
                <a:ea typeface="Trebuchet MS" pitchFamily="34" charset="-122"/>
                <a:cs typeface="Trebuchet MS" pitchFamily="34" charset="-120"/>
              </a:rPr>
              <a:t>END</a:t>
            </a:r>
            <a:endParaRPr lang="en-US" sz="1050" dirty="0"/>
          </a:p>
        </p:txBody>
      </p:sp>
      <p:sp>
        <p:nvSpPr>
          <p:cNvPr id="35" name="Text 33"/>
          <p:cNvSpPr/>
          <p:nvPr/>
        </p:nvSpPr>
        <p:spPr>
          <a:xfrm>
            <a:off x="1600200" y="3063240"/>
            <a:ext cx="2514600" cy="502920"/>
          </a:xfrm>
          <a:prstGeom prst="rect">
            <a:avLst/>
          </a:prstGeom>
          <a:noFill/>
          <a:ln/>
        </p:spPr>
        <p:txBody>
          <a:bodyPr wrap="square" lIns="0" tIns="0" rIns="0" bIns="0" rtlCol="0" anchor="ctr"/>
          <a:lstStyle/>
          <a:p>
            <a:pPr marL="0" indent="0">
              <a:buNone/>
            </a:pPr>
            <a:r>
              <a:rPr lang="en-US" sz="1100" dirty="0">
                <a:solidFill>
                  <a:srgbClr val="1F2937"/>
                </a:solidFill>
                <a:latin typeface="Courier New" pitchFamily="34" charset="0"/>
                <a:ea typeface="Courier New" pitchFamily="34" charset="-122"/>
                <a:cs typeface="Courier New" pitchFamily="34" charset="-120"/>
              </a:rPr>
              <a:t>0x0000_0000_00BF_FFFF</a:t>
            </a:r>
            <a:endParaRPr lang="en-US" sz="1100" dirty="0"/>
          </a:p>
          <a:p>
            <a:pPr marL="0" indent="0">
              <a:buNone/>
            </a:pPr>
            <a:r>
              <a:rPr lang="en-US" sz="1100" dirty="0">
                <a:solidFill>
                  <a:srgbClr val="1F2937"/>
                </a:solidFill>
                <a:latin typeface="Courier New" pitchFamily="34" charset="0"/>
                <a:ea typeface="Courier New" pitchFamily="34" charset="-122"/>
                <a:cs typeface="Courier New" pitchFamily="34" charset="-120"/>
              </a:rPr>
              <a:t>= start + 8 MB − 1</a:t>
            </a:r>
            <a:endParaRPr lang="en-US" sz="1100" dirty="0"/>
          </a:p>
        </p:txBody>
      </p:sp>
      <p:sp>
        <p:nvSpPr>
          <p:cNvPr id="36" name="Shape 34"/>
          <p:cNvSpPr/>
          <p:nvPr/>
        </p:nvSpPr>
        <p:spPr>
          <a:xfrm>
            <a:off x="4206240" y="3108960"/>
            <a:ext cx="1042416" cy="420624"/>
          </a:xfrm>
          <a:prstGeom prst="rect">
            <a:avLst/>
          </a:prstGeom>
          <a:solidFill>
            <a:srgbClr val="FFFFFF"/>
          </a:solidFill>
          <a:ln w="12700">
            <a:solidFill>
              <a:srgbClr val="DDE1E6"/>
            </a:solidFill>
            <a:prstDash val="solid"/>
          </a:ln>
        </p:spPr>
      </p:sp>
      <p:sp>
        <p:nvSpPr>
          <p:cNvPr id="37" name="Text 35"/>
          <p:cNvSpPr/>
          <p:nvPr/>
        </p:nvSpPr>
        <p:spPr>
          <a:xfrm>
            <a:off x="4206240" y="3108960"/>
            <a:ext cx="1042416" cy="420624"/>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0</a:t>
            </a:r>
            <a:endParaRPr lang="en-US" sz="1050" dirty="0"/>
          </a:p>
        </p:txBody>
      </p:sp>
      <p:sp>
        <p:nvSpPr>
          <p:cNvPr id="38" name="Shape 36"/>
          <p:cNvSpPr/>
          <p:nvPr/>
        </p:nvSpPr>
        <p:spPr>
          <a:xfrm>
            <a:off x="5358384" y="3108960"/>
            <a:ext cx="1042416" cy="420624"/>
          </a:xfrm>
          <a:prstGeom prst="rect">
            <a:avLst/>
          </a:prstGeom>
          <a:solidFill>
            <a:srgbClr val="FFFFFF"/>
          </a:solidFill>
          <a:ln w="12700">
            <a:solidFill>
              <a:srgbClr val="DDE1E6"/>
            </a:solidFill>
            <a:prstDash val="solid"/>
          </a:ln>
        </p:spPr>
      </p:sp>
      <p:sp>
        <p:nvSpPr>
          <p:cNvPr id="39" name="Text 37"/>
          <p:cNvSpPr/>
          <p:nvPr/>
        </p:nvSpPr>
        <p:spPr>
          <a:xfrm>
            <a:off x="5358384" y="3108960"/>
            <a:ext cx="1042416" cy="420624"/>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0</a:t>
            </a:r>
            <a:endParaRPr lang="en-US" sz="1050" dirty="0"/>
          </a:p>
        </p:txBody>
      </p:sp>
      <p:sp>
        <p:nvSpPr>
          <p:cNvPr id="40" name="Shape 38"/>
          <p:cNvSpPr/>
          <p:nvPr/>
        </p:nvSpPr>
        <p:spPr>
          <a:xfrm>
            <a:off x="6510528" y="3108960"/>
            <a:ext cx="1042416" cy="420624"/>
          </a:xfrm>
          <a:prstGeom prst="rect">
            <a:avLst/>
          </a:prstGeom>
          <a:solidFill>
            <a:srgbClr val="F8ECDF"/>
          </a:solidFill>
          <a:ln w="22225">
            <a:solidFill>
              <a:srgbClr val="C2641A"/>
            </a:solidFill>
            <a:prstDash val="solid"/>
          </a:ln>
        </p:spPr>
      </p:sp>
      <p:sp>
        <p:nvSpPr>
          <p:cNvPr id="41" name="Text 39"/>
          <p:cNvSpPr/>
          <p:nvPr/>
        </p:nvSpPr>
        <p:spPr>
          <a:xfrm>
            <a:off x="6510528" y="3108960"/>
            <a:ext cx="1042416" cy="420624"/>
          </a:xfrm>
          <a:prstGeom prst="rect">
            <a:avLst/>
          </a:prstGeom>
          <a:noFill/>
          <a:ln/>
        </p:spPr>
        <p:txBody>
          <a:bodyPr wrap="square" lIns="0" tIns="0" rIns="0" bIns="0" rtlCol="0" anchor="ctr"/>
          <a:lstStyle/>
          <a:p>
            <a:pPr marL="0" indent="0" algn="ctr">
              <a:buNone/>
            </a:pPr>
            <a:r>
              <a:rPr lang="en-US" sz="1050" b="1" dirty="0">
                <a:solidFill>
                  <a:srgbClr val="94470F"/>
                </a:solidFill>
                <a:latin typeface="Courier New" pitchFamily="34" charset="0"/>
                <a:ea typeface="Courier New" pitchFamily="34" charset="-122"/>
                <a:cs typeface="Courier New" pitchFamily="34" charset="-120"/>
              </a:rPr>
              <a:t>5</a:t>
            </a:r>
            <a:endParaRPr lang="en-US" sz="1050" dirty="0"/>
          </a:p>
        </p:txBody>
      </p:sp>
      <p:sp>
        <p:nvSpPr>
          <p:cNvPr id="42" name="Shape 40"/>
          <p:cNvSpPr/>
          <p:nvPr/>
        </p:nvSpPr>
        <p:spPr>
          <a:xfrm>
            <a:off x="7662672" y="3108960"/>
            <a:ext cx="1042416" cy="420624"/>
          </a:xfrm>
          <a:prstGeom prst="rect">
            <a:avLst/>
          </a:prstGeom>
          <a:solidFill>
            <a:srgbClr val="FFFFFF"/>
          </a:solidFill>
          <a:ln w="12700">
            <a:solidFill>
              <a:srgbClr val="DDE1E6"/>
            </a:solidFill>
            <a:prstDash val="solid"/>
          </a:ln>
        </p:spPr>
      </p:sp>
      <p:sp>
        <p:nvSpPr>
          <p:cNvPr id="43" name="Text 41"/>
          <p:cNvSpPr/>
          <p:nvPr/>
        </p:nvSpPr>
        <p:spPr>
          <a:xfrm>
            <a:off x="7662672" y="3108960"/>
            <a:ext cx="1042416" cy="420624"/>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511</a:t>
            </a:r>
            <a:endParaRPr lang="en-US" sz="1050" dirty="0"/>
          </a:p>
        </p:txBody>
      </p:sp>
      <p:sp>
        <p:nvSpPr>
          <p:cNvPr id="44" name="Shape 42"/>
          <p:cNvSpPr/>
          <p:nvPr/>
        </p:nvSpPr>
        <p:spPr>
          <a:xfrm>
            <a:off x="457200" y="3886200"/>
            <a:ext cx="8275320" cy="868680"/>
          </a:xfrm>
          <a:prstGeom prst="rect">
            <a:avLst/>
          </a:prstGeom>
          <a:solidFill>
            <a:srgbClr val="FFFFFF"/>
          </a:solidFill>
          <a:ln w="12700">
            <a:solidFill>
              <a:srgbClr val="DDE1E6"/>
            </a:solidFill>
            <a:prstDash val="solid"/>
          </a:ln>
        </p:spPr>
      </p:sp>
      <p:sp>
        <p:nvSpPr>
          <p:cNvPr id="45" name="Shape 43"/>
          <p:cNvSpPr/>
          <p:nvPr/>
        </p:nvSpPr>
        <p:spPr>
          <a:xfrm>
            <a:off x="457200" y="3886200"/>
            <a:ext cx="64008" cy="868680"/>
          </a:xfrm>
          <a:prstGeom prst="rect">
            <a:avLst/>
          </a:prstGeom>
          <a:solidFill>
            <a:srgbClr val="C2641A"/>
          </a:solidFill>
          <a:ln/>
        </p:spPr>
      </p:sp>
      <p:sp>
        <p:nvSpPr>
          <p:cNvPr id="46" name="Text 44"/>
          <p:cNvSpPr/>
          <p:nvPr/>
        </p:nvSpPr>
        <p:spPr>
          <a:xfrm>
            <a:off x="658368" y="3950208"/>
            <a:ext cx="1280160" cy="182880"/>
          </a:xfrm>
          <a:prstGeom prst="rect">
            <a:avLst/>
          </a:prstGeom>
          <a:noFill/>
          <a:ln/>
        </p:spPr>
        <p:txBody>
          <a:bodyPr wrap="square" lIns="0" tIns="0" rIns="0" bIns="0" rtlCol="0" anchor="ctr"/>
          <a:lstStyle/>
          <a:p>
            <a:pPr marL="0" indent="0">
              <a:buNone/>
            </a:pPr>
            <a:r>
              <a:rPr lang="en-US" sz="850" b="1" kern="0" spc="200" dirty="0">
                <a:solidFill>
                  <a:srgbClr val="C2641A"/>
                </a:solidFill>
                <a:latin typeface="Trebuchet MS" pitchFamily="34" charset="0"/>
                <a:ea typeface="Trebuchet MS" pitchFamily="34" charset="-122"/>
                <a:cs typeface="Trebuchet MS" pitchFamily="34" charset="-120"/>
              </a:rPr>
              <a:t>ANSWER</a:t>
            </a:r>
            <a:endParaRPr lang="en-US" sz="850" dirty="0"/>
          </a:p>
        </p:txBody>
      </p:sp>
      <p:sp>
        <p:nvSpPr>
          <p:cNvPr id="47" name="Text 45"/>
          <p:cNvSpPr/>
          <p:nvPr/>
        </p:nvSpPr>
        <p:spPr>
          <a:xfrm>
            <a:off x="658368" y="4133088"/>
            <a:ext cx="7909560" cy="557784"/>
          </a:xfrm>
          <a:prstGeom prst="rect">
            <a:avLst/>
          </a:prstGeom>
          <a:noFill/>
          <a:ln/>
        </p:spPr>
        <p:txBody>
          <a:bodyPr wrap="square" lIns="0" tIns="0" rIns="0" bIns="0" rtlCol="0" anchor="t"/>
          <a:lstStyle/>
          <a:p>
            <a:pPr marL="0" indent="0">
              <a:buNone/>
            </a:pPr>
            <a:r>
              <a:rPr lang="en-US" sz="1200" b="1" dirty="0">
                <a:solidFill>
                  <a:srgbClr val="1F2937"/>
                </a:solidFill>
                <a:latin typeface="Calibri" pitchFamily="34" charset="0"/>
                <a:ea typeface="Calibri" pitchFamily="34" charset="-122"/>
                <a:cs typeface="Calibri" pitchFamily="34" charset="-120"/>
              </a:rPr>
              <a:t>Each L3 entry covers 2⁹ × 2¹² = 2 MB (one full L4 table). </a:t>
            </a:r>
            <a:r>
              <a:rPr lang="en-US" sz="1200" dirty="0">
                <a:solidFill>
                  <a:srgbClr val="1F2937"/>
                </a:solidFill>
                <a:latin typeface="Calibri" pitchFamily="34" charset="0"/>
                <a:ea typeface="Calibri" pitchFamily="34" charset="-122"/>
                <a:cs typeface="Calibri" pitchFamily="34" charset="-120"/>
              </a:rPr>
              <a:t>The 8 MB region spans L3 indices {2, 3, 4, 5} — four L3 entries, each needing its own L4 page.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19</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3.2 (A)</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4 KB pages: count pages at each level</a:t>
            </a:r>
            <a:endParaRPr lang="en-US" sz="2300" dirty="0"/>
          </a:p>
        </p:txBody>
      </p:sp>
      <p:sp>
        <p:nvSpPr>
          <p:cNvPr id="5" name="Shape 3"/>
          <p:cNvSpPr/>
          <p:nvPr/>
        </p:nvSpPr>
        <p:spPr>
          <a:xfrm>
            <a:off x="548640" y="1371600"/>
            <a:ext cx="1417320" cy="548640"/>
          </a:xfrm>
          <a:prstGeom prst="rect">
            <a:avLst/>
          </a:prstGeom>
          <a:solidFill>
            <a:srgbClr val="FFFFFF"/>
          </a:solidFill>
          <a:ln w="12700">
            <a:solidFill>
              <a:srgbClr val="DDE1E6"/>
            </a:solidFill>
            <a:prstDash val="solid"/>
          </a:ln>
        </p:spPr>
      </p:sp>
      <p:sp>
        <p:nvSpPr>
          <p:cNvPr id="6" name="Text 4"/>
          <p:cNvSpPr/>
          <p:nvPr/>
        </p:nvSpPr>
        <p:spPr>
          <a:xfrm>
            <a:off x="548640" y="1371600"/>
            <a:ext cx="1417320" cy="548640"/>
          </a:xfrm>
          <a:prstGeom prst="rect">
            <a:avLst/>
          </a:prstGeom>
          <a:noFill/>
          <a:ln/>
        </p:spPr>
        <p:txBody>
          <a:bodyPr wrap="square" lIns="381" tIns="381" rIns="381" bIns="381"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L1 (PML4)</a:t>
            </a:r>
            <a:endParaRPr lang="en-US" sz="1000" dirty="0"/>
          </a:p>
          <a:p>
            <a:pPr marL="0" indent="0" algn="ctr">
              <a:buNone/>
            </a:pPr>
            <a:r>
              <a:rPr lang="en-US" sz="1000" b="1" dirty="0">
                <a:solidFill>
                  <a:srgbClr val="1F2937"/>
                </a:solidFill>
                <a:latin typeface="Calibri" pitchFamily="34" charset="0"/>
                <a:ea typeface="Calibri" pitchFamily="34" charset="-122"/>
                <a:cs typeface="Calibri" pitchFamily="34" charset="-120"/>
              </a:rPr>
              <a:t>index {0}</a:t>
            </a:r>
            <a:endParaRPr lang="en-US" sz="1000" dirty="0"/>
          </a:p>
        </p:txBody>
      </p:sp>
      <p:sp>
        <p:nvSpPr>
          <p:cNvPr id="7" name="Shape 5"/>
          <p:cNvSpPr/>
          <p:nvPr/>
        </p:nvSpPr>
        <p:spPr>
          <a:xfrm>
            <a:off x="2606040" y="1371600"/>
            <a:ext cx="1417320" cy="548640"/>
          </a:xfrm>
          <a:prstGeom prst="rect">
            <a:avLst/>
          </a:prstGeom>
          <a:solidFill>
            <a:srgbClr val="FFFFFF"/>
          </a:solidFill>
          <a:ln w="12700">
            <a:solidFill>
              <a:srgbClr val="DDE1E6"/>
            </a:solidFill>
            <a:prstDash val="solid"/>
          </a:ln>
        </p:spPr>
      </p:sp>
      <p:sp>
        <p:nvSpPr>
          <p:cNvPr id="8" name="Text 6"/>
          <p:cNvSpPr/>
          <p:nvPr/>
        </p:nvSpPr>
        <p:spPr>
          <a:xfrm>
            <a:off x="2606040" y="1371600"/>
            <a:ext cx="1417320" cy="548640"/>
          </a:xfrm>
          <a:prstGeom prst="rect">
            <a:avLst/>
          </a:prstGeom>
          <a:noFill/>
          <a:ln/>
        </p:spPr>
        <p:txBody>
          <a:bodyPr wrap="square" lIns="381" tIns="381" rIns="381" bIns="381"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L2 (PDPT)</a:t>
            </a:r>
            <a:endParaRPr lang="en-US" sz="1000" dirty="0"/>
          </a:p>
          <a:p>
            <a:pPr marL="0" indent="0" algn="ctr">
              <a:buNone/>
            </a:pPr>
            <a:r>
              <a:rPr lang="en-US" sz="1000" b="1" dirty="0">
                <a:solidFill>
                  <a:srgbClr val="1F2937"/>
                </a:solidFill>
                <a:latin typeface="Calibri" pitchFamily="34" charset="0"/>
                <a:ea typeface="Calibri" pitchFamily="34" charset="-122"/>
                <a:cs typeface="Calibri" pitchFamily="34" charset="-120"/>
              </a:rPr>
              <a:t>index {0}</a:t>
            </a:r>
            <a:endParaRPr lang="en-US" sz="1000" dirty="0"/>
          </a:p>
        </p:txBody>
      </p:sp>
      <p:sp>
        <p:nvSpPr>
          <p:cNvPr id="9" name="Shape 7"/>
          <p:cNvSpPr/>
          <p:nvPr/>
        </p:nvSpPr>
        <p:spPr>
          <a:xfrm>
            <a:off x="4663440" y="1280160"/>
            <a:ext cx="1600200" cy="731520"/>
          </a:xfrm>
          <a:prstGeom prst="rect">
            <a:avLst/>
          </a:prstGeom>
          <a:solidFill>
            <a:srgbClr val="F8ECDF"/>
          </a:solidFill>
          <a:ln w="25400">
            <a:solidFill>
              <a:srgbClr val="C2641A"/>
            </a:solidFill>
            <a:prstDash val="solid"/>
          </a:ln>
        </p:spPr>
      </p:sp>
      <p:sp>
        <p:nvSpPr>
          <p:cNvPr id="10" name="Text 8"/>
          <p:cNvSpPr/>
          <p:nvPr/>
        </p:nvSpPr>
        <p:spPr>
          <a:xfrm>
            <a:off x="4663440" y="1280160"/>
            <a:ext cx="1600200" cy="731520"/>
          </a:xfrm>
          <a:prstGeom prst="rect">
            <a:avLst/>
          </a:prstGeom>
          <a:noFill/>
          <a:ln/>
        </p:spPr>
        <p:txBody>
          <a:bodyPr wrap="square" lIns="0" tIns="0" rIns="0" bIns="0" rtlCol="0" anchor="ctr"/>
          <a:lstStyle/>
          <a:p>
            <a:pPr marL="0" indent="0" algn="ctr">
              <a:buNone/>
            </a:pPr>
            <a:r>
              <a:rPr lang="en-US" sz="1000" b="1" dirty="0">
                <a:solidFill>
                  <a:srgbClr val="94470F"/>
                </a:solidFill>
              </a:rPr>
              <a:t>L3 (PD)</a:t>
            </a:r>
            <a:endParaRPr lang="en-US" sz="1000" dirty="0"/>
          </a:p>
          <a:p>
            <a:pPr marL="0" indent="0" algn="ctr">
              <a:buNone/>
            </a:pPr>
            <a:r>
              <a:rPr lang="en-US" sz="1000" b="1" dirty="0">
                <a:solidFill>
                  <a:srgbClr val="94470F"/>
                </a:solidFill>
              </a:rPr>
              <a:t>indices {2,3,4,5}</a:t>
            </a:r>
            <a:endParaRPr lang="en-US" sz="1000" dirty="0"/>
          </a:p>
        </p:txBody>
      </p:sp>
      <p:sp>
        <p:nvSpPr>
          <p:cNvPr id="11" name="Shape 9"/>
          <p:cNvSpPr/>
          <p:nvPr/>
        </p:nvSpPr>
        <p:spPr>
          <a:xfrm>
            <a:off x="1965960" y="1645920"/>
            <a:ext cx="640080" cy="0"/>
          </a:xfrm>
          <a:prstGeom prst="line">
            <a:avLst/>
          </a:prstGeom>
          <a:noFill/>
          <a:ln w="22225">
            <a:solidFill>
              <a:srgbClr val="C2641A"/>
            </a:solidFill>
            <a:prstDash val="solid"/>
            <a:tailEnd type="triangle"/>
          </a:ln>
        </p:spPr>
      </p:sp>
      <p:sp>
        <p:nvSpPr>
          <p:cNvPr id="12" name="Shape 10"/>
          <p:cNvSpPr/>
          <p:nvPr/>
        </p:nvSpPr>
        <p:spPr>
          <a:xfrm>
            <a:off x="4023360" y="1645920"/>
            <a:ext cx="640080" cy="0"/>
          </a:xfrm>
          <a:prstGeom prst="line">
            <a:avLst/>
          </a:prstGeom>
          <a:noFill/>
          <a:ln w="22225">
            <a:solidFill>
              <a:srgbClr val="C2641A"/>
            </a:solidFill>
            <a:prstDash val="solid"/>
            <a:tailEnd type="triangle"/>
          </a:ln>
        </p:spPr>
      </p:sp>
      <p:sp>
        <p:nvSpPr>
          <p:cNvPr id="13" name="Shape 11"/>
          <p:cNvSpPr/>
          <p:nvPr/>
        </p:nvSpPr>
        <p:spPr>
          <a:xfrm>
            <a:off x="7178040" y="914400"/>
            <a:ext cx="1554480" cy="530352"/>
          </a:xfrm>
          <a:prstGeom prst="rect">
            <a:avLst/>
          </a:prstGeom>
          <a:solidFill>
            <a:srgbClr val="FFFFFF"/>
          </a:solidFill>
          <a:ln w="12700">
            <a:solidFill>
              <a:srgbClr val="DDE1E6"/>
            </a:solidFill>
            <a:prstDash val="solid"/>
          </a:ln>
        </p:spPr>
      </p:sp>
      <p:sp>
        <p:nvSpPr>
          <p:cNvPr id="14" name="Text 12"/>
          <p:cNvSpPr/>
          <p:nvPr/>
        </p:nvSpPr>
        <p:spPr>
          <a:xfrm>
            <a:off x="7178040" y="914400"/>
            <a:ext cx="1554480" cy="530352"/>
          </a:xfrm>
          <a:prstGeom prst="rect">
            <a:avLst/>
          </a:prstGeom>
          <a:noFill/>
          <a:ln/>
        </p:spPr>
        <p:txBody>
          <a:bodyPr wrap="square" lIns="381" tIns="381" rIns="381" bIns="381"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L4 table #1</a:t>
            </a:r>
            <a:endParaRPr lang="en-US" sz="900" dirty="0"/>
          </a:p>
          <a:p>
            <a:pPr marL="0" indent="0" algn="ctr">
              <a:buNone/>
            </a:pPr>
            <a:r>
              <a:rPr lang="en-US" sz="900" dirty="0">
                <a:solidFill>
                  <a:srgbClr val="1F2937"/>
                </a:solidFill>
                <a:latin typeface="Calibri" pitchFamily="34" charset="0"/>
                <a:ea typeface="Calibri" pitchFamily="34" charset="-122"/>
                <a:cs typeface="Calibri" pitchFamily="34" charset="-120"/>
              </a:rPr>
              <a:t>512 PTEs → 2 MB</a:t>
            </a:r>
            <a:endParaRPr lang="en-US" sz="900" dirty="0"/>
          </a:p>
        </p:txBody>
      </p:sp>
      <p:sp>
        <p:nvSpPr>
          <p:cNvPr id="15" name="Shape 13"/>
          <p:cNvSpPr/>
          <p:nvPr/>
        </p:nvSpPr>
        <p:spPr>
          <a:xfrm flipV="1">
            <a:off x="6263640" y="1179576"/>
            <a:ext cx="914400" cy="466344"/>
          </a:xfrm>
          <a:prstGeom prst="line">
            <a:avLst/>
          </a:prstGeom>
          <a:noFill/>
          <a:ln w="15875">
            <a:solidFill>
              <a:srgbClr val="C2641A"/>
            </a:solidFill>
            <a:prstDash val="solid"/>
            <a:tailEnd type="triangle"/>
          </a:ln>
        </p:spPr>
      </p:sp>
      <p:sp>
        <p:nvSpPr>
          <p:cNvPr id="16" name="Shape 14"/>
          <p:cNvSpPr/>
          <p:nvPr/>
        </p:nvSpPr>
        <p:spPr>
          <a:xfrm>
            <a:off x="7178040" y="1627632"/>
            <a:ext cx="1554480" cy="530352"/>
          </a:xfrm>
          <a:prstGeom prst="rect">
            <a:avLst/>
          </a:prstGeom>
          <a:solidFill>
            <a:srgbClr val="FFFFFF"/>
          </a:solidFill>
          <a:ln w="12700">
            <a:solidFill>
              <a:srgbClr val="DDE1E6"/>
            </a:solidFill>
            <a:prstDash val="solid"/>
          </a:ln>
        </p:spPr>
      </p:sp>
      <p:sp>
        <p:nvSpPr>
          <p:cNvPr id="17" name="Text 15"/>
          <p:cNvSpPr/>
          <p:nvPr/>
        </p:nvSpPr>
        <p:spPr>
          <a:xfrm>
            <a:off x="7178040" y="1627632"/>
            <a:ext cx="1554480" cy="530352"/>
          </a:xfrm>
          <a:prstGeom prst="rect">
            <a:avLst/>
          </a:prstGeom>
          <a:noFill/>
          <a:ln/>
        </p:spPr>
        <p:txBody>
          <a:bodyPr wrap="square" lIns="381" tIns="381" rIns="381" bIns="381"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L4 table #2</a:t>
            </a:r>
            <a:endParaRPr lang="en-US" sz="900" dirty="0"/>
          </a:p>
          <a:p>
            <a:pPr marL="0" indent="0" algn="ctr">
              <a:buNone/>
            </a:pPr>
            <a:r>
              <a:rPr lang="en-US" sz="900" dirty="0">
                <a:solidFill>
                  <a:srgbClr val="1F2937"/>
                </a:solidFill>
                <a:latin typeface="Calibri" pitchFamily="34" charset="0"/>
                <a:ea typeface="Calibri" pitchFamily="34" charset="-122"/>
                <a:cs typeface="Calibri" pitchFamily="34" charset="-120"/>
              </a:rPr>
              <a:t>512 PTEs → 2 MB</a:t>
            </a:r>
            <a:endParaRPr lang="en-US" sz="900" dirty="0"/>
          </a:p>
        </p:txBody>
      </p:sp>
      <p:sp>
        <p:nvSpPr>
          <p:cNvPr id="18" name="Shape 16"/>
          <p:cNvSpPr/>
          <p:nvPr/>
        </p:nvSpPr>
        <p:spPr>
          <a:xfrm>
            <a:off x="6263640" y="1645920"/>
            <a:ext cx="914400" cy="246888"/>
          </a:xfrm>
          <a:prstGeom prst="line">
            <a:avLst/>
          </a:prstGeom>
          <a:noFill/>
          <a:ln w="15875">
            <a:solidFill>
              <a:srgbClr val="C2641A"/>
            </a:solidFill>
            <a:prstDash val="solid"/>
            <a:tailEnd type="triangle"/>
          </a:ln>
        </p:spPr>
      </p:sp>
      <p:sp>
        <p:nvSpPr>
          <p:cNvPr id="19" name="Shape 17"/>
          <p:cNvSpPr/>
          <p:nvPr/>
        </p:nvSpPr>
        <p:spPr>
          <a:xfrm>
            <a:off x="7178040" y="2340864"/>
            <a:ext cx="1554480" cy="530352"/>
          </a:xfrm>
          <a:prstGeom prst="rect">
            <a:avLst/>
          </a:prstGeom>
          <a:solidFill>
            <a:srgbClr val="FFFFFF"/>
          </a:solidFill>
          <a:ln w="12700">
            <a:solidFill>
              <a:srgbClr val="DDE1E6"/>
            </a:solidFill>
            <a:prstDash val="solid"/>
          </a:ln>
        </p:spPr>
      </p:sp>
      <p:sp>
        <p:nvSpPr>
          <p:cNvPr id="20" name="Text 18"/>
          <p:cNvSpPr/>
          <p:nvPr/>
        </p:nvSpPr>
        <p:spPr>
          <a:xfrm>
            <a:off x="7178040" y="2340864"/>
            <a:ext cx="1554480" cy="530352"/>
          </a:xfrm>
          <a:prstGeom prst="rect">
            <a:avLst/>
          </a:prstGeom>
          <a:noFill/>
          <a:ln/>
        </p:spPr>
        <p:txBody>
          <a:bodyPr wrap="square" lIns="381" tIns="381" rIns="381" bIns="381"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L4 table #3</a:t>
            </a:r>
            <a:endParaRPr lang="en-US" sz="900" dirty="0"/>
          </a:p>
          <a:p>
            <a:pPr marL="0" indent="0" algn="ctr">
              <a:buNone/>
            </a:pPr>
            <a:r>
              <a:rPr lang="en-US" sz="900" dirty="0">
                <a:solidFill>
                  <a:srgbClr val="1F2937"/>
                </a:solidFill>
                <a:latin typeface="Calibri" pitchFamily="34" charset="0"/>
                <a:ea typeface="Calibri" pitchFamily="34" charset="-122"/>
                <a:cs typeface="Calibri" pitchFamily="34" charset="-120"/>
              </a:rPr>
              <a:t>512 PTEs → 2 MB</a:t>
            </a:r>
            <a:endParaRPr lang="en-US" sz="900" dirty="0"/>
          </a:p>
        </p:txBody>
      </p:sp>
      <p:sp>
        <p:nvSpPr>
          <p:cNvPr id="21" name="Shape 19"/>
          <p:cNvSpPr/>
          <p:nvPr/>
        </p:nvSpPr>
        <p:spPr>
          <a:xfrm>
            <a:off x="6263640" y="1645920"/>
            <a:ext cx="914400" cy="960120"/>
          </a:xfrm>
          <a:prstGeom prst="line">
            <a:avLst/>
          </a:prstGeom>
          <a:noFill/>
          <a:ln w="15875">
            <a:solidFill>
              <a:srgbClr val="C2641A"/>
            </a:solidFill>
            <a:prstDash val="solid"/>
            <a:tailEnd type="triangle"/>
          </a:ln>
        </p:spPr>
      </p:sp>
      <p:sp>
        <p:nvSpPr>
          <p:cNvPr id="22" name="Shape 20"/>
          <p:cNvSpPr/>
          <p:nvPr/>
        </p:nvSpPr>
        <p:spPr>
          <a:xfrm>
            <a:off x="7178040" y="3054096"/>
            <a:ext cx="1554480" cy="530352"/>
          </a:xfrm>
          <a:prstGeom prst="rect">
            <a:avLst/>
          </a:prstGeom>
          <a:solidFill>
            <a:srgbClr val="FFFFFF"/>
          </a:solidFill>
          <a:ln w="12700">
            <a:solidFill>
              <a:srgbClr val="DDE1E6"/>
            </a:solidFill>
            <a:prstDash val="solid"/>
          </a:ln>
        </p:spPr>
      </p:sp>
      <p:sp>
        <p:nvSpPr>
          <p:cNvPr id="23" name="Text 21"/>
          <p:cNvSpPr/>
          <p:nvPr/>
        </p:nvSpPr>
        <p:spPr>
          <a:xfrm>
            <a:off x="7178040" y="3054096"/>
            <a:ext cx="1554480" cy="530352"/>
          </a:xfrm>
          <a:prstGeom prst="rect">
            <a:avLst/>
          </a:prstGeom>
          <a:noFill/>
          <a:ln/>
        </p:spPr>
        <p:txBody>
          <a:bodyPr wrap="square" lIns="381" tIns="381" rIns="381" bIns="381"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L4 table #4</a:t>
            </a:r>
            <a:endParaRPr lang="en-US" sz="900" dirty="0"/>
          </a:p>
          <a:p>
            <a:pPr marL="0" indent="0" algn="ctr">
              <a:buNone/>
            </a:pPr>
            <a:r>
              <a:rPr lang="en-US" sz="900" dirty="0">
                <a:solidFill>
                  <a:srgbClr val="1F2937"/>
                </a:solidFill>
                <a:latin typeface="Calibri" pitchFamily="34" charset="0"/>
                <a:ea typeface="Calibri" pitchFamily="34" charset="-122"/>
                <a:cs typeface="Calibri" pitchFamily="34" charset="-120"/>
              </a:rPr>
              <a:t>512 PTEs → 2 MB</a:t>
            </a:r>
            <a:endParaRPr lang="en-US" sz="900" dirty="0"/>
          </a:p>
        </p:txBody>
      </p:sp>
      <p:sp>
        <p:nvSpPr>
          <p:cNvPr id="24" name="Shape 22"/>
          <p:cNvSpPr/>
          <p:nvPr/>
        </p:nvSpPr>
        <p:spPr>
          <a:xfrm>
            <a:off x="6263640" y="1645920"/>
            <a:ext cx="914400" cy="1673352"/>
          </a:xfrm>
          <a:prstGeom prst="line">
            <a:avLst/>
          </a:prstGeom>
          <a:noFill/>
          <a:ln w="15875">
            <a:solidFill>
              <a:srgbClr val="C2641A"/>
            </a:solidFill>
            <a:prstDash val="solid"/>
            <a:tailEnd type="triangle"/>
          </a:ln>
        </p:spPr>
      </p:sp>
      <p:sp>
        <p:nvSpPr>
          <p:cNvPr id="25" name="Text 23"/>
          <p:cNvSpPr/>
          <p:nvPr/>
        </p:nvSpPr>
        <p:spPr>
          <a:xfrm>
            <a:off x="548640" y="1975104"/>
            <a:ext cx="1417320" cy="182880"/>
          </a:xfrm>
          <a:prstGeom prst="rect">
            <a:avLst/>
          </a:prstGeom>
          <a:noFill/>
          <a:ln/>
        </p:spPr>
        <p:txBody>
          <a:bodyPr wrap="square" lIns="0" tIns="0" rIns="0" bIns="0" rtlCol="0" anchor="ctr"/>
          <a:lstStyle/>
          <a:p>
            <a:pPr marL="0" indent="0" algn="ctr">
              <a:buNone/>
            </a:pPr>
            <a:r>
              <a:rPr lang="en-US" sz="900" dirty="0">
                <a:solidFill>
                  <a:srgbClr val="6B7280"/>
                </a:solidFill>
              </a:rPr>
              <a:t>1 page</a:t>
            </a:r>
            <a:endParaRPr lang="en-US" sz="900" dirty="0"/>
          </a:p>
        </p:txBody>
      </p:sp>
      <p:sp>
        <p:nvSpPr>
          <p:cNvPr id="26" name="Text 24"/>
          <p:cNvSpPr/>
          <p:nvPr/>
        </p:nvSpPr>
        <p:spPr>
          <a:xfrm>
            <a:off x="2606040" y="1975104"/>
            <a:ext cx="1417320" cy="182880"/>
          </a:xfrm>
          <a:prstGeom prst="rect">
            <a:avLst/>
          </a:prstGeom>
          <a:noFill/>
          <a:ln/>
        </p:spPr>
        <p:txBody>
          <a:bodyPr wrap="square" lIns="0" tIns="0" rIns="0" bIns="0" rtlCol="0" anchor="ctr"/>
          <a:lstStyle/>
          <a:p>
            <a:pPr marL="0" indent="0" algn="ctr">
              <a:buNone/>
            </a:pPr>
            <a:r>
              <a:rPr lang="en-US" sz="900" dirty="0">
                <a:solidFill>
                  <a:srgbClr val="6B7280"/>
                </a:solidFill>
              </a:rPr>
              <a:t>1 page</a:t>
            </a:r>
            <a:endParaRPr lang="en-US" sz="900" dirty="0"/>
          </a:p>
        </p:txBody>
      </p:sp>
      <p:sp>
        <p:nvSpPr>
          <p:cNvPr id="27" name="Text 25"/>
          <p:cNvSpPr/>
          <p:nvPr/>
        </p:nvSpPr>
        <p:spPr>
          <a:xfrm>
            <a:off x="4663440" y="2066544"/>
            <a:ext cx="1600200" cy="182880"/>
          </a:xfrm>
          <a:prstGeom prst="rect">
            <a:avLst/>
          </a:prstGeom>
          <a:noFill/>
          <a:ln/>
        </p:spPr>
        <p:txBody>
          <a:bodyPr wrap="square" lIns="0" tIns="0" rIns="0" bIns="0" rtlCol="0" anchor="ctr"/>
          <a:lstStyle/>
          <a:p>
            <a:pPr marL="0" indent="0" algn="ctr">
              <a:buNone/>
            </a:pPr>
            <a:r>
              <a:rPr lang="en-US" sz="900" dirty="0">
                <a:solidFill>
                  <a:srgbClr val="6B7280"/>
                </a:solidFill>
              </a:rPr>
              <a:t>1 page</a:t>
            </a:r>
            <a:endParaRPr lang="en-US" sz="900" dirty="0"/>
          </a:p>
        </p:txBody>
      </p:sp>
      <p:sp>
        <p:nvSpPr>
          <p:cNvPr id="28" name="Text 26"/>
          <p:cNvSpPr/>
          <p:nvPr/>
        </p:nvSpPr>
        <p:spPr>
          <a:xfrm>
            <a:off x="7178040" y="3767328"/>
            <a:ext cx="1554480" cy="182880"/>
          </a:xfrm>
          <a:prstGeom prst="rect">
            <a:avLst/>
          </a:prstGeom>
          <a:noFill/>
          <a:ln/>
        </p:spPr>
        <p:txBody>
          <a:bodyPr wrap="square" lIns="0" tIns="0" rIns="0" bIns="0" rtlCol="0" anchor="ctr"/>
          <a:lstStyle/>
          <a:p>
            <a:pPr marL="0" indent="0" algn="ctr">
              <a:buNone/>
            </a:pPr>
            <a:r>
              <a:rPr lang="en-US" sz="900" dirty="0">
                <a:solidFill>
                  <a:srgbClr val="6B7280"/>
                </a:solidFill>
              </a:rPr>
              <a:t>4 pages</a:t>
            </a:r>
            <a:endParaRPr lang="en-US" sz="900" dirty="0"/>
          </a:p>
        </p:txBody>
      </p:sp>
      <p:sp>
        <p:nvSpPr>
          <p:cNvPr id="29" name="Shape 27"/>
          <p:cNvSpPr/>
          <p:nvPr/>
        </p:nvSpPr>
        <p:spPr>
          <a:xfrm>
            <a:off x="457200" y="3931920"/>
            <a:ext cx="5120640" cy="777240"/>
          </a:xfrm>
          <a:prstGeom prst="rect">
            <a:avLst/>
          </a:prstGeom>
          <a:solidFill>
            <a:srgbClr val="FFFFFF"/>
          </a:solidFill>
          <a:ln w="12700">
            <a:solidFill>
              <a:srgbClr val="DDE1E6"/>
            </a:solidFill>
            <a:prstDash val="solid"/>
          </a:ln>
        </p:spPr>
      </p:sp>
      <p:sp>
        <p:nvSpPr>
          <p:cNvPr id="30" name="Shape 28"/>
          <p:cNvSpPr/>
          <p:nvPr/>
        </p:nvSpPr>
        <p:spPr>
          <a:xfrm>
            <a:off x="457200" y="3931920"/>
            <a:ext cx="64008" cy="777240"/>
          </a:xfrm>
          <a:prstGeom prst="rect">
            <a:avLst/>
          </a:prstGeom>
          <a:solidFill>
            <a:srgbClr val="C2641A"/>
          </a:solidFill>
          <a:ln/>
        </p:spPr>
      </p:sp>
      <p:sp>
        <p:nvSpPr>
          <p:cNvPr id="31" name="Text 29"/>
          <p:cNvSpPr/>
          <p:nvPr/>
        </p:nvSpPr>
        <p:spPr>
          <a:xfrm>
            <a:off x="658368" y="3995928"/>
            <a:ext cx="1280160" cy="182880"/>
          </a:xfrm>
          <a:prstGeom prst="rect">
            <a:avLst/>
          </a:prstGeom>
          <a:noFill/>
          <a:ln/>
        </p:spPr>
        <p:txBody>
          <a:bodyPr wrap="square" lIns="0" tIns="0" rIns="0" bIns="0" rtlCol="0" anchor="ctr"/>
          <a:lstStyle/>
          <a:p>
            <a:pPr marL="0" indent="0">
              <a:buNone/>
            </a:pPr>
            <a:r>
              <a:rPr lang="en-US" sz="850" b="1" kern="0" spc="200" dirty="0">
                <a:solidFill>
                  <a:srgbClr val="C2641A"/>
                </a:solidFill>
                <a:latin typeface="Trebuchet MS" pitchFamily="34" charset="0"/>
                <a:ea typeface="Trebuchet MS" pitchFamily="34" charset="-122"/>
                <a:cs typeface="Trebuchet MS" pitchFamily="34" charset="-120"/>
              </a:rPr>
              <a:t>ANSWER</a:t>
            </a:r>
            <a:endParaRPr lang="en-US" sz="850" dirty="0"/>
          </a:p>
        </p:txBody>
      </p:sp>
      <p:sp>
        <p:nvSpPr>
          <p:cNvPr id="32" name="Text 30"/>
          <p:cNvSpPr/>
          <p:nvPr/>
        </p:nvSpPr>
        <p:spPr>
          <a:xfrm>
            <a:off x="658368" y="4178808"/>
            <a:ext cx="4754880" cy="466344"/>
          </a:xfrm>
          <a:prstGeom prst="rect">
            <a:avLst/>
          </a:prstGeom>
          <a:noFill/>
          <a:ln/>
        </p:spPr>
        <p:txBody>
          <a:bodyPr wrap="square" lIns="0" tIns="0" rIns="0" bIns="0" rtlCol="0" anchor="t"/>
          <a:lstStyle/>
          <a:p>
            <a:pPr marL="0" indent="0">
              <a:buNone/>
            </a:pPr>
            <a:r>
              <a:rPr lang="en-US" sz="1400" b="1" dirty="0">
                <a:solidFill>
                  <a:srgbClr val="1F2937"/>
                </a:solidFill>
                <a:latin typeface="Courier New" pitchFamily="34" charset="0"/>
                <a:ea typeface="Courier New" pitchFamily="34" charset="-122"/>
                <a:cs typeface="Courier New" pitchFamily="34" charset="-120"/>
              </a:rPr>
              <a:t>1 + 1 + 1 + 4 = 7 pages × 4 KB = 28 KB</a:t>
            </a:r>
            <a:endParaRPr lang="en-US" sz="1200" dirty="0"/>
          </a:p>
        </p:txBody>
      </p:sp>
      <p:sp>
        <p:nvSpPr>
          <p:cNvPr id="33" name="Shape 31"/>
          <p:cNvSpPr/>
          <p:nvPr/>
        </p:nvSpPr>
        <p:spPr>
          <a:xfrm>
            <a:off x="5760720" y="3931920"/>
            <a:ext cx="2971800" cy="822960"/>
          </a:xfrm>
          <a:prstGeom prst="rect">
            <a:avLst/>
          </a:prstGeom>
          <a:solidFill>
            <a:srgbClr val="FDF3EF"/>
          </a:solidFill>
          <a:ln w="12700">
            <a:solidFill>
              <a:srgbClr val="DDE1E6"/>
            </a:solidFill>
            <a:prstDash val="solid"/>
          </a:ln>
        </p:spPr>
      </p:sp>
      <p:sp>
        <p:nvSpPr>
          <p:cNvPr id="34" name="Shape 32"/>
          <p:cNvSpPr/>
          <p:nvPr/>
        </p:nvSpPr>
        <p:spPr>
          <a:xfrm>
            <a:off x="5760720" y="3931920"/>
            <a:ext cx="64008" cy="822960"/>
          </a:xfrm>
          <a:prstGeom prst="rect">
            <a:avLst/>
          </a:prstGeom>
          <a:solidFill>
            <a:srgbClr val="B23A2F"/>
          </a:solidFill>
          <a:ln/>
        </p:spPr>
      </p:sp>
      <p:sp>
        <p:nvSpPr>
          <p:cNvPr id="35" name="Text 33"/>
          <p:cNvSpPr/>
          <p:nvPr/>
        </p:nvSpPr>
        <p:spPr>
          <a:xfrm>
            <a:off x="5961888" y="399592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36" name="Text 34"/>
          <p:cNvSpPr/>
          <p:nvPr/>
        </p:nvSpPr>
        <p:spPr>
          <a:xfrm>
            <a:off x="5961888" y="4178808"/>
            <a:ext cx="2606040" cy="51206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Don't compute 2³⁶ entries × 8 B = 512 GB — that's a FLAT table. Count populated pages per level.</a:t>
            </a:r>
            <a:endParaRPr lang="en-US" sz="1100" dirty="0"/>
          </a:p>
        </p:txBody>
      </p:sp>
      <p:sp>
        <p:nvSpPr>
          <p:cNvPr id="37" name="Text 35"/>
          <p:cNvSpPr/>
          <p:nvPr/>
        </p:nvSpPr>
        <p:spPr>
          <a:xfrm>
            <a:off x="457200" y="2606040"/>
            <a:ext cx="4389120" cy="118872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Each populated L3 entry → one L4 table beneath it. Indices 2–5 → four L4 tables.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20</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3.2 (B)</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2 MB huge pages: prune the L4 level</a:t>
            </a:r>
            <a:endParaRPr lang="en-US" sz="2300" dirty="0"/>
          </a:p>
        </p:txBody>
      </p:sp>
      <p:sp>
        <p:nvSpPr>
          <p:cNvPr id="5" name="Shape 3"/>
          <p:cNvSpPr/>
          <p:nvPr/>
        </p:nvSpPr>
        <p:spPr>
          <a:xfrm>
            <a:off x="548640" y="1371600"/>
            <a:ext cx="1417320" cy="548640"/>
          </a:xfrm>
          <a:prstGeom prst="rect">
            <a:avLst/>
          </a:prstGeom>
          <a:solidFill>
            <a:srgbClr val="FFFFFF"/>
          </a:solidFill>
          <a:ln w="12700">
            <a:solidFill>
              <a:srgbClr val="DDE1E6"/>
            </a:solidFill>
            <a:prstDash val="solid"/>
          </a:ln>
        </p:spPr>
      </p:sp>
      <p:sp>
        <p:nvSpPr>
          <p:cNvPr id="6" name="Text 4"/>
          <p:cNvSpPr/>
          <p:nvPr/>
        </p:nvSpPr>
        <p:spPr>
          <a:xfrm>
            <a:off x="548640" y="1371600"/>
            <a:ext cx="1417320" cy="548640"/>
          </a:xfrm>
          <a:prstGeom prst="rect">
            <a:avLst/>
          </a:prstGeom>
          <a:noFill/>
          <a:ln/>
        </p:spPr>
        <p:txBody>
          <a:bodyPr wrap="square" lIns="381" tIns="381" rIns="381" bIns="381"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L1 (PML4)</a:t>
            </a:r>
            <a:endParaRPr lang="en-US" sz="1000" dirty="0"/>
          </a:p>
          <a:p>
            <a:pPr marL="0" indent="0" algn="ctr">
              <a:buNone/>
            </a:pPr>
            <a:r>
              <a:rPr lang="en-US" sz="1000" b="1" dirty="0">
                <a:solidFill>
                  <a:srgbClr val="1F2937"/>
                </a:solidFill>
                <a:latin typeface="Calibri" pitchFamily="34" charset="0"/>
                <a:ea typeface="Calibri" pitchFamily="34" charset="-122"/>
                <a:cs typeface="Calibri" pitchFamily="34" charset="-120"/>
              </a:rPr>
              <a:t>index {0}</a:t>
            </a:r>
            <a:endParaRPr lang="en-US" sz="1000" dirty="0"/>
          </a:p>
        </p:txBody>
      </p:sp>
      <p:sp>
        <p:nvSpPr>
          <p:cNvPr id="7" name="Shape 5"/>
          <p:cNvSpPr/>
          <p:nvPr/>
        </p:nvSpPr>
        <p:spPr>
          <a:xfrm>
            <a:off x="2606040" y="1371600"/>
            <a:ext cx="1417320" cy="548640"/>
          </a:xfrm>
          <a:prstGeom prst="rect">
            <a:avLst/>
          </a:prstGeom>
          <a:solidFill>
            <a:srgbClr val="FFFFFF"/>
          </a:solidFill>
          <a:ln w="12700">
            <a:solidFill>
              <a:srgbClr val="DDE1E6"/>
            </a:solidFill>
            <a:prstDash val="solid"/>
          </a:ln>
        </p:spPr>
      </p:sp>
      <p:sp>
        <p:nvSpPr>
          <p:cNvPr id="8" name="Text 6"/>
          <p:cNvSpPr/>
          <p:nvPr/>
        </p:nvSpPr>
        <p:spPr>
          <a:xfrm>
            <a:off x="2606040" y="1371600"/>
            <a:ext cx="1417320" cy="548640"/>
          </a:xfrm>
          <a:prstGeom prst="rect">
            <a:avLst/>
          </a:prstGeom>
          <a:noFill/>
          <a:ln/>
        </p:spPr>
        <p:txBody>
          <a:bodyPr wrap="square" lIns="381" tIns="381" rIns="381" bIns="381" rtlCol="0" anchor="ctr"/>
          <a:lstStyle/>
          <a:p>
            <a:pPr marL="0" indent="0" algn="ctr">
              <a:buNone/>
            </a:pPr>
            <a:r>
              <a:rPr lang="en-US" sz="1000" b="1" dirty="0">
                <a:solidFill>
                  <a:srgbClr val="1F2937"/>
                </a:solidFill>
                <a:latin typeface="Calibri" pitchFamily="34" charset="0"/>
                <a:ea typeface="Calibri" pitchFamily="34" charset="-122"/>
                <a:cs typeface="Calibri" pitchFamily="34" charset="-120"/>
              </a:rPr>
              <a:t>L2 (PDPT)</a:t>
            </a:r>
            <a:endParaRPr lang="en-US" sz="1000" dirty="0"/>
          </a:p>
          <a:p>
            <a:pPr marL="0" indent="0" algn="ctr">
              <a:buNone/>
            </a:pPr>
            <a:r>
              <a:rPr lang="en-US" sz="1000" b="1" dirty="0">
                <a:solidFill>
                  <a:srgbClr val="1F2937"/>
                </a:solidFill>
                <a:latin typeface="Calibri" pitchFamily="34" charset="0"/>
                <a:ea typeface="Calibri" pitchFamily="34" charset="-122"/>
                <a:cs typeface="Calibri" pitchFamily="34" charset="-120"/>
              </a:rPr>
              <a:t>index {0}</a:t>
            </a:r>
            <a:endParaRPr lang="en-US" sz="1000" dirty="0"/>
          </a:p>
        </p:txBody>
      </p:sp>
      <p:sp>
        <p:nvSpPr>
          <p:cNvPr id="9" name="Shape 7"/>
          <p:cNvSpPr/>
          <p:nvPr/>
        </p:nvSpPr>
        <p:spPr>
          <a:xfrm>
            <a:off x="4663440" y="1280160"/>
            <a:ext cx="1783080" cy="731520"/>
          </a:xfrm>
          <a:prstGeom prst="rect">
            <a:avLst/>
          </a:prstGeom>
          <a:solidFill>
            <a:srgbClr val="F8ECDF"/>
          </a:solidFill>
          <a:ln w="25400">
            <a:solidFill>
              <a:srgbClr val="C2641A"/>
            </a:solidFill>
            <a:prstDash val="solid"/>
          </a:ln>
        </p:spPr>
      </p:sp>
      <p:sp>
        <p:nvSpPr>
          <p:cNvPr id="10" name="Text 8"/>
          <p:cNvSpPr/>
          <p:nvPr/>
        </p:nvSpPr>
        <p:spPr>
          <a:xfrm>
            <a:off x="4663440" y="1280160"/>
            <a:ext cx="1783080" cy="731520"/>
          </a:xfrm>
          <a:prstGeom prst="rect">
            <a:avLst/>
          </a:prstGeom>
          <a:noFill/>
          <a:ln/>
        </p:spPr>
        <p:txBody>
          <a:bodyPr wrap="square" lIns="0" tIns="0" rIns="0" bIns="0" rtlCol="0" anchor="ctr"/>
          <a:lstStyle/>
          <a:p>
            <a:pPr marL="0" indent="0" algn="ctr">
              <a:buNone/>
            </a:pPr>
            <a:r>
              <a:rPr lang="en-US" sz="1000" b="1" dirty="0">
                <a:solidFill>
                  <a:srgbClr val="94470F"/>
                </a:solidFill>
              </a:rPr>
              <a:t>L3 (PD) {2,3,4,5}</a:t>
            </a:r>
            <a:endParaRPr lang="en-US" sz="1000" dirty="0"/>
          </a:p>
          <a:p>
            <a:pPr marL="0" indent="0" algn="ctr">
              <a:buNone/>
            </a:pPr>
            <a:r>
              <a:rPr lang="en-US" sz="1000" b="1" dirty="0">
                <a:solidFill>
                  <a:srgbClr val="94470F"/>
                </a:solidFill>
              </a:rPr>
              <a:t>PS = 1 in each entry</a:t>
            </a:r>
            <a:endParaRPr lang="en-US" sz="1000" dirty="0"/>
          </a:p>
        </p:txBody>
      </p:sp>
      <p:sp>
        <p:nvSpPr>
          <p:cNvPr id="11" name="Shape 9"/>
          <p:cNvSpPr/>
          <p:nvPr/>
        </p:nvSpPr>
        <p:spPr>
          <a:xfrm>
            <a:off x="1965960" y="1645920"/>
            <a:ext cx="640080" cy="0"/>
          </a:xfrm>
          <a:prstGeom prst="line">
            <a:avLst/>
          </a:prstGeom>
          <a:noFill/>
          <a:ln w="22225">
            <a:solidFill>
              <a:srgbClr val="C2641A"/>
            </a:solidFill>
            <a:prstDash val="solid"/>
            <a:tailEnd type="triangle"/>
          </a:ln>
        </p:spPr>
      </p:sp>
      <p:sp>
        <p:nvSpPr>
          <p:cNvPr id="12" name="Shape 10"/>
          <p:cNvSpPr/>
          <p:nvPr/>
        </p:nvSpPr>
        <p:spPr>
          <a:xfrm>
            <a:off x="4023360" y="1645920"/>
            <a:ext cx="640080" cy="0"/>
          </a:xfrm>
          <a:prstGeom prst="line">
            <a:avLst/>
          </a:prstGeom>
          <a:noFill/>
          <a:ln w="22225">
            <a:solidFill>
              <a:srgbClr val="C2641A"/>
            </a:solidFill>
            <a:prstDash val="solid"/>
            <a:tailEnd type="triangle"/>
          </a:ln>
        </p:spPr>
      </p:sp>
      <p:sp>
        <p:nvSpPr>
          <p:cNvPr id="13" name="Shape 11"/>
          <p:cNvSpPr/>
          <p:nvPr/>
        </p:nvSpPr>
        <p:spPr>
          <a:xfrm>
            <a:off x="7178040" y="868680"/>
            <a:ext cx="1554480" cy="438912"/>
          </a:xfrm>
          <a:prstGeom prst="rect">
            <a:avLst/>
          </a:prstGeom>
          <a:solidFill>
            <a:srgbClr val="F4F1EC"/>
          </a:solidFill>
          <a:ln w="12700">
            <a:solidFill>
              <a:srgbClr val="C9BFAE"/>
            </a:solidFill>
            <a:prstDash val="dash"/>
          </a:ln>
        </p:spPr>
      </p:sp>
      <p:sp>
        <p:nvSpPr>
          <p:cNvPr id="14" name="Text 12"/>
          <p:cNvSpPr/>
          <p:nvPr/>
        </p:nvSpPr>
        <p:spPr>
          <a:xfrm>
            <a:off x="7178040" y="868680"/>
            <a:ext cx="1554480" cy="438912"/>
          </a:xfrm>
          <a:prstGeom prst="rect">
            <a:avLst/>
          </a:prstGeom>
          <a:noFill/>
          <a:ln/>
        </p:spPr>
        <p:txBody>
          <a:bodyPr wrap="square" lIns="0" tIns="0" rIns="0" bIns="0" rtlCol="0" anchor="ctr"/>
          <a:lstStyle/>
          <a:p>
            <a:pPr marL="0" indent="0" algn="ctr">
              <a:buNone/>
            </a:pPr>
            <a:r>
              <a:rPr lang="en-US" sz="900" dirty="0">
                <a:solidFill>
                  <a:srgbClr val="6B7280"/>
                </a:solidFill>
                <a:latin typeface="Courier New" pitchFamily="34" charset="0"/>
                <a:ea typeface="Courier New" pitchFamily="34" charset="-122"/>
                <a:cs typeface="Courier New" pitchFamily="34" charset="-120"/>
              </a:rPr>
              <a:t>2 MB frame #1</a:t>
            </a:r>
            <a:endParaRPr lang="en-US" sz="900" dirty="0"/>
          </a:p>
        </p:txBody>
      </p:sp>
      <p:sp>
        <p:nvSpPr>
          <p:cNvPr id="15" name="Shape 13"/>
          <p:cNvSpPr/>
          <p:nvPr/>
        </p:nvSpPr>
        <p:spPr>
          <a:xfrm flipV="1">
            <a:off x="6446520" y="1088136"/>
            <a:ext cx="731520" cy="557784"/>
          </a:xfrm>
          <a:prstGeom prst="line">
            <a:avLst/>
          </a:prstGeom>
          <a:noFill/>
          <a:ln w="15875">
            <a:solidFill>
              <a:srgbClr val="5E9E52"/>
            </a:solidFill>
            <a:prstDash val="solid"/>
            <a:tailEnd type="triangle"/>
          </a:ln>
        </p:spPr>
      </p:sp>
      <p:sp>
        <p:nvSpPr>
          <p:cNvPr id="16" name="Shape 14"/>
          <p:cNvSpPr/>
          <p:nvPr/>
        </p:nvSpPr>
        <p:spPr>
          <a:xfrm>
            <a:off x="7178040" y="1435608"/>
            <a:ext cx="1554480" cy="438912"/>
          </a:xfrm>
          <a:prstGeom prst="rect">
            <a:avLst/>
          </a:prstGeom>
          <a:solidFill>
            <a:srgbClr val="F4F1EC"/>
          </a:solidFill>
          <a:ln w="12700">
            <a:solidFill>
              <a:srgbClr val="C9BFAE"/>
            </a:solidFill>
            <a:prstDash val="dash"/>
          </a:ln>
        </p:spPr>
      </p:sp>
      <p:sp>
        <p:nvSpPr>
          <p:cNvPr id="17" name="Text 15"/>
          <p:cNvSpPr/>
          <p:nvPr/>
        </p:nvSpPr>
        <p:spPr>
          <a:xfrm>
            <a:off x="7178040" y="1435608"/>
            <a:ext cx="1554480" cy="438912"/>
          </a:xfrm>
          <a:prstGeom prst="rect">
            <a:avLst/>
          </a:prstGeom>
          <a:noFill/>
          <a:ln/>
        </p:spPr>
        <p:txBody>
          <a:bodyPr wrap="square" lIns="0" tIns="0" rIns="0" bIns="0" rtlCol="0" anchor="ctr"/>
          <a:lstStyle/>
          <a:p>
            <a:pPr marL="0" indent="0" algn="ctr">
              <a:buNone/>
            </a:pPr>
            <a:r>
              <a:rPr lang="en-US" sz="900" dirty="0">
                <a:solidFill>
                  <a:srgbClr val="6B7280"/>
                </a:solidFill>
                <a:latin typeface="Courier New" pitchFamily="34" charset="0"/>
                <a:ea typeface="Courier New" pitchFamily="34" charset="-122"/>
                <a:cs typeface="Courier New" pitchFamily="34" charset="-120"/>
              </a:rPr>
              <a:t>2 MB frame #2</a:t>
            </a:r>
            <a:endParaRPr lang="en-US" sz="900" dirty="0"/>
          </a:p>
        </p:txBody>
      </p:sp>
      <p:sp>
        <p:nvSpPr>
          <p:cNvPr id="18" name="Shape 16"/>
          <p:cNvSpPr/>
          <p:nvPr/>
        </p:nvSpPr>
        <p:spPr>
          <a:xfrm>
            <a:off x="6446520" y="1645920"/>
            <a:ext cx="731520" cy="9144"/>
          </a:xfrm>
          <a:prstGeom prst="line">
            <a:avLst/>
          </a:prstGeom>
          <a:noFill/>
          <a:ln w="15875">
            <a:solidFill>
              <a:srgbClr val="5E9E52"/>
            </a:solidFill>
            <a:prstDash val="solid"/>
            <a:tailEnd type="triangle"/>
          </a:ln>
        </p:spPr>
      </p:sp>
      <p:sp>
        <p:nvSpPr>
          <p:cNvPr id="19" name="Shape 17"/>
          <p:cNvSpPr/>
          <p:nvPr/>
        </p:nvSpPr>
        <p:spPr>
          <a:xfrm>
            <a:off x="7178040" y="2002536"/>
            <a:ext cx="1554480" cy="438912"/>
          </a:xfrm>
          <a:prstGeom prst="rect">
            <a:avLst/>
          </a:prstGeom>
          <a:solidFill>
            <a:srgbClr val="F4F1EC"/>
          </a:solidFill>
          <a:ln w="12700">
            <a:solidFill>
              <a:srgbClr val="C9BFAE"/>
            </a:solidFill>
            <a:prstDash val="dash"/>
          </a:ln>
        </p:spPr>
      </p:sp>
      <p:sp>
        <p:nvSpPr>
          <p:cNvPr id="20" name="Text 18"/>
          <p:cNvSpPr/>
          <p:nvPr/>
        </p:nvSpPr>
        <p:spPr>
          <a:xfrm>
            <a:off x="7178040" y="2002536"/>
            <a:ext cx="1554480" cy="438912"/>
          </a:xfrm>
          <a:prstGeom prst="rect">
            <a:avLst/>
          </a:prstGeom>
          <a:noFill/>
          <a:ln/>
        </p:spPr>
        <p:txBody>
          <a:bodyPr wrap="square" lIns="0" tIns="0" rIns="0" bIns="0" rtlCol="0" anchor="ctr"/>
          <a:lstStyle/>
          <a:p>
            <a:pPr marL="0" indent="0" algn="ctr">
              <a:buNone/>
            </a:pPr>
            <a:r>
              <a:rPr lang="en-US" sz="900" dirty="0">
                <a:solidFill>
                  <a:srgbClr val="6B7280"/>
                </a:solidFill>
                <a:latin typeface="Courier New" pitchFamily="34" charset="0"/>
                <a:ea typeface="Courier New" pitchFamily="34" charset="-122"/>
                <a:cs typeface="Courier New" pitchFamily="34" charset="-120"/>
              </a:rPr>
              <a:t>2 MB frame #3</a:t>
            </a:r>
            <a:endParaRPr lang="en-US" sz="900" dirty="0"/>
          </a:p>
        </p:txBody>
      </p:sp>
      <p:sp>
        <p:nvSpPr>
          <p:cNvPr id="21" name="Shape 19"/>
          <p:cNvSpPr/>
          <p:nvPr/>
        </p:nvSpPr>
        <p:spPr>
          <a:xfrm>
            <a:off x="6446520" y="1645920"/>
            <a:ext cx="731520" cy="576072"/>
          </a:xfrm>
          <a:prstGeom prst="line">
            <a:avLst/>
          </a:prstGeom>
          <a:noFill/>
          <a:ln w="15875">
            <a:solidFill>
              <a:srgbClr val="5E9E52"/>
            </a:solidFill>
            <a:prstDash val="solid"/>
            <a:tailEnd type="triangle"/>
          </a:ln>
        </p:spPr>
      </p:sp>
      <p:sp>
        <p:nvSpPr>
          <p:cNvPr id="22" name="Shape 20"/>
          <p:cNvSpPr/>
          <p:nvPr/>
        </p:nvSpPr>
        <p:spPr>
          <a:xfrm>
            <a:off x="7178040" y="2569464"/>
            <a:ext cx="1554480" cy="438912"/>
          </a:xfrm>
          <a:prstGeom prst="rect">
            <a:avLst/>
          </a:prstGeom>
          <a:solidFill>
            <a:srgbClr val="F4F1EC"/>
          </a:solidFill>
          <a:ln w="12700">
            <a:solidFill>
              <a:srgbClr val="C9BFAE"/>
            </a:solidFill>
            <a:prstDash val="dash"/>
          </a:ln>
        </p:spPr>
      </p:sp>
      <p:sp>
        <p:nvSpPr>
          <p:cNvPr id="23" name="Text 21"/>
          <p:cNvSpPr/>
          <p:nvPr/>
        </p:nvSpPr>
        <p:spPr>
          <a:xfrm>
            <a:off x="7178040" y="2569464"/>
            <a:ext cx="1554480" cy="438912"/>
          </a:xfrm>
          <a:prstGeom prst="rect">
            <a:avLst/>
          </a:prstGeom>
          <a:noFill/>
          <a:ln/>
        </p:spPr>
        <p:txBody>
          <a:bodyPr wrap="square" lIns="0" tIns="0" rIns="0" bIns="0" rtlCol="0" anchor="ctr"/>
          <a:lstStyle/>
          <a:p>
            <a:pPr marL="0" indent="0" algn="ctr">
              <a:buNone/>
            </a:pPr>
            <a:r>
              <a:rPr lang="en-US" sz="900" dirty="0">
                <a:solidFill>
                  <a:srgbClr val="6B7280"/>
                </a:solidFill>
                <a:latin typeface="Courier New" pitchFamily="34" charset="0"/>
                <a:ea typeface="Courier New" pitchFamily="34" charset="-122"/>
                <a:cs typeface="Courier New" pitchFamily="34" charset="-120"/>
              </a:rPr>
              <a:t>2 MB frame #4</a:t>
            </a:r>
            <a:endParaRPr lang="en-US" sz="900" dirty="0"/>
          </a:p>
        </p:txBody>
      </p:sp>
      <p:sp>
        <p:nvSpPr>
          <p:cNvPr id="24" name="Shape 22"/>
          <p:cNvSpPr/>
          <p:nvPr/>
        </p:nvSpPr>
        <p:spPr>
          <a:xfrm>
            <a:off x="6446520" y="1645920"/>
            <a:ext cx="731520" cy="1143000"/>
          </a:xfrm>
          <a:prstGeom prst="line">
            <a:avLst/>
          </a:prstGeom>
          <a:noFill/>
          <a:ln w="15875">
            <a:solidFill>
              <a:srgbClr val="5E9E52"/>
            </a:solidFill>
            <a:prstDash val="solid"/>
            <a:tailEnd type="triangle"/>
          </a:ln>
        </p:spPr>
      </p:sp>
      <p:sp>
        <p:nvSpPr>
          <p:cNvPr id="25" name="Text 23"/>
          <p:cNvSpPr/>
          <p:nvPr/>
        </p:nvSpPr>
        <p:spPr>
          <a:xfrm>
            <a:off x="457200" y="2377440"/>
            <a:ext cx="4389120" cy="7772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L3 entries with the PS bit set map a 2 MB physical frame directly — no L4 table beneath.</a:t>
            </a:r>
            <a:endParaRPr lang="en-US" sz="1200" dirty="0"/>
          </a:p>
        </p:txBody>
      </p:sp>
      <p:sp>
        <p:nvSpPr>
          <p:cNvPr id="26" name="Text 24"/>
          <p:cNvSpPr/>
          <p:nvPr/>
        </p:nvSpPr>
        <p:spPr>
          <a:xfrm>
            <a:off x="7178040" y="3127248"/>
            <a:ext cx="1554480" cy="228600"/>
          </a:xfrm>
          <a:prstGeom prst="rect">
            <a:avLst/>
          </a:prstGeom>
          <a:noFill/>
          <a:ln/>
        </p:spPr>
        <p:txBody>
          <a:bodyPr wrap="square" lIns="0" tIns="0" rIns="0" bIns="0" rtlCol="0" anchor="ctr"/>
          <a:lstStyle/>
          <a:p>
            <a:pPr marL="0" indent="0" algn="ctr">
              <a:buNone/>
            </a:pPr>
            <a:r>
              <a:rPr lang="en-US" sz="950" b="1" dirty="0">
                <a:solidFill>
                  <a:srgbClr val="5E9E52"/>
                </a:solidFill>
              </a:rPr>
              <a:t>L4 level: eliminated ✔</a:t>
            </a:r>
            <a:endParaRPr lang="en-US" sz="950" dirty="0"/>
          </a:p>
        </p:txBody>
      </p:sp>
      <p:sp>
        <p:nvSpPr>
          <p:cNvPr id="27" name="Shape 25"/>
          <p:cNvSpPr/>
          <p:nvPr/>
        </p:nvSpPr>
        <p:spPr>
          <a:xfrm>
            <a:off x="457200" y="3429000"/>
            <a:ext cx="5120640" cy="914400"/>
          </a:xfrm>
          <a:prstGeom prst="rect">
            <a:avLst/>
          </a:prstGeom>
          <a:solidFill>
            <a:srgbClr val="FFFFFF"/>
          </a:solidFill>
          <a:ln w="12700">
            <a:solidFill>
              <a:srgbClr val="DDE1E6"/>
            </a:solidFill>
            <a:prstDash val="solid"/>
          </a:ln>
        </p:spPr>
      </p:sp>
      <p:sp>
        <p:nvSpPr>
          <p:cNvPr id="28" name="Shape 26"/>
          <p:cNvSpPr/>
          <p:nvPr/>
        </p:nvSpPr>
        <p:spPr>
          <a:xfrm>
            <a:off x="457200" y="3429000"/>
            <a:ext cx="64008" cy="914400"/>
          </a:xfrm>
          <a:prstGeom prst="rect">
            <a:avLst/>
          </a:prstGeom>
          <a:solidFill>
            <a:srgbClr val="C2641A"/>
          </a:solidFill>
          <a:ln/>
        </p:spPr>
      </p:sp>
      <p:sp>
        <p:nvSpPr>
          <p:cNvPr id="29" name="Text 27"/>
          <p:cNvSpPr/>
          <p:nvPr/>
        </p:nvSpPr>
        <p:spPr>
          <a:xfrm>
            <a:off x="658368" y="3493008"/>
            <a:ext cx="1280160" cy="182880"/>
          </a:xfrm>
          <a:prstGeom prst="rect">
            <a:avLst/>
          </a:prstGeom>
          <a:noFill/>
          <a:ln/>
        </p:spPr>
        <p:txBody>
          <a:bodyPr wrap="square" lIns="0" tIns="0" rIns="0" bIns="0" rtlCol="0" anchor="ctr"/>
          <a:lstStyle/>
          <a:p>
            <a:pPr marL="0" indent="0">
              <a:buNone/>
            </a:pPr>
            <a:r>
              <a:rPr lang="en-US" sz="850" b="1" kern="0" spc="200" dirty="0">
                <a:solidFill>
                  <a:srgbClr val="C2641A"/>
                </a:solidFill>
                <a:latin typeface="Trebuchet MS" pitchFamily="34" charset="0"/>
                <a:ea typeface="Trebuchet MS" pitchFamily="34" charset="-122"/>
                <a:cs typeface="Trebuchet MS" pitchFamily="34" charset="-120"/>
              </a:rPr>
              <a:t>ANSWER</a:t>
            </a:r>
            <a:endParaRPr lang="en-US" sz="850" dirty="0"/>
          </a:p>
        </p:txBody>
      </p:sp>
      <p:sp>
        <p:nvSpPr>
          <p:cNvPr id="30" name="Text 28"/>
          <p:cNvSpPr/>
          <p:nvPr/>
        </p:nvSpPr>
        <p:spPr>
          <a:xfrm>
            <a:off x="658368" y="3675888"/>
            <a:ext cx="4754880" cy="603504"/>
          </a:xfrm>
          <a:prstGeom prst="rect">
            <a:avLst/>
          </a:prstGeom>
          <a:noFill/>
          <a:ln/>
        </p:spPr>
        <p:txBody>
          <a:bodyPr wrap="square" lIns="0" tIns="0" rIns="0" bIns="0" rtlCol="0" anchor="t"/>
          <a:lstStyle/>
          <a:p>
            <a:pPr marL="0" indent="0">
              <a:buNone/>
            </a:pPr>
            <a:r>
              <a:rPr lang="en-US" sz="1350" b="1" dirty="0">
                <a:solidFill>
                  <a:srgbClr val="1F2937"/>
                </a:solidFill>
                <a:latin typeface="Courier New" pitchFamily="34" charset="0"/>
                <a:ea typeface="Courier New" pitchFamily="34" charset="-122"/>
                <a:cs typeface="Courier New" pitchFamily="34" charset="-120"/>
              </a:rPr>
              <a:t>1 + 1 + 1 + 0 = 3 pages × 4 KB = 12 KB</a:t>
            </a:r>
            <a:endParaRPr lang="en-US" sz="1200" dirty="0"/>
          </a:p>
          <a:p>
            <a:pPr marL="0" indent="0">
              <a:buNone/>
            </a:pPr>
            <a:r>
              <a:rPr lang="en-US" sz="1150" dirty="0">
                <a:solidFill>
                  <a:srgbClr val="1F2937"/>
                </a:solidFill>
                <a:latin typeface="Calibri" pitchFamily="34" charset="0"/>
                <a:ea typeface="Calibri" pitchFamily="34" charset="-122"/>
                <a:cs typeface="Calibri" pitchFamily="34" charset="-120"/>
              </a:rPr>
              <a:t>Saved vs (a): 28 − 12 = 16 KB — exactly the four pruned L4 tables.</a:t>
            </a:r>
            <a:endParaRPr lang="en-US" sz="1200" dirty="0"/>
          </a:p>
        </p:txBody>
      </p:sp>
      <p:sp>
        <p:nvSpPr>
          <p:cNvPr id="31" name="Shape 29"/>
          <p:cNvSpPr/>
          <p:nvPr/>
        </p:nvSpPr>
        <p:spPr>
          <a:xfrm>
            <a:off x="5760720" y="3429000"/>
            <a:ext cx="2971800" cy="1097280"/>
          </a:xfrm>
          <a:prstGeom prst="rect">
            <a:avLst/>
          </a:prstGeom>
          <a:solidFill>
            <a:srgbClr val="FDF3EF"/>
          </a:solidFill>
          <a:ln w="12700">
            <a:solidFill>
              <a:srgbClr val="DDE1E6"/>
            </a:solidFill>
            <a:prstDash val="solid"/>
          </a:ln>
        </p:spPr>
      </p:sp>
      <p:sp>
        <p:nvSpPr>
          <p:cNvPr id="32" name="Shape 30"/>
          <p:cNvSpPr/>
          <p:nvPr/>
        </p:nvSpPr>
        <p:spPr>
          <a:xfrm>
            <a:off x="5760720" y="3429000"/>
            <a:ext cx="64008" cy="1097280"/>
          </a:xfrm>
          <a:prstGeom prst="rect">
            <a:avLst/>
          </a:prstGeom>
          <a:solidFill>
            <a:srgbClr val="B23A2F"/>
          </a:solidFill>
          <a:ln/>
        </p:spPr>
      </p:sp>
      <p:sp>
        <p:nvSpPr>
          <p:cNvPr id="33" name="Text 31"/>
          <p:cNvSpPr/>
          <p:nvPr/>
        </p:nvSpPr>
        <p:spPr>
          <a:xfrm>
            <a:off x="5961888" y="349300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34" name="Text 32"/>
          <p:cNvSpPr/>
          <p:nvPr/>
        </p:nvSpPr>
        <p:spPr>
          <a:xfrm>
            <a:off x="5961888" y="3675888"/>
            <a:ext cx="2606040" cy="78638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“Huge pages eliminate ALL page-table overhead.”  No — L1, L2, L3 still exist. They only prune the L4 level (which is where most of the overhead lives).</a:t>
            </a:r>
            <a:endParaRPr lang="en-US" sz="1100" dirty="0"/>
          </a:p>
        </p:txBody>
      </p:sp>
      <p:sp>
        <p:nvSpPr>
          <p:cNvPr id="35" name="Text 33"/>
          <p:cNvSpPr/>
          <p:nvPr/>
        </p:nvSpPr>
        <p:spPr>
          <a:xfrm>
            <a:off x="457200" y="4462272"/>
            <a:ext cx="512064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Bonus: TLB reach also improves — one TLB entry now covers 2 MB instead of 4 KB.</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21</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3.2 (C)</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Why multi-level tables save memory</a:t>
            </a:r>
            <a:endParaRPr lang="en-US" sz="2300" dirty="0"/>
          </a:p>
        </p:txBody>
      </p:sp>
      <p:sp>
        <p:nvSpPr>
          <p:cNvPr id="5" name="Shape 3"/>
          <p:cNvSpPr/>
          <p:nvPr/>
        </p:nvSpPr>
        <p:spPr>
          <a:xfrm>
            <a:off x="457200" y="1143000"/>
            <a:ext cx="8275320" cy="960120"/>
          </a:xfrm>
          <a:prstGeom prst="rect">
            <a:avLst/>
          </a:prstGeom>
          <a:solidFill>
            <a:srgbClr val="FFFFFF"/>
          </a:solidFill>
          <a:ln w="12700">
            <a:solidFill>
              <a:srgbClr val="DDE1E6"/>
            </a:solidFill>
            <a:prstDash val="solid"/>
          </a:ln>
        </p:spPr>
      </p:sp>
      <p:sp>
        <p:nvSpPr>
          <p:cNvPr id="6" name="Shape 4"/>
          <p:cNvSpPr/>
          <p:nvPr/>
        </p:nvSpPr>
        <p:spPr>
          <a:xfrm>
            <a:off x="457200" y="1143000"/>
            <a:ext cx="64008" cy="960120"/>
          </a:xfrm>
          <a:prstGeom prst="rect">
            <a:avLst/>
          </a:prstGeom>
          <a:solidFill>
            <a:srgbClr val="C2641A"/>
          </a:solidFill>
          <a:ln/>
        </p:spPr>
      </p:sp>
      <p:sp>
        <p:nvSpPr>
          <p:cNvPr id="7" name="Text 5"/>
          <p:cNvSpPr/>
          <p:nvPr/>
        </p:nvSpPr>
        <p:spPr>
          <a:xfrm>
            <a:off x="658368" y="1207008"/>
            <a:ext cx="1280160" cy="182880"/>
          </a:xfrm>
          <a:prstGeom prst="rect">
            <a:avLst/>
          </a:prstGeom>
          <a:noFill/>
          <a:ln/>
        </p:spPr>
        <p:txBody>
          <a:bodyPr wrap="square" lIns="0" tIns="0" rIns="0" bIns="0" rtlCol="0" anchor="ctr"/>
          <a:lstStyle/>
          <a:p>
            <a:pPr marL="0" indent="0">
              <a:buNone/>
            </a:pPr>
            <a:r>
              <a:rPr lang="en-US" sz="850" b="1" kern="0" spc="200" dirty="0">
                <a:solidFill>
                  <a:srgbClr val="C2641A"/>
                </a:solidFill>
                <a:latin typeface="Trebuchet MS" pitchFamily="34" charset="0"/>
                <a:ea typeface="Trebuchet MS" pitchFamily="34" charset="-122"/>
                <a:cs typeface="Trebuchet MS" pitchFamily="34" charset="-120"/>
              </a:rPr>
              <a:t>ANSWER</a:t>
            </a:r>
            <a:endParaRPr lang="en-US" sz="850" dirty="0"/>
          </a:p>
        </p:txBody>
      </p:sp>
      <p:sp>
        <p:nvSpPr>
          <p:cNvPr id="8" name="Text 6"/>
          <p:cNvSpPr/>
          <p:nvPr/>
        </p:nvSpPr>
        <p:spPr>
          <a:xfrm>
            <a:off x="658368" y="1389888"/>
            <a:ext cx="7909560" cy="649224"/>
          </a:xfrm>
          <a:prstGeom prst="rect">
            <a:avLst/>
          </a:prstGeom>
          <a:noFill/>
          <a:ln/>
        </p:spPr>
        <p:txBody>
          <a:bodyPr wrap="square" lIns="0" tIns="0" rIns="0" bIns="0" rtlCol="0" anchor="t"/>
          <a:lstStyle/>
          <a:p>
            <a:pPr marL="0" indent="0">
              <a:buNone/>
            </a:pPr>
            <a:r>
              <a:rPr lang="en-US" sz="1200" b="1" dirty="0">
                <a:solidFill>
                  <a:srgbClr val="1F2937"/>
                </a:solidFill>
                <a:latin typeface="Calibri" pitchFamily="34" charset="0"/>
                <a:ea typeface="Calibri" pitchFamily="34" charset="-122"/>
                <a:cs typeface="Calibri" pitchFamily="34" charset="-120"/>
              </a:rPr>
              <a:t>Lower-level tables are allocated only for VA regions that are actually mapped. </a:t>
            </a:r>
            <a:r>
              <a:rPr lang="en-US" sz="1200" dirty="0">
                <a:solidFill>
                  <a:srgbClr val="1F2937"/>
                </a:solidFill>
                <a:latin typeface="Calibri" pitchFamily="34" charset="0"/>
                <a:ea typeface="Calibri" pitchFamily="34" charset="-122"/>
                <a:cs typeface="Calibri" pitchFamily="34" charset="-120"/>
              </a:rPr>
              <a:t>For the vast unmapped middle of a typical 48-bit address space, no L2/L3/L4 tables exist at all — savings proportional to the unused VA space.</a:t>
            </a:r>
            <a:endParaRPr lang="en-US" sz="1200" dirty="0"/>
          </a:p>
        </p:txBody>
      </p:sp>
      <p:sp>
        <p:nvSpPr>
          <p:cNvPr id="9" name="Shape 7"/>
          <p:cNvSpPr/>
          <p:nvPr/>
        </p:nvSpPr>
        <p:spPr>
          <a:xfrm>
            <a:off x="457200" y="2377440"/>
            <a:ext cx="8275320" cy="2103120"/>
          </a:xfrm>
          <a:prstGeom prst="rect">
            <a:avLst/>
          </a:prstGeom>
          <a:solidFill>
            <a:srgbClr val="F0F2F5"/>
          </a:solidFill>
          <a:ln w="12700">
            <a:solidFill>
              <a:srgbClr val="DDE1E6"/>
            </a:solidFill>
            <a:prstDash val="solid"/>
          </a:ln>
        </p:spPr>
      </p:sp>
      <p:sp>
        <p:nvSpPr>
          <p:cNvPr id="10" name="Text 8"/>
          <p:cNvSpPr/>
          <p:nvPr/>
        </p:nvSpPr>
        <p:spPr>
          <a:xfrm>
            <a:off x="713232" y="2542032"/>
            <a:ext cx="7772400" cy="219456"/>
          </a:xfrm>
          <a:prstGeom prst="rect">
            <a:avLst/>
          </a:prstGeom>
          <a:noFill/>
          <a:ln/>
        </p:spPr>
        <p:txBody>
          <a:bodyPr wrap="square" lIns="0" tIns="0" rIns="0" bIns="0" rtlCol="0" anchor="ctr"/>
          <a:lstStyle/>
          <a:p>
            <a:pPr marL="0" indent="0">
              <a:buNone/>
            </a:pPr>
            <a:r>
              <a:rPr lang="en-US" sz="1050" b="1" kern="0" spc="100" dirty="0">
                <a:solidFill>
                  <a:srgbClr val="2F3C7E"/>
                </a:solidFill>
                <a:latin typeface="Trebuchet MS" pitchFamily="34" charset="0"/>
                <a:ea typeface="Trebuchet MS" pitchFamily="34" charset="-122"/>
                <a:cs typeface="Trebuchet MS" pitchFamily="34" charset="-120"/>
              </a:rPr>
              <a:t>THE SAME IDEA AT SCALE — A 2 GB CONTIGUOUS MAPPING</a:t>
            </a:r>
            <a:endParaRPr lang="en-US" sz="1050" dirty="0"/>
          </a:p>
        </p:txBody>
      </p:sp>
      <p:sp>
        <p:nvSpPr>
          <p:cNvPr id="11" name="Text 9"/>
          <p:cNvSpPr/>
          <p:nvPr/>
        </p:nvSpPr>
        <p:spPr>
          <a:xfrm>
            <a:off x="713232" y="2852928"/>
            <a:ext cx="7772400" cy="1508760"/>
          </a:xfrm>
          <a:prstGeom prst="rect">
            <a:avLst/>
          </a:prstGeom>
          <a:noFill/>
          <a:ln/>
        </p:spPr>
        <p:txBody>
          <a:bodyPr wrap="square" lIns="0" tIns="0" rIns="0" bIns="0" rtlCol="0" anchor="t"/>
          <a:lstStyle/>
          <a:p>
            <a:pPr marL="0" indent="0">
              <a:buNone/>
            </a:pPr>
            <a:r>
              <a:rPr lang="en-US" sz="1200" b="1" dirty="0">
                <a:solidFill>
                  <a:srgbClr val="1F2937"/>
                </a:solidFill>
                <a:latin typeface="Courier New" pitchFamily="34" charset="0"/>
                <a:ea typeface="Courier New" pitchFamily="34" charset="-122"/>
                <a:cs typeface="Courier New" pitchFamily="34" charset="-120"/>
              </a:rPr>
              <a:t>4 KB pages:   </a:t>
            </a:r>
            <a:r>
              <a:rPr lang="en-US" sz="1200" dirty="0">
                <a:solidFill>
                  <a:srgbClr val="1F2937"/>
                </a:solidFill>
                <a:latin typeface="Calibri" pitchFamily="34" charset="0"/>
                <a:ea typeface="Calibri" pitchFamily="34" charset="-122"/>
                <a:cs typeface="Calibri" pitchFamily="34" charset="-120"/>
              </a:rPr>
              <a:t>2¹⁹ pages ÷ 512 per table = 1024 L4 tables ≈ 4 MB of page-table memory</a:t>
            </a:r>
            <a:endParaRPr lang="en-US" sz="1200" dirty="0"/>
          </a:p>
          <a:p>
            <a:pPr marL="0" indent="0">
              <a:buNone/>
            </a:pPr>
            <a:r>
              <a:rPr lang="en-US" sz="1200" b="1" dirty="0">
                <a:solidFill>
                  <a:srgbClr val="1F2937"/>
                </a:solidFill>
                <a:latin typeface="Courier New" pitchFamily="34" charset="0"/>
                <a:ea typeface="Courier New" pitchFamily="34" charset="-122"/>
                <a:cs typeface="Courier New" pitchFamily="34" charset="-120"/>
              </a:rPr>
              <a:t>2 MB huge pages:   </a:t>
            </a:r>
            <a:r>
              <a:rPr lang="en-US" sz="1200" dirty="0">
                <a:solidFill>
                  <a:srgbClr val="1F2937"/>
                </a:solidFill>
                <a:latin typeface="Calibri" pitchFamily="34" charset="0"/>
                <a:ea typeface="Calibri" pitchFamily="34" charset="-122"/>
                <a:cs typeface="Calibri" pitchFamily="34" charset="-120"/>
              </a:rPr>
              <a:t>0 L4 tables → 3–4 page-table pages ≈ 12–16 KB total</a:t>
            </a:r>
            <a:endParaRPr lang="en-US" sz="1200" dirty="0"/>
          </a:p>
          <a:p>
            <a:pPr marL="0" indent="0">
              <a:buNone/>
            </a:pPr>
            <a:r>
              <a:rPr lang="en-US" sz="1200" b="1" dirty="0">
                <a:solidFill>
                  <a:srgbClr val="1F2937"/>
                </a:solidFill>
                <a:latin typeface="Courier New" pitchFamily="34" charset="0"/>
                <a:ea typeface="Courier New" pitchFamily="34" charset="-122"/>
                <a:cs typeface="Courier New" pitchFamily="34" charset="-120"/>
              </a:rPr>
              <a:t>Flat single-level table for 48-bit VA:   </a:t>
            </a:r>
            <a:r>
              <a:rPr lang="en-US" sz="1200" dirty="0">
                <a:solidFill>
                  <a:srgbClr val="B23A2F"/>
                </a:solidFill>
                <a:latin typeface="Calibri" pitchFamily="34" charset="0"/>
                <a:ea typeface="Calibri" pitchFamily="34" charset="-122"/>
                <a:cs typeface="Calibri" pitchFamily="34" charset="-120"/>
              </a:rPr>
              <a:t>2³⁶ entries × 8 B = 512 GB — more than your RAM, for one process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22</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3.3 SETUP</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VIPT: index virtually, tag physically</a:t>
            </a:r>
            <a:endParaRPr lang="en-US" sz="2300" dirty="0"/>
          </a:p>
        </p:txBody>
      </p:sp>
      <p:sp>
        <p:nvSpPr>
          <p:cNvPr id="5" name="Text 3"/>
          <p:cNvSpPr/>
          <p:nvPr/>
        </p:nvSpPr>
        <p:spPr>
          <a:xfrm>
            <a:off x="457200" y="1261872"/>
            <a:ext cx="777240" cy="365760"/>
          </a:xfrm>
          <a:prstGeom prst="rect">
            <a:avLst/>
          </a:prstGeom>
          <a:noFill/>
          <a:ln/>
        </p:spPr>
        <p:txBody>
          <a:bodyPr wrap="square" lIns="0" tIns="0" rIns="0" bIns="0" rtlCol="0" anchor="ctr"/>
          <a:lstStyle/>
          <a:p>
            <a:pPr marL="0" indent="0">
              <a:buNone/>
            </a:pPr>
            <a:r>
              <a:rPr lang="en-US" sz="1050" b="1" dirty="0">
                <a:solidFill>
                  <a:srgbClr val="6B7280"/>
                </a:solidFill>
                <a:latin typeface="Trebuchet MS" pitchFamily="34" charset="0"/>
                <a:ea typeface="Trebuchet MS" pitchFamily="34" charset="-122"/>
                <a:cs typeface="Trebuchet MS" pitchFamily="34" charset="-120"/>
              </a:rPr>
              <a:t>VA</a:t>
            </a:r>
            <a:endParaRPr lang="en-US" sz="1050" dirty="0"/>
          </a:p>
        </p:txBody>
      </p:sp>
      <p:sp>
        <p:nvSpPr>
          <p:cNvPr id="6" name="Shape 4"/>
          <p:cNvSpPr/>
          <p:nvPr/>
        </p:nvSpPr>
        <p:spPr>
          <a:xfrm>
            <a:off x="1325880" y="1188720"/>
            <a:ext cx="5554980" cy="457200"/>
          </a:xfrm>
          <a:prstGeom prst="rect">
            <a:avLst/>
          </a:prstGeom>
          <a:solidFill>
            <a:srgbClr val="F2EDE6"/>
          </a:solidFill>
          <a:ln w="12700">
            <a:solidFill>
              <a:srgbClr val="C9BFAE"/>
            </a:solidFill>
            <a:prstDash val="solid"/>
          </a:ln>
        </p:spPr>
      </p:sp>
      <p:sp>
        <p:nvSpPr>
          <p:cNvPr id="7" name="Text 5"/>
          <p:cNvSpPr/>
          <p:nvPr/>
        </p:nvSpPr>
        <p:spPr>
          <a:xfrm>
            <a:off x="1325880" y="1188720"/>
            <a:ext cx="5554980" cy="457200"/>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VPN : 36 (translated by TLB)</a:t>
            </a:r>
            <a:endParaRPr lang="en-US" sz="1050" dirty="0"/>
          </a:p>
        </p:txBody>
      </p:sp>
      <p:sp>
        <p:nvSpPr>
          <p:cNvPr id="8" name="Shape 6"/>
          <p:cNvSpPr/>
          <p:nvPr/>
        </p:nvSpPr>
        <p:spPr>
          <a:xfrm>
            <a:off x="6880860" y="1188720"/>
            <a:ext cx="1851660" cy="457200"/>
          </a:xfrm>
          <a:prstGeom prst="rect">
            <a:avLst/>
          </a:prstGeom>
          <a:solidFill>
            <a:srgbClr val="F8ECDF"/>
          </a:solidFill>
          <a:ln w="12700">
            <a:solidFill>
              <a:srgbClr val="C9BFAE"/>
            </a:solidFill>
            <a:prstDash val="solid"/>
          </a:ln>
        </p:spPr>
      </p:sp>
      <p:sp>
        <p:nvSpPr>
          <p:cNvPr id="9" name="Text 7"/>
          <p:cNvSpPr/>
          <p:nvPr/>
        </p:nvSpPr>
        <p:spPr>
          <a:xfrm>
            <a:off x="6880860" y="1188720"/>
            <a:ext cx="1851660" cy="457200"/>
          </a:xfrm>
          <a:prstGeom prst="rect">
            <a:avLst/>
          </a:prstGeom>
          <a:noFill/>
          <a:ln/>
        </p:spPr>
        <p:txBody>
          <a:bodyPr wrap="square" lIns="0" tIns="0" rIns="0" bIns="0" rtlCol="0" anchor="ctr"/>
          <a:lstStyle/>
          <a:p>
            <a:pPr marL="0" indent="0" algn="ctr">
              <a:buNone/>
            </a:pPr>
            <a:r>
              <a:rPr lang="en-US" sz="1050" b="1" dirty="0">
                <a:solidFill>
                  <a:srgbClr val="94470F"/>
                </a:solidFill>
                <a:latin typeface="Courier New" pitchFamily="34" charset="0"/>
                <a:ea typeface="Courier New" pitchFamily="34" charset="-122"/>
                <a:cs typeface="Courier New" pitchFamily="34" charset="-120"/>
              </a:rPr>
              <a:t>VPO : 12</a:t>
            </a:r>
            <a:endParaRPr lang="en-US" sz="1050" dirty="0"/>
          </a:p>
        </p:txBody>
      </p:sp>
      <p:sp>
        <p:nvSpPr>
          <p:cNvPr id="10" name="Text 8"/>
          <p:cNvSpPr/>
          <p:nvPr/>
        </p:nvSpPr>
        <p:spPr>
          <a:xfrm>
            <a:off x="457200" y="1901952"/>
            <a:ext cx="777240" cy="365760"/>
          </a:xfrm>
          <a:prstGeom prst="rect">
            <a:avLst/>
          </a:prstGeom>
          <a:noFill/>
          <a:ln/>
        </p:spPr>
        <p:txBody>
          <a:bodyPr wrap="square" lIns="0" tIns="0" rIns="0" bIns="0" rtlCol="0" anchor="ctr"/>
          <a:lstStyle/>
          <a:p>
            <a:pPr marL="0" indent="0">
              <a:buNone/>
            </a:pPr>
            <a:r>
              <a:rPr lang="en-US" sz="1050" b="1" dirty="0">
                <a:solidFill>
                  <a:srgbClr val="6B7280"/>
                </a:solidFill>
                <a:latin typeface="Trebuchet MS" pitchFamily="34" charset="0"/>
                <a:ea typeface="Trebuchet MS" pitchFamily="34" charset="-122"/>
                <a:cs typeface="Trebuchet MS" pitchFamily="34" charset="-120"/>
              </a:rPr>
              <a:t>PA</a:t>
            </a:r>
            <a:endParaRPr lang="en-US" sz="1050" dirty="0"/>
          </a:p>
        </p:txBody>
      </p:sp>
      <p:sp>
        <p:nvSpPr>
          <p:cNvPr id="11" name="Shape 9"/>
          <p:cNvSpPr/>
          <p:nvPr/>
        </p:nvSpPr>
        <p:spPr>
          <a:xfrm>
            <a:off x="1325880" y="1828800"/>
            <a:ext cx="5554980" cy="457200"/>
          </a:xfrm>
          <a:prstGeom prst="rect">
            <a:avLst/>
          </a:prstGeom>
          <a:solidFill>
            <a:srgbClr val="F2EDE6"/>
          </a:solidFill>
          <a:ln w="12700">
            <a:solidFill>
              <a:srgbClr val="C9BFAE"/>
            </a:solidFill>
            <a:prstDash val="solid"/>
          </a:ln>
        </p:spPr>
      </p:sp>
      <p:sp>
        <p:nvSpPr>
          <p:cNvPr id="12" name="Text 10"/>
          <p:cNvSpPr/>
          <p:nvPr/>
        </p:nvSpPr>
        <p:spPr>
          <a:xfrm>
            <a:off x="1325880" y="1828800"/>
            <a:ext cx="5554980" cy="457200"/>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PPN : 40 (after translation)</a:t>
            </a:r>
            <a:endParaRPr lang="en-US" sz="1050" dirty="0"/>
          </a:p>
        </p:txBody>
      </p:sp>
      <p:sp>
        <p:nvSpPr>
          <p:cNvPr id="13" name="Shape 11"/>
          <p:cNvSpPr/>
          <p:nvPr/>
        </p:nvSpPr>
        <p:spPr>
          <a:xfrm>
            <a:off x="6880860" y="1828800"/>
            <a:ext cx="1851660" cy="457200"/>
          </a:xfrm>
          <a:prstGeom prst="rect">
            <a:avLst/>
          </a:prstGeom>
          <a:solidFill>
            <a:srgbClr val="F8ECDF"/>
          </a:solidFill>
          <a:ln w="12700">
            <a:solidFill>
              <a:srgbClr val="C9BFAE"/>
            </a:solidFill>
            <a:prstDash val="solid"/>
          </a:ln>
        </p:spPr>
      </p:sp>
      <p:sp>
        <p:nvSpPr>
          <p:cNvPr id="14" name="Text 12"/>
          <p:cNvSpPr/>
          <p:nvPr/>
        </p:nvSpPr>
        <p:spPr>
          <a:xfrm>
            <a:off x="6880860" y="1828800"/>
            <a:ext cx="1851660" cy="457200"/>
          </a:xfrm>
          <a:prstGeom prst="rect">
            <a:avLst/>
          </a:prstGeom>
          <a:noFill/>
          <a:ln/>
        </p:spPr>
        <p:txBody>
          <a:bodyPr wrap="square" lIns="0" tIns="0" rIns="0" bIns="0" rtlCol="0" anchor="ctr"/>
          <a:lstStyle/>
          <a:p>
            <a:pPr marL="0" indent="0" algn="ctr">
              <a:buNone/>
            </a:pPr>
            <a:r>
              <a:rPr lang="en-US" sz="1050" b="1" dirty="0">
                <a:solidFill>
                  <a:srgbClr val="94470F"/>
                </a:solidFill>
                <a:latin typeface="Courier New" pitchFamily="34" charset="0"/>
                <a:ea typeface="Courier New" pitchFamily="34" charset="-122"/>
                <a:cs typeface="Courier New" pitchFamily="34" charset="-120"/>
              </a:rPr>
              <a:t>PPO : 12  =  VPO</a:t>
            </a:r>
            <a:endParaRPr lang="en-US" sz="1050" dirty="0"/>
          </a:p>
        </p:txBody>
      </p:sp>
      <p:sp>
        <p:nvSpPr>
          <p:cNvPr id="15" name="Text 13"/>
          <p:cNvSpPr/>
          <p:nvPr/>
        </p:nvSpPr>
        <p:spPr>
          <a:xfrm>
            <a:off x="457200" y="2542032"/>
            <a:ext cx="777240" cy="365760"/>
          </a:xfrm>
          <a:prstGeom prst="rect">
            <a:avLst/>
          </a:prstGeom>
          <a:noFill/>
          <a:ln/>
        </p:spPr>
        <p:txBody>
          <a:bodyPr wrap="square" lIns="0" tIns="0" rIns="0" bIns="0" rtlCol="0" anchor="ctr"/>
          <a:lstStyle/>
          <a:p>
            <a:pPr marL="0" indent="0">
              <a:buNone/>
            </a:pPr>
            <a:r>
              <a:rPr lang="en-US" sz="1050" b="1" dirty="0">
                <a:solidFill>
                  <a:srgbClr val="6B7280"/>
                </a:solidFill>
                <a:latin typeface="Trebuchet MS" pitchFamily="34" charset="0"/>
                <a:ea typeface="Trebuchet MS" pitchFamily="34" charset="-122"/>
                <a:cs typeface="Trebuchet MS" pitchFamily="34" charset="-120"/>
              </a:rPr>
              <a:t>cache</a:t>
            </a:r>
            <a:endParaRPr lang="en-US" sz="1050" dirty="0"/>
          </a:p>
        </p:txBody>
      </p:sp>
      <p:sp>
        <p:nvSpPr>
          <p:cNvPr id="16" name="Shape 14"/>
          <p:cNvSpPr/>
          <p:nvPr/>
        </p:nvSpPr>
        <p:spPr>
          <a:xfrm>
            <a:off x="1325880" y="2468880"/>
            <a:ext cx="5554980" cy="457200"/>
          </a:xfrm>
          <a:prstGeom prst="rect">
            <a:avLst/>
          </a:prstGeom>
          <a:solidFill>
            <a:srgbClr val="E8E4DC"/>
          </a:solidFill>
          <a:ln w="12700">
            <a:solidFill>
              <a:srgbClr val="C9BFAE"/>
            </a:solidFill>
            <a:prstDash val="solid"/>
          </a:ln>
        </p:spPr>
      </p:sp>
      <p:sp>
        <p:nvSpPr>
          <p:cNvPr id="17" name="Text 15"/>
          <p:cNvSpPr/>
          <p:nvPr/>
        </p:nvSpPr>
        <p:spPr>
          <a:xfrm>
            <a:off x="1325880" y="2468880"/>
            <a:ext cx="5554980" cy="457200"/>
          </a:xfrm>
          <a:prstGeom prst="rect">
            <a:avLst/>
          </a:prstGeom>
          <a:noFill/>
          <a:ln/>
        </p:spPr>
        <p:txBody>
          <a:bodyPr wrap="square" lIns="0" tIns="0" rIns="0" bIns="0" rtlCol="0" anchor="ctr"/>
          <a:lstStyle/>
          <a:p>
            <a:pPr marL="0" indent="0" algn="ctr">
              <a:buNone/>
            </a:pPr>
            <a:r>
              <a:rPr lang="en-US" sz="1050" dirty="0">
                <a:solidFill>
                  <a:srgbClr val="1F2937"/>
                </a:solidFill>
                <a:latin typeface="Courier New" pitchFamily="34" charset="0"/>
                <a:ea typeface="Courier New" pitchFamily="34" charset="-122"/>
                <a:cs typeface="Courier New" pitchFamily="34" charset="-120"/>
              </a:rPr>
              <a:t>CT : 40 (physical tag)</a:t>
            </a:r>
            <a:endParaRPr lang="en-US" sz="1050" dirty="0"/>
          </a:p>
        </p:txBody>
      </p:sp>
      <p:sp>
        <p:nvSpPr>
          <p:cNvPr id="18" name="Shape 16"/>
          <p:cNvSpPr/>
          <p:nvPr/>
        </p:nvSpPr>
        <p:spPr>
          <a:xfrm>
            <a:off x="6880860" y="2468880"/>
            <a:ext cx="925830" cy="457200"/>
          </a:xfrm>
          <a:prstGeom prst="rect">
            <a:avLst/>
          </a:prstGeom>
          <a:solidFill>
            <a:srgbClr val="D9EBD7"/>
          </a:solidFill>
          <a:ln w="12700">
            <a:solidFill>
              <a:srgbClr val="C9BFAE"/>
            </a:solidFill>
            <a:prstDash val="solid"/>
          </a:ln>
        </p:spPr>
      </p:sp>
      <p:sp>
        <p:nvSpPr>
          <p:cNvPr id="19" name="Text 17"/>
          <p:cNvSpPr/>
          <p:nvPr/>
        </p:nvSpPr>
        <p:spPr>
          <a:xfrm>
            <a:off x="6880860" y="2468880"/>
            <a:ext cx="925830" cy="457200"/>
          </a:xfrm>
          <a:prstGeom prst="rect">
            <a:avLst/>
          </a:prstGeom>
          <a:noFill/>
          <a:ln/>
        </p:spPr>
        <p:txBody>
          <a:bodyPr wrap="square" lIns="0" tIns="0" rIns="0" bIns="0" rtlCol="0" anchor="ctr"/>
          <a:lstStyle/>
          <a:p>
            <a:pPr marL="0" indent="0" algn="ctr">
              <a:buNone/>
            </a:pPr>
            <a:r>
              <a:rPr lang="en-US" sz="1050" b="1" dirty="0">
                <a:solidFill>
                  <a:srgbClr val="2F6B28"/>
                </a:solidFill>
                <a:latin typeface="Courier New" pitchFamily="34" charset="0"/>
                <a:ea typeface="Courier New" pitchFamily="34" charset="-122"/>
                <a:cs typeface="Courier New" pitchFamily="34" charset="-120"/>
              </a:rPr>
              <a:t>CI : 6</a:t>
            </a:r>
            <a:endParaRPr lang="en-US" sz="1050" dirty="0"/>
          </a:p>
        </p:txBody>
      </p:sp>
      <p:sp>
        <p:nvSpPr>
          <p:cNvPr id="20" name="Shape 18"/>
          <p:cNvSpPr/>
          <p:nvPr/>
        </p:nvSpPr>
        <p:spPr>
          <a:xfrm>
            <a:off x="7806690" y="2468880"/>
            <a:ext cx="925830" cy="457200"/>
          </a:xfrm>
          <a:prstGeom prst="rect">
            <a:avLst/>
          </a:prstGeom>
          <a:solidFill>
            <a:srgbClr val="D9EBD7"/>
          </a:solidFill>
          <a:ln w="12700">
            <a:solidFill>
              <a:srgbClr val="C9BFAE"/>
            </a:solidFill>
            <a:prstDash val="solid"/>
          </a:ln>
        </p:spPr>
      </p:sp>
      <p:sp>
        <p:nvSpPr>
          <p:cNvPr id="21" name="Text 19"/>
          <p:cNvSpPr/>
          <p:nvPr/>
        </p:nvSpPr>
        <p:spPr>
          <a:xfrm>
            <a:off x="7806690" y="2468880"/>
            <a:ext cx="925830" cy="457200"/>
          </a:xfrm>
          <a:prstGeom prst="rect">
            <a:avLst/>
          </a:prstGeom>
          <a:noFill/>
          <a:ln/>
        </p:spPr>
        <p:txBody>
          <a:bodyPr wrap="square" lIns="0" tIns="0" rIns="0" bIns="0" rtlCol="0" anchor="ctr"/>
          <a:lstStyle/>
          <a:p>
            <a:pPr marL="0" indent="0" algn="ctr">
              <a:buNone/>
            </a:pPr>
            <a:r>
              <a:rPr lang="en-US" sz="1050" b="1" dirty="0">
                <a:solidFill>
                  <a:srgbClr val="2F6B28"/>
                </a:solidFill>
                <a:latin typeface="Courier New" pitchFamily="34" charset="0"/>
                <a:ea typeface="Courier New" pitchFamily="34" charset="-122"/>
                <a:cs typeface="Courier New" pitchFamily="34" charset="-120"/>
              </a:rPr>
              <a:t>CO : 6</a:t>
            </a:r>
            <a:endParaRPr lang="en-US" sz="1050" dirty="0"/>
          </a:p>
        </p:txBody>
      </p:sp>
      <p:sp>
        <p:nvSpPr>
          <p:cNvPr id="22" name="Shape 20"/>
          <p:cNvSpPr/>
          <p:nvPr/>
        </p:nvSpPr>
        <p:spPr>
          <a:xfrm>
            <a:off x="6880860" y="1115568"/>
            <a:ext cx="1851660" cy="1883664"/>
          </a:xfrm>
          <a:prstGeom prst="rect">
            <a:avLst/>
          </a:prstGeom>
          <a:ln w="25400">
            <a:solidFill>
              <a:srgbClr val="5E9E52"/>
            </a:solidFill>
            <a:prstDash val="dash"/>
          </a:ln>
        </p:spPr>
      </p:sp>
      <p:sp>
        <p:nvSpPr>
          <p:cNvPr id="23" name="Text 21"/>
          <p:cNvSpPr/>
          <p:nvPr/>
        </p:nvSpPr>
        <p:spPr>
          <a:xfrm>
            <a:off x="3749040" y="3090672"/>
            <a:ext cx="4983480" cy="228600"/>
          </a:xfrm>
          <a:prstGeom prst="rect">
            <a:avLst/>
          </a:prstGeom>
          <a:noFill/>
          <a:ln/>
        </p:spPr>
        <p:txBody>
          <a:bodyPr wrap="square" lIns="0" tIns="0" rIns="0" bIns="0" rtlCol="0" anchor="ctr"/>
          <a:lstStyle/>
          <a:p>
            <a:pPr marL="0" indent="0" algn="r">
              <a:buNone/>
            </a:pPr>
            <a:r>
              <a:rPr lang="en-US" sz="1050" b="1" dirty="0">
                <a:solidFill>
                  <a:srgbClr val="2F6B28"/>
                </a:solidFill>
                <a:latin typeface="Calibri" pitchFamily="34" charset="0"/>
                <a:ea typeface="Calibri" pitchFamily="34" charset="-122"/>
                <a:cs typeface="Calibri" pitchFamily="34" charset="-120"/>
              </a:rPr>
              <a:t>CI + CO must fit inside the page offset — the only bits where VA = PA</a:t>
            </a:r>
            <a:endParaRPr lang="en-US" sz="1050" dirty="0"/>
          </a:p>
        </p:txBody>
      </p:sp>
      <p:sp>
        <p:nvSpPr>
          <p:cNvPr id="24" name="Shape 22"/>
          <p:cNvSpPr/>
          <p:nvPr/>
        </p:nvSpPr>
        <p:spPr>
          <a:xfrm>
            <a:off x="457200" y="3520440"/>
            <a:ext cx="5074920" cy="1234440"/>
          </a:xfrm>
          <a:prstGeom prst="rect">
            <a:avLst/>
          </a:prstGeom>
          <a:solidFill>
            <a:srgbClr val="FFFFFF"/>
          </a:solidFill>
          <a:ln w="12700">
            <a:solidFill>
              <a:srgbClr val="DDE1E6"/>
            </a:solidFill>
            <a:prstDash val="solid"/>
          </a:ln>
        </p:spPr>
      </p:sp>
      <p:sp>
        <p:nvSpPr>
          <p:cNvPr id="25" name="Shape 23"/>
          <p:cNvSpPr/>
          <p:nvPr/>
        </p:nvSpPr>
        <p:spPr>
          <a:xfrm>
            <a:off x="457200" y="3520440"/>
            <a:ext cx="64008" cy="1234440"/>
          </a:xfrm>
          <a:prstGeom prst="rect">
            <a:avLst/>
          </a:prstGeom>
          <a:solidFill>
            <a:srgbClr val="C2641A"/>
          </a:solidFill>
          <a:ln/>
        </p:spPr>
      </p:sp>
      <p:sp>
        <p:nvSpPr>
          <p:cNvPr id="26" name="Text 24"/>
          <p:cNvSpPr/>
          <p:nvPr/>
        </p:nvSpPr>
        <p:spPr>
          <a:xfrm>
            <a:off x="658368" y="3584448"/>
            <a:ext cx="1280160" cy="182880"/>
          </a:xfrm>
          <a:prstGeom prst="rect">
            <a:avLst/>
          </a:prstGeom>
          <a:noFill/>
          <a:ln/>
        </p:spPr>
        <p:txBody>
          <a:bodyPr wrap="square" lIns="0" tIns="0" rIns="0" bIns="0" rtlCol="0" anchor="ctr"/>
          <a:lstStyle/>
          <a:p>
            <a:pPr marL="0" indent="0">
              <a:buNone/>
            </a:pPr>
            <a:r>
              <a:rPr lang="en-US" sz="850" b="1" kern="0" spc="200" dirty="0">
                <a:solidFill>
                  <a:srgbClr val="C2641A"/>
                </a:solidFill>
                <a:latin typeface="Trebuchet MS" pitchFamily="34" charset="0"/>
                <a:ea typeface="Trebuchet MS" pitchFamily="34" charset="-122"/>
                <a:cs typeface="Trebuchet MS" pitchFamily="34" charset="-120"/>
              </a:rPr>
              <a:t>ANSWER</a:t>
            </a:r>
            <a:endParaRPr lang="en-US" sz="850" dirty="0"/>
          </a:p>
        </p:txBody>
      </p:sp>
      <p:sp>
        <p:nvSpPr>
          <p:cNvPr id="27" name="Text 25"/>
          <p:cNvSpPr/>
          <p:nvPr/>
        </p:nvSpPr>
        <p:spPr>
          <a:xfrm>
            <a:off x="658368" y="3767328"/>
            <a:ext cx="4709160" cy="923544"/>
          </a:xfrm>
          <a:prstGeom prst="rect">
            <a:avLst/>
          </a:prstGeom>
          <a:noFill/>
          <a:ln/>
        </p:spPr>
        <p:txBody>
          <a:bodyPr wrap="square" lIns="0" tIns="0" rIns="0" bIns="0" rtlCol="0" anchor="t"/>
          <a:lstStyle/>
          <a:p>
            <a:pPr marL="0" indent="0">
              <a:spcAft>
                <a:spcPts val="400"/>
              </a:spcAft>
              <a:buNone/>
            </a:pPr>
            <a:r>
              <a:rPr lang="en-US" sz="1400" b="1" dirty="0">
                <a:solidFill>
                  <a:srgbClr val="1F2937"/>
                </a:solidFill>
                <a:latin typeface="Courier New" pitchFamily="34" charset="0"/>
                <a:ea typeface="Courier New" pitchFamily="34" charset="-122"/>
                <a:cs typeface="Courier New" pitchFamily="34" charset="-120"/>
              </a:rPr>
              <a:t>Feasibility condition:  CI + CO ≤ VPO</a:t>
            </a:r>
            <a:endParaRPr lang="en-US" sz="1200" dirty="0"/>
          </a:p>
          <a:p>
            <a:pPr marL="0" indent="0">
              <a:buNone/>
            </a:pPr>
            <a:r>
              <a:rPr lang="en-US" sz="1100" dirty="0">
                <a:solidFill>
                  <a:srgbClr val="1F2937"/>
                </a:solidFill>
                <a:latin typeface="Calibri" pitchFamily="34" charset="0"/>
                <a:ea typeface="Calibri" pitchFamily="34" charset="-122"/>
                <a:cs typeface="Calibri" pitchFamily="34" charset="-120"/>
              </a:rPr>
              <a:t>Then the set index read from the VA equals the one the PA would give → index the cache in parallel with the TLB, tag-check with the PPN after.</a:t>
            </a:r>
            <a:endParaRPr lang="en-US" sz="1200" dirty="0"/>
          </a:p>
        </p:txBody>
      </p:sp>
      <p:sp>
        <p:nvSpPr>
          <p:cNvPr id="28" name="Shape 26"/>
          <p:cNvSpPr/>
          <p:nvPr/>
        </p:nvSpPr>
        <p:spPr>
          <a:xfrm>
            <a:off x="5715000" y="3520440"/>
            <a:ext cx="3017520" cy="1234440"/>
          </a:xfrm>
          <a:prstGeom prst="rect">
            <a:avLst/>
          </a:prstGeom>
          <a:solidFill>
            <a:srgbClr val="FDF3EF"/>
          </a:solidFill>
          <a:ln w="12700">
            <a:solidFill>
              <a:srgbClr val="DDE1E6"/>
            </a:solidFill>
            <a:prstDash val="solid"/>
          </a:ln>
        </p:spPr>
      </p:sp>
      <p:sp>
        <p:nvSpPr>
          <p:cNvPr id="29" name="Shape 27"/>
          <p:cNvSpPr/>
          <p:nvPr/>
        </p:nvSpPr>
        <p:spPr>
          <a:xfrm>
            <a:off x="5715000" y="3520440"/>
            <a:ext cx="64008" cy="1234440"/>
          </a:xfrm>
          <a:prstGeom prst="rect">
            <a:avLst/>
          </a:prstGeom>
          <a:solidFill>
            <a:srgbClr val="B23A2F"/>
          </a:solidFill>
          <a:ln/>
        </p:spPr>
      </p:sp>
      <p:sp>
        <p:nvSpPr>
          <p:cNvPr id="30" name="Text 28"/>
          <p:cNvSpPr/>
          <p:nvPr/>
        </p:nvSpPr>
        <p:spPr>
          <a:xfrm>
            <a:off x="5916168" y="358444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31" name="Text 29"/>
          <p:cNvSpPr/>
          <p:nvPr/>
        </p:nvSpPr>
        <p:spPr>
          <a:xfrm>
            <a:off x="5916168" y="3767328"/>
            <a:ext cx="2651760" cy="92354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“VIPT = the cache is virtual.”  Only the INDEX is virtual. The tag is physical, from the PPN after TLB translation.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1"/>
          <p:cNvSpPr>
            <a:spLocks noGrp="1" noChangeArrowheads="1"/>
          </p:cNvSpPr>
          <p:nvPr>
            <p:ph type="title" idx="4294967295"/>
          </p:nvPr>
        </p:nvSpPr>
        <p:spPr>
          <a:xfrm>
            <a:off x="342901" y="171450"/>
            <a:ext cx="8458199" cy="534924"/>
          </a:xfrm>
        </p:spPr>
        <p:txBody>
          <a:bodyPr wrap="none"/>
          <a:lstStyle/>
          <a:p>
            <a:pPr>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a:ea typeface="宋体" panose="02010600030101010101" pitchFamily="2" charset="-122"/>
              </a:rPr>
              <a:t>Cute Trick for Speeding Up L1 Access</a:t>
            </a:r>
            <a:r>
              <a:rPr lang="zh-CN" altLang="en-US">
                <a:ea typeface="宋体" panose="02010600030101010101" pitchFamily="2" charset="-122"/>
              </a:rPr>
              <a:t> </a:t>
            </a:r>
            <a:r>
              <a:rPr lang="en-US" altLang="zh-CN">
                <a:ea typeface="宋体" panose="02010600030101010101" pitchFamily="2" charset="-122"/>
              </a:rPr>
              <a:t>(VIPT)</a:t>
            </a:r>
            <a:endParaRPr lang="en-GB" altLang="zh-CN">
              <a:ea typeface="宋体" panose="02010600030101010101" pitchFamily="2" charset="-122"/>
            </a:endParaRPr>
          </a:p>
        </p:txBody>
      </p:sp>
      <p:sp>
        <p:nvSpPr>
          <p:cNvPr id="121858" name="Rectangle 2"/>
          <p:cNvSpPr>
            <a:spLocks noGrp="1" noChangeArrowheads="1"/>
          </p:cNvSpPr>
          <p:nvPr>
            <p:ph type="body" idx="1"/>
          </p:nvPr>
        </p:nvSpPr>
        <p:spPr>
          <a:xfrm>
            <a:off x="1061085" y="2751296"/>
            <a:ext cx="6994684" cy="1667828"/>
          </a:xfrm>
        </p:spPr>
        <p:txBody>
          <a:bodyPr>
            <a:noAutofit/>
          </a:bodyPr>
          <a:lstStyle/>
          <a:p>
            <a:pPr>
              <a:tabLst>
                <a:tab pos="239078" algn="l"/>
                <a:tab pos="634365" algn="l"/>
                <a:tab pos="1320165" algn="l"/>
                <a:tab pos="2005965" algn="l"/>
                <a:tab pos="2691765" algn="l"/>
                <a:tab pos="3377565" algn="l"/>
                <a:tab pos="4063365" algn="l"/>
                <a:tab pos="4749165" algn="l"/>
                <a:tab pos="5434965" algn="l"/>
                <a:tab pos="6120765" algn="l"/>
                <a:tab pos="6806565" algn="l"/>
                <a:tab pos="7492365" algn="l"/>
              </a:tabLst>
            </a:pPr>
            <a:r>
              <a:rPr lang="en-GB" altLang="zh-CN" sz="1800">
                <a:ea typeface="宋体" panose="02010600030101010101" pitchFamily="2" charset="-122"/>
              </a:rPr>
              <a:t>Observation</a:t>
            </a:r>
          </a:p>
          <a:p>
            <a:pPr lvl="1">
              <a:tabLst>
                <a:tab pos="239078" algn="l"/>
                <a:tab pos="634365" algn="l"/>
                <a:tab pos="1320165" algn="l"/>
                <a:tab pos="2005965" algn="l"/>
                <a:tab pos="2691765" algn="l"/>
                <a:tab pos="3377565" algn="l"/>
                <a:tab pos="4063365" algn="l"/>
                <a:tab pos="4749165" algn="l"/>
                <a:tab pos="5434965" algn="l"/>
                <a:tab pos="6120765" algn="l"/>
                <a:tab pos="6806565" algn="l"/>
                <a:tab pos="7492365" algn="l"/>
              </a:tabLst>
            </a:pPr>
            <a:r>
              <a:rPr lang="en-GB" altLang="zh-CN">
                <a:ea typeface="宋体" panose="02010600030101010101" pitchFamily="2" charset="-122"/>
              </a:rPr>
              <a:t>Bits that determine CI identical in virtual and physical address</a:t>
            </a:r>
          </a:p>
          <a:p>
            <a:pPr lvl="1">
              <a:tabLst>
                <a:tab pos="239078" algn="l"/>
                <a:tab pos="634365" algn="l"/>
                <a:tab pos="1320165" algn="l"/>
                <a:tab pos="2005965" algn="l"/>
                <a:tab pos="2691765" algn="l"/>
                <a:tab pos="3377565" algn="l"/>
                <a:tab pos="4063365" algn="l"/>
                <a:tab pos="4749165" algn="l"/>
                <a:tab pos="5434965" algn="l"/>
                <a:tab pos="6120765" algn="l"/>
                <a:tab pos="6806565" algn="l"/>
                <a:tab pos="7492365" algn="l"/>
              </a:tabLst>
            </a:pPr>
            <a:r>
              <a:rPr lang="en-GB" altLang="zh-CN">
                <a:ea typeface="宋体" panose="02010600030101010101" pitchFamily="2" charset="-122"/>
              </a:rPr>
              <a:t>Can index into cache while address translation taking place</a:t>
            </a:r>
          </a:p>
          <a:p>
            <a:pPr lvl="1">
              <a:tabLst>
                <a:tab pos="239078" algn="l"/>
                <a:tab pos="634365" algn="l"/>
                <a:tab pos="1320165" algn="l"/>
                <a:tab pos="2005965" algn="l"/>
                <a:tab pos="2691765" algn="l"/>
                <a:tab pos="3377565" algn="l"/>
                <a:tab pos="4063365" algn="l"/>
                <a:tab pos="4749165" algn="l"/>
                <a:tab pos="5434965" algn="l"/>
                <a:tab pos="6120765" algn="l"/>
                <a:tab pos="6806565" algn="l"/>
                <a:tab pos="7492365" algn="l"/>
              </a:tabLst>
            </a:pPr>
            <a:r>
              <a:rPr lang="en-GB" altLang="zh-CN">
                <a:ea typeface="宋体" panose="02010600030101010101" pitchFamily="2" charset="-122"/>
              </a:rPr>
              <a:t>Generally we hit in TLB, so PPN bits (CT bits) available next</a:t>
            </a:r>
          </a:p>
          <a:p>
            <a:pPr lvl="1">
              <a:tabLst>
                <a:tab pos="239078" algn="l"/>
                <a:tab pos="634365" algn="l"/>
                <a:tab pos="1320165" algn="l"/>
                <a:tab pos="2005965" algn="l"/>
                <a:tab pos="2691765" algn="l"/>
                <a:tab pos="3377565" algn="l"/>
                <a:tab pos="4063365" algn="l"/>
                <a:tab pos="4749165" algn="l"/>
                <a:tab pos="5434965" algn="l"/>
                <a:tab pos="6120765" algn="l"/>
                <a:tab pos="6806565" algn="l"/>
                <a:tab pos="7492365" algn="l"/>
              </a:tabLst>
            </a:pPr>
            <a:r>
              <a:rPr lang="en-GB" altLang="zh-CN">
                <a:ea typeface="宋体" panose="02010600030101010101" pitchFamily="2" charset="-122"/>
              </a:rPr>
              <a:t>“Virtually indexed, physically tagged”</a:t>
            </a:r>
          </a:p>
          <a:p>
            <a:pPr lvl="1">
              <a:tabLst>
                <a:tab pos="239078" algn="l"/>
                <a:tab pos="634365" algn="l"/>
                <a:tab pos="1320165" algn="l"/>
                <a:tab pos="2005965" algn="l"/>
                <a:tab pos="2691765" algn="l"/>
                <a:tab pos="3377565" algn="l"/>
                <a:tab pos="4063365" algn="l"/>
                <a:tab pos="4749165" algn="l"/>
                <a:tab pos="5434965" algn="l"/>
                <a:tab pos="6120765" algn="l"/>
                <a:tab pos="6806565" algn="l"/>
                <a:tab pos="7492365" algn="l"/>
              </a:tabLst>
            </a:pPr>
            <a:r>
              <a:rPr lang="en-GB" altLang="zh-CN">
                <a:ea typeface="宋体" panose="02010600030101010101" pitchFamily="2" charset="-122"/>
              </a:rPr>
              <a:t>Cache carefully sized to make this possible</a:t>
            </a:r>
          </a:p>
        </p:txBody>
      </p:sp>
      <p:grpSp>
        <p:nvGrpSpPr>
          <p:cNvPr id="2" name="组合 1"/>
          <p:cNvGrpSpPr/>
          <p:nvPr/>
        </p:nvGrpSpPr>
        <p:grpSpPr>
          <a:xfrm>
            <a:off x="1399699" y="735806"/>
            <a:ext cx="5803583" cy="2229655"/>
            <a:chOff x="2338" y="1771"/>
            <a:chExt cx="11714" cy="4992"/>
          </a:xfrm>
        </p:grpSpPr>
        <p:sp>
          <p:nvSpPr>
            <p:cNvPr id="121859" name="Text Box 3"/>
            <p:cNvSpPr txBox="1">
              <a:spLocks noChangeArrowheads="1"/>
            </p:cNvSpPr>
            <p:nvPr/>
          </p:nvSpPr>
          <p:spPr bwMode="auto">
            <a:xfrm>
              <a:off x="2338" y="2840"/>
              <a:ext cx="3742" cy="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algn="r" defTabSz="685800">
                <a:lnSpc>
                  <a:spcPct val="88000"/>
                </a:lnSpc>
                <a:spcBef>
                  <a:spcPts val="450"/>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a:solidFill>
                    <a:srgbClr val="003300"/>
                  </a:solidFill>
                  <a:latin typeface="Calibri" panose="020F0502020204030204" pitchFamily="34" charset="0"/>
                  <a:ea typeface="msgothic"/>
                  <a:cs typeface="msgothic"/>
                </a:rPr>
                <a:t>Physical </a:t>
              </a:r>
            </a:p>
            <a:p>
              <a:pPr algn="r" defTabSz="685800">
                <a:lnSpc>
                  <a:spcPct val="88000"/>
                </a:lnSpc>
                <a:spcBef>
                  <a:spcPts val="450"/>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a:solidFill>
                    <a:srgbClr val="003300"/>
                  </a:solidFill>
                  <a:latin typeface="Calibri" panose="020F0502020204030204" pitchFamily="34" charset="0"/>
                  <a:ea typeface="msgothic"/>
                  <a:cs typeface="msgothic"/>
                </a:rPr>
                <a:t>address </a:t>
              </a:r>
            </a:p>
            <a:p>
              <a:pPr algn="r" defTabSz="685800">
                <a:lnSpc>
                  <a:spcPct val="88000"/>
                </a:lnSpc>
                <a:spcBef>
                  <a:spcPts val="450"/>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a:solidFill>
                    <a:srgbClr val="003300"/>
                  </a:solidFill>
                  <a:latin typeface="Calibri" panose="020F0502020204030204" pitchFamily="34" charset="0"/>
                  <a:ea typeface="msgothic"/>
                  <a:cs typeface="msgothic"/>
                </a:rPr>
                <a:t>(PA)</a:t>
              </a:r>
            </a:p>
          </p:txBody>
        </p:sp>
        <p:sp>
          <p:nvSpPr>
            <p:cNvPr id="121860" name="Rectangle 4"/>
            <p:cNvSpPr>
              <a:spLocks noChangeArrowheads="1"/>
            </p:cNvSpPr>
            <p:nvPr/>
          </p:nvSpPr>
          <p:spPr bwMode="auto">
            <a:xfrm>
              <a:off x="6526" y="2873"/>
              <a:ext cx="1596" cy="456"/>
            </a:xfrm>
            <a:prstGeom prst="rect">
              <a:avLst/>
            </a:prstGeom>
            <a:solidFill>
              <a:srgbClr val="D5F1CF"/>
            </a:solidFill>
            <a:ln w="9360">
              <a:solidFill>
                <a:srgbClr val="000000"/>
              </a:solidFill>
              <a:miter lim="800000"/>
            </a:ln>
          </p:spPr>
          <p:txBody>
            <a:bodyPr wrap="none" lIns="67770" tIns="33210" rIns="67770" bIns="33210" anchor="ct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algn="ct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CT</a:t>
              </a:r>
            </a:p>
          </p:txBody>
        </p:sp>
        <p:sp>
          <p:nvSpPr>
            <p:cNvPr id="26629" name="Rectangle 5"/>
            <p:cNvSpPr>
              <a:spLocks noChangeArrowheads="1"/>
            </p:cNvSpPr>
            <p:nvPr/>
          </p:nvSpPr>
          <p:spPr bwMode="auto">
            <a:xfrm>
              <a:off x="8578" y="2873"/>
              <a:ext cx="456" cy="456"/>
            </a:xfrm>
            <a:prstGeom prst="rect">
              <a:avLst/>
            </a:prstGeom>
            <a:solidFill>
              <a:schemeClr val="accent2">
                <a:lumMod val="20000"/>
                <a:lumOff val="80000"/>
              </a:schemeClr>
            </a:solidFill>
            <a:ln w="9360">
              <a:solidFill>
                <a:srgbClr val="000000"/>
              </a:solidFill>
              <a:miter lim="800000"/>
            </a:ln>
            <a:effectLst/>
          </p:spPr>
          <p:txBody>
            <a:bodyPr wrap="none" lIns="67770" tIns="33210" rIns="67770" bIns="33210" anchor="ctr"/>
            <a:lstStyle/>
            <a:p>
              <a:pPr algn="ctr" defTabSz="685800">
                <a:lnSpc>
                  <a:spcPct val="88000"/>
                </a:lnSpc>
                <a:spcBef>
                  <a:spcPts val="394"/>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r>
                <a:rPr lang="en-GB" sz="1050" dirty="0">
                  <a:solidFill>
                    <a:srgbClr val="003300"/>
                  </a:solidFill>
                  <a:latin typeface="Calibri" panose="020F0502020204030204" pitchFamily="34" charset="0"/>
                  <a:ea typeface="msgothic" charset="0"/>
                  <a:cs typeface="msgothic" charset="0"/>
                </a:rPr>
                <a:t>CO</a:t>
              </a:r>
            </a:p>
          </p:txBody>
        </p:sp>
        <p:sp>
          <p:nvSpPr>
            <p:cNvPr id="121862" name="Text Box 6"/>
            <p:cNvSpPr txBox="1">
              <a:spLocks noChangeArrowheads="1"/>
            </p:cNvSpPr>
            <p:nvPr/>
          </p:nvSpPr>
          <p:spPr bwMode="auto">
            <a:xfrm>
              <a:off x="6984" y="2531"/>
              <a:ext cx="784"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dirty="0">
                  <a:solidFill>
                    <a:srgbClr val="003300"/>
                  </a:solidFill>
                  <a:latin typeface="Calibri" panose="020F0502020204030204" pitchFamily="34" charset="0"/>
                  <a:ea typeface="msgothic"/>
                  <a:cs typeface="msgothic"/>
                </a:rPr>
                <a:t>36</a:t>
              </a:r>
            </a:p>
          </p:txBody>
        </p:sp>
        <p:sp>
          <p:nvSpPr>
            <p:cNvPr id="121863" name="Text Box 7"/>
            <p:cNvSpPr txBox="1">
              <a:spLocks noChangeArrowheads="1"/>
            </p:cNvSpPr>
            <p:nvPr/>
          </p:nvSpPr>
          <p:spPr bwMode="auto">
            <a:xfrm>
              <a:off x="8616" y="2531"/>
              <a:ext cx="409"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6</a:t>
              </a:r>
            </a:p>
          </p:txBody>
        </p:sp>
        <p:sp>
          <p:nvSpPr>
            <p:cNvPr id="26632" name="Rectangle 8"/>
            <p:cNvSpPr>
              <a:spLocks noChangeArrowheads="1"/>
            </p:cNvSpPr>
            <p:nvPr/>
          </p:nvSpPr>
          <p:spPr bwMode="auto">
            <a:xfrm>
              <a:off x="8122" y="2873"/>
              <a:ext cx="456" cy="456"/>
            </a:xfrm>
            <a:prstGeom prst="rect">
              <a:avLst/>
            </a:prstGeom>
            <a:solidFill>
              <a:schemeClr val="accent2">
                <a:lumMod val="20000"/>
                <a:lumOff val="80000"/>
              </a:schemeClr>
            </a:solidFill>
            <a:ln w="9360">
              <a:solidFill>
                <a:srgbClr val="000000"/>
              </a:solidFill>
              <a:miter lim="800000"/>
            </a:ln>
            <a:effectLst/>
          </p:spPr>
          <p:txBody>
            <a:bodyPr wrap="none" lIns="67770" tIns="33210" rIns="67770" bIns="33210" anchor="ctr"/>
            <a:lstStyle/>
            <a:p>
              <a:pPr algn="ctr" defTabSz="685800">
                <a:lnSpc>
                  <a:spcPct val="88000"/>
                </a:lnSpc>
                <a:spcBef>
                  <a:spcPts val="394"/>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r>
                <a:rPr lang="en-GB" sz="1050" dirty="0">
                  <a:solidFill>
                    <a:srgbClr val="003300"/>
                  </a:solidFill>
                  <a:latin typeface="Calibri" panose="020F0502020204030204" pitchFamily="34" charset="0"/>
                  <a:ea typeface="msgothic" charset="0"/>
                  <a:cs typeface="msgothic" charset="0"/>
                </a:rPr>
                <a:t>CI</a:t>
              </a:r>
            </a:p>
          </p:txBody>
        </p:sp>
        <p:sp>
          <p:nvSpPr>
            <p:cNvPr id="121865" name="Text Box 9"/>
            <p:cNvSpPr txBox="1">
              <a:spLocks noChangeArrowheads="1"/>
            </p:cNvSpPr>
            <p:nvPr/>
          </p:nvSpPr>
          <p:spPr bwMode="auto">
            <a:xfrm>
              <a:off x="8122" y="2531"/>
              <a:ext cx="409"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6</a:t>
              </a:r>
            </a:p>
          </p:txBody>
        </p:sp>
        <p:sp>
          <p:nvSpPr>
            <p:cNvPr id="121866" name="Text Box 10"/>
            <p:cNvSpPr txBox="1">
              <a:spLocks noChangeArrowheads="1"/>
            </p:cNvSpPr>
            <p:nvPr/>
          </p:nvSpPr>
          <p:spPr bwMode="auto">
            <a:xfrm>
              <a:off x="4473" y="5031"/>
              <a:ext cx="1606" cy="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algn="r" defTabSz="685800">
                <a:lnSpc>
                  <a:spcPct val="88000"/>
                </a:lnSpc>
                <a:spcBef>
                  <a:spcPts val="450"/>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a:solidFill>
                    <a:srgbClr val="003300"/>
                  </a:solidFill>
                  <a:latin typeface="Calibri" panose="020F0502020204030204" pitchFamily="34" charset="0"/>
                  <a:ea typeface="msgothic"/>
                  <a:cs typeface="msgothic"/>
                </a:rPr>
                <a:t>Virtual </a:t>
              </a:r>
            </a:p>
            <a:p>
              <a:pPr algn="r" defTabSz="685800">
                <a:lnSpc>
                  <a:spcPct val="88000"/>
                </a:lnSpc>
                <a:spcBef>
                  <a:spcPts val="450"/>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a:solidFill>
                    <a:srgbClr val="003300"/>
                  </a:solidFill>
                  <a:latin typeface="Calibri" panose="020F0502020204030204" pitchFamily="34" charset="0"/>
                  <a:ea typeface="msgothic"/>
                  <a:cs typeface="msgothic"/>
                </a:rPr>
                <a:t>address </a:t>
              </a:r>
            </a:p>
            <a:p>
              <a:pPr algn="r" defTabSz="685800">
                <a:lnSpc>
                  <a:spcPct val="88000"/>
                </a:lnSpc>
                <a:spcBef>
                  <a:spcPts val="450"/>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a:solidFill>
                    <a:srgbClr val="003300"/>
                  </a:solidFill>
                  <a:latin typeface="Calibri" panose="020F0502020204030204" pitchFamily="34" charset="0"/>
                  <a:ea typeface="msgothic"/>
                  <a:cs typeface="msgothic"/>
                </a:rPr>
                <a:t>(VA)</a:t>
              </a:r>
            </a:p>
          </p:txBody>
        </p:sp>
        <p:sp>
          <p:nvSpPr>
            <p:cNvPr id="121867" name="Rectangle 11"/>
            <p:cNvSpPr>
              <a:spLocks noChangeArrowheads="1"/>
            </p:cNvSpPr>
            <p:nvPr/>
          </p:nvSpPr>
          <p:spPr bwMode="auto">
            <a:xfrm>
              <a:off x="6526" y="5724"/>
              <a:ext cx="1596" cy="456"/>
            </a:xfrm>
            <a:prstGeom prst="rect">
              <a:avLst/>
            </a:prstGeom>
            <a:solidFill>
              <a:srgbClr val="F1C7C7"/>
            </a:solidFill>
            <a:ln w="9360">
              <a:solidFill>
                <a:srgbClr val="000000"/>
              </a:solidFill>
              <a:miter lim="800000"/>
            </a:ln>
          </p:spPr>
          <p:txBody>
            <a:bodyPr wrap="none" lIns="67770" tIns="33210" rIns="67770" bIns="33210" anchor="ct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algn="ct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VPN</a:t>
              </a:r>
            </a:p>
          </p:txBody>
        </p:sp>
        <p:sp>
          <p:nvSpPr>
            <p:cNvPr id="26636" name="Rectangle 12"/>
            <p:cNvSpPr>
              <a:spLocks noChangeArrowheads="1"/>
            </p:cNvSpPr>
            <p:nvPr/>
          </p:nvSpPr>
          <p:spPr bwMode="auto">
            <a:xfrm>
              <a:off x="8122" y="5724"/>
              <a:ext cx="912" cy="456"/>
            </a:xfrm>
            <a:prstGeom prst="rect">
              <a:avLst/>
            </a:prstGeom>
            <a:solidFill>
              <a:schemeClr val="accent2">
                <a:lumMod val="20000"/>
                <a:lumOff val="80000"/>
              </a:schemeClr>
            </a:solidFill>
            <a:ln w="9360">
              <a:solidFill>
                <a:srgbClr val="000000"/>
              </a:solidFill>
              <a:miter lim="800000"/>
            </a:ln>
            <a:effectLst/>
          </p:spPr>
          <p:txBody>
            <a:bodyPr wrap="none" lIns="67770" tIns="33210" rIns="67770" bIns="33210" anchor="ctr"/>
            <a:lstStyle/>
            <a:p>
              <a:pPr algn="ctr" defTabSz="685800">
                <a:lnSpc>
                  <a:spcPct val="88000"/>
                </a:lnSpc>
                <a:spcBef>
                  <a:spcPts val="394"/>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r>
                <a:rPr lang="en-GB" sz="1050" dirty="0">
                  <a:solidFill>
                    <a:srgbClr val="003300"/>
                  </a:solidFill>
                  <a:latin typeface="Calibri" panose="020F0502020204030204" pitchFamily="34" charset="0"/>
                  <a:ea typeface="msgothic" charset="0"/>
                  <a:cs typeface="msgothic" charset="0"/>
                </a:rPr>
                <a:t>VPO</a:t>
              </a:r>
            </a:p>
          </p:txBody>
        </p:sp>
        <p:sp>
          <p:nvSpPr>
            <p:cNvPr id="121869" name="Text Box 13"/>
            <p:cNvSpPr txBox="1">
              <a:spLocks noChangeArrowheads="1"/>
            </p:cNvSpPr>
            <p:nvPr/>
          </p:nvSpPr>
          <p:spPr bwMode="auto">
            <a:xfrm>
              <a:off x="6980" y="6294"/>
              <a:ext cx="686"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dirty="0">
                  <a:solidFill>
                    <a:srgbClr val="003300"/>
                  </a:solidFill>
                  <a:latin typeface="Calibri" panose="020F0502020204030204" pitchFamily="34" charset="0"/>
                  <a:ea typeface="msgothic"/>
                  <a:cs typeface="msgothic"/>
                </a:rPr>
                <a:t>36</a:t>
              </a:r>
            </a:p>
          </p:txBody>
        </p:sp>
        <p:sp>
          <p:nvSpPr>
            <p:cNvPr id="121870" name="Text Box 14"/>
            <p:cNvSpPr txBox="1">
              <a:spLocks noChangeArrowheads="1"/>
            </p:cNvSpPr>
            <p:nvPr/>
          </p:nvSpPr>
          <p:spPr bwMode="auto">
            <a:xfrm>
              <a:off x="8118" y="6294"/>
              <a:ext cx="912"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algn="ct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12</a:t>
              </a:r>
            </a:p>
          </p:txBody>
        </p:sp>
        <p:sp>
          <p:nvSpPr>
            <p:cNvPr id="26639" name="Rectangle 15"/>
            <p:cNvSpPr>
              <a:spLocks noChangeArrowheads="1"/>
            </p:cNvSpPr>
            <p:nvPr/>
          </p:nvSpPr>
          <p:spPr bwMode="auto">
            <a:xfrm>
              <a:off x="8122" y="3786"/>
              <a:ext cx="912" cy="456"/>
            </a:xfrm>
            <a:prstGeom prst="rect">
              <a:avLst/>
            </a:prstGeom>
            <a:solidFill>
              <a:schemeClr val="accent2">
                <a:lumMod val="20000"/>
                <a:lumOff val="80000"/>
              </a:schemeClr>
            </a:solidFill>
            <a:ln w="9360">
              <a:solidFill>
                <a:srgbClr val="000000"/>
              </a:solidFill>
              <a:miter lim="800000"/>
            </a:ln>
            <a:effectLst/>
          </p:spPr>
          <p:txBody>
            <a:bodyPr wrap="none" lIns="67770" tIns="33210" rIns="67770" bIns="33210" anchor="ctr"/>
            <a:lstStyle/>
            <a:p>
              <a:pPr algn="ctr" defTabSz="685800">
                <a:lnSpc>
                  <a:spcPct val="88000"/>
                </a:lnSpc>
                <a:spcBef>
                  <a:spcPts val="394"/>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pPr>
              <a:r>
                <a:rPr lang="en-GB" sz="1050" dirty="0">
                  <a:solidFill>
                    <a:srgbClr val="003300"/>
                  </a:solidFill>
                  <a:latin typeface="Calibri" panose="020F0502020204030204" pitchFamily="34" charset="0"/>
                  <a:ea typeface="msgothic" charset="0"/>
                  <a:cs typeface="msgothic" charset="0"/>
                </a:rPr>
                <a:t>PPO</a:t>
              </a:r>
            </a:p>
          </p:txBody>
        </p:sp>
        <p:sp>
          <p:nvSpPr>
            <p:cNvPr id="121872" name="Rectangle 16"/>
            <p:cNvSpPr>
              <a:spLocks noChangeArrowheads="1"/>
            </p:cNvSpPr>
            <p:nvPr/>
          </p:nvSpPr>
          <p:spPr bwMode="auto">
            <a:xfrm>
              <a:off x="6526" y="3786"/>
              <a:ext cx="1596" cy="456"/>
            </a:xfrm>
            <a:prstGeom prst="rect">
              <a:avLst/>
            </a:prstGeom>
            <a:solidFill>
              <a:srgbClr val="D5F1CF"/>
            </a:solidFill>
            <a:ln w="9360">
              <a:solidFill>
                <a:srgbClr val="000000"/>
              </a:solidFill>
              <a:miter lim="800000"/>
            </a:ln>
          </p:spPr>
          <p:txBody>
            <a:bodyPr wrap="none" lIns="67770" tIns="33210" rIns="67770" bIns="33210" anchor="ct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algn="ct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PPN</a:t>
              </a:r>
            </a:p>
          </p:txBody>
        </p:sp>
        <p:sp>
          <p:nvSpPr>
            <p:cNvPr id="121873" name="AutoShape 17"/>
            <p:cNvSpPr/>
            <p:nvPr/>
          </p:nvSpPr>
          <p:spPr bwMode="auto">
            <a:xfrm>
              <a:off x="6070" y="2873"/>
              <a:ext cx="342" cy="1368"/>
            </a:xfrm>
            <a:prstGeom prst="leftBrace">
              <a:avLst>
                <a:gd name="adj1" fmla="val 33333"/>
                <a:gd name="adj2" fmla="val 50000"/>
              </a:avLst>
            </a:prstGeom>
            <a:noFill/>
            <a:ln w="936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defTabSz="685800">
                <a:spcBef>
                  <a:spcPct val="0"/>
                </a:spcBef>
                <a:buNone/>
              </a:pPr>
              <a:endParaRPr lang="en-US" altLang="zh-CN" sz="1500">
                <a:solidFill>
                  <a:srgbClr val="000000"/>
                </a:solidFill>
                <a:ea typeface="微软雅黑"/>
              </a:endParaRPr>
            </a:p>
          </p:txBody>
        </p:sp>
        <p:sp>
          <p:nvSpPr>
            <p:cNvPr id="121874" name="Line 18"/>
            <p:cNvSpPr>
              <a:spLocks noChangeShapeType="1"/>
            </p:cNvSpPr>
            <p:nvPr/>
          </p:nvSpPr>
          <p:spPr bwMode="auto">
            <a:xfrm flipV="1">
              <a:off x="7438" y="5380"/>
              <a:ext cx="2" cy="347"/>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75" name="AutoShape 19"/>
            <p:cNvSpPr>
              <a:spLocks noChangeArrowheads="1"/>
            </p:cNvSpPr>
            <p:nvPr/>
          </p:nvSpPr>
          <p:spPr bwMode="auto">
            <a:xfrm>
              <a:off x="6412" y="4584"/>
              <a:ext cx="1710" cy="776"/>
            </a:xfrm>
            <a:prstGeom prst="roundRect">
              <a:avLst>
                <a:gd name="adj" fmla="val 16667"/>
              </a:avLst>
            </a:prstGeom>
            <a:solidFill>
              <a:srgbClr val="D9D9D9"/>
            </a:solidFill>
            <a:ln>
              <a:noFill/>
            </a:ln>
            <a:extLst>
              <a:ext uri="{91240B29-F687-4F45-9708-019B960494DF}">
                <a14:hiddenLine xmlns:a14="http://schemas.microsoft.com/office/drawing/2010/main" w="19080">
                  <a:solidFill>
                    <a:srgbClr val="000000"/>
                  </a:solidFill>
                  <a:miter lim="800000"/>
                  <a:headEnd/>
                  <a:tailEnd/>
                </a14:hiddenLine>
              </a:ext>
            </a:extLst>
          </p:spPr>
          <p:txBody>
            <a:bodyPr wrap="none" lIns="67770" tIns="33210" rIns="67770" bIns="33210" anchor="ct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algn="ct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dirty="0">
                  <a:solidFill>
                    <a:srgbClr val="003300"/>
                  </a:solidFill>
                  <a:latin typeface="Calibri" panose="020F0502020204030204" pitchFamily="34" charset="0"/>
                  <a:ea typeface="msgothic"/>
                  <a:cs typeface="msgothic"/>
                </a:rPr>
                <a:t>Address</a:t>
              </a:r>
            </a:p>
            <a:p>
              <a:pPr algn="ct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dirty="0">
                  <a:solidFill>
                    <a:srgbClr val="003300"/>
                  </a:solidFill>
                  <a:latin typeface="Calibri" panose="020F0502020204030204" pitchFamily="34" charset="0"/>
                  <a:ea typeface="msgothic"/>
                  <a:cs typeface="msgothic"/>
                </a:rPr>
                <a:t>Translation</a:t>
              </a:r>
            </a:p>
          </p:txBody>
        </p:sp>
        <p:sp>
          <p:nvSpPr>
            <p:cNvPr id="121876" name="Line 20"/>
            <p:cNvSpPr>
              <a:spLocks noChangeShapeType="1"/>
            </p:cNvSpPr>
            <p:nvPr/>
          </p:nvSpPr>
          <p:spPr bwMode="auto">
            <a:xfrm flipV="1">
              <a:off x="7438" y="4239"/>
              <a:ext cx="2" cy="411"/>
            </a:xfrm>
            <a:prstGeom prst="line">
              <a:avLst/>
            </a:prstGeom>
            <a:noFill/>
            <a:ln w="9360">
              <a:solidFill>
                <a:srgbClr val="000066"/>
              </a:solidFill>
              <a:miter lim="800000"/>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77" name="Line 21"/>
            <p:cNvSpPr>
              <a:spLocks noChangeShapeType="1"/>
            </p:cNvSpPr>
            <p:nvPr/>
          </p:nvSpPr>
          <p:spPr bwMode="auto">
            <a:xfrm flipV="1">
              <a:off x="8578" y="4239"/>
              <a:ext cx="2" cy="1487"/>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78" name="Text Box 22"/>
            <p:cNvSpPr txBox="1">
              <a:spLocks noChangeArrowheads="1"/>
            </p:cNvSpPr>
            <p:nvPr/>
          </p:nvSpPr>
          <p:spPr bwMode="auto">
            <a:xfrm>
              <a:off x="8574" y="4539"/>
              <a:ext cx="1098"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No</a:t>
              </a:r>
            </a:p>
            <a:p>
              <a:pP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Change</a:t>
              </a:r>
            </a:p>
          </p:txBody>
        </p:sp>
        <p:sp>
          <p:nvSpPr>
            <p:cNvPr id="121879" name="Rectangle 23"/>
            <p:cNvSpPr>
              <a:spLocks noChangeArrowheads="1"/>
            </p:cNvSpPr>
            <p:nvPr/>
          </p:nvSpPr>
          <p:spPr bwMode="auto">
            <a:xfrm>
              <a:off x="10061" y="3786"/>
              <a:ext cx="3991" cy="1710"/>
            </a:xfrm>
            <a:prstGeom prst="rect">
              <a:avLst/>
            </a:prstGeom>
            <a:solidFill>
              <a:srgbClr val="F6F5BD"/>
            </a:solidFill>
            <a:ln w="19080">
              <a:solidFill>
                <a:srgbClr val="000066"/>
              </a:solidFill>
              <a:miter lim="800000"/>
            </a:ln>
          </p:spPr>
          <p:txBody>
            <a:bodyPr wrap="none" anchor="ct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defTabSz="685800">
                <a:spcBef>
                  <a:spcPct val="0"/>
                </a:spcBef>
                <a:buNone/>
              </a:pPr>
              <a:endParaRPr lang="en-US" altLang="zh-CN" sz="1500">
                <a:solidFill>
                  <a:srgbClr val="000000"/>
                </a:solidFill>
                <a:ea typeface="微软雅黑"/>
              </a:endParaRPr>
            </a:p>
          </p:txBody>
        </p:sp>
        <p:sp>
          <p:nvSpPr>
            <p:cNvPr id="121880" name="Line 28"/>
            <p:cNvSpPr>
              <a:spLocks noChangeShapeType="1"/>
            </p:cNvSpPr>
            <p:nvPr/>
          </p:nvSpPr>
          <p:spPr bwMode="auto">
            <a:xfrm flipV="1">
              <a:off x="9035" y="4470"/>
              <a:ext cx="1399" cy="1485"/>
            </a:xfrm>
            <a:prstGeom prst="line">
              <a:avLst/>
            </a:prstGeom>
            <a:noFill/>
            <a:ln w="19080">
              <a:solidFill>
                <a:srgbClr val="000066"/>
              </a:solidFill>
              <a:prstDash val="sysDot"/>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81" name="Rectangle 29"/>
            <p:cNvSpPr>
              <a:spLocks noChangeArrowheads="1"/>
            </p:cNvSpPr>
            <p:nvPr/>
          </p:nvSpPr>
          <p:spPr bwMode="auto">
            <a:xfrm>
              <a:off x="9460" y="5306"/>
              <a:ext cx="487"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CI</a:t>
              </a:r>
            </a:p>
          </p:txBody>
        </p:sp>
        <p:sp>
          <p:nvSpPr>
            <p:cNvPr id="121882" name="Freeform 34"/>
            <p:cNvSpPr/>
            <p:nvPr/>
          </p:nvSpPr>
          <p:spPr bwMode="auto">
            <a:xfrm>
              <a:off x="7666" y="2189"/>
              <a:ext cx="2395" cy="912"/>
            </a:xfrm>
            <a:custGeom>
              <a:avLst/>
              <a:gdLst>
                <a:gd name="T0" fmla="*/ 0 w 1200"/>
                <a:gd name="T1" fmla="*/ 2147483646 h 240"/>
                <a:gd name="T2" fmla="*/ 2147483646 w 1200"/>
                <a:gd name="T3" fmla="*/ 0 h 240"/>
                <a:gd name="T4" fmla="*/ 2147483646 w 1200"/>
                <a:gd name="T5" fmla="*/ 0 h 240"/>
                <a:gd name="T6" fmla="*/ 0 60000 65536"/>
                <a:gd name="T7" fmla="*/ 0 60000 65536"/>
                <a:gd name="T8" fmla="*/ 0 60000 65536"/>
              </a:gdLst>
              <a:ahLst/>
              <a:cxnLst>
                <a:cxn ang="T6">
                  <a:pos x="T0" y="T1"/>
                </a:cxn>
                <a:cxn ang="T7">
                  <a:pos x="T2" y="T3"/>
                </a:cxn>
                <a:cxn ang="T8">
                  <a:pos x="T4" y="T5"/>
                </a:cxn>
              </a:cxnLst>
              <a:rect l="0" t="0" r="r" b="b"/>
              <a:pathLst>
                <a:path w="1200" h="240">
                  <a:moveTo>
                    <a:pt x="0" y="240"/>
                  </a:moveTo>
                  <a:lnTo>
                    <a:pt x="192" y="0"/>
                  </a:lnTo>
                  <a:lnTo>
                    <a:pt x="1200" y="0"/>
                  </a:lnTo>
                </a:path>
              </a:pathLst>
            </a:custGeom>
            <a:noFill/>
            <a:ln w="19080">
              <a:solidFill>
                <a:srgbClr val="000066"/>
              </a:solidFill>
              <a:prstDash val="sysDot"/>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defTabSz="685800"/>
              <a:endParaRPr lang="zh-CN" altLang="en-US" sz="1350">
                <a:solidFill>
                  <a:srgbClr val="000000"/>
                </a:solidFill>
                <a:latin typeface="Arial"/>
                <a:ea typeface="微软雅黑"/>
              </a:endParaRPr>
            </a:p>
          </p:txBody>
        </p:sp>
        <p:sp>
          <p:nvSpPr>
            <p:cNvPr id="121883" name="TextBox 36"/>
            <p:cNvSpPr txBox="1">
              <a:spLocks noChangeArrowheads="1"/>
            </p:cNvSpPr>
            <p:nvPr/>
          </p:nvSpPr>
          <p:spPr bwMode="auto">
            <a:xfrm>
              <a:off x="11315" y="5627"/>
              <a:ext cx="1824"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defTabSz="685800">
                <a:spcBef>
                  <a:spcPct val="0"/>
                </a:spcBef>
                <a:buNone/>
              </a:pPr>
              <a:r>
                <a:rPr lang="en-US" altLang="zh-CN" sz="1350">
                  <a:solidFill>
                    <a:srgbClr val="000000"/>
                  </a:solidFill>
                  <a:latin typeface="Calibri" panose="020F0502020204030204" pitchFamily="34" charset="0"/>
                  <a:ea typeface="微软雅黑"/>
                </a:rPr>
                <a:t>L1 Cache</a:t>
              </a:r>
            </a:p>
          </p:txBody>
        </p:sp>
        <p:sp>
          <p:nvSpPr>
            <p:cNvPr id="121884" name="Rectangle 29"/>
            <p:cNvSpPr>
              <a:spLocks noChangeArrowheads="1"/>
            </p:cNvSpPr>
            <p:nvPr/>
          </p:nvSpPr>
          <p:spPr bwMode="auto">
            <a:xfrm>
              <a:off x="8792" y="1771"/>
              <a:ext cx="549" cy="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67770" tIns="33210" rIns="67770" bIns="33210">
              <a:spAutoFit/>
            </a:bodyP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050">
                  <a:solidFill>
                    <a:srgbClr val="003300"/>
                  </a:solidFill>
                  <a:latin typeface="Calibri" panose="020F0502020204030204" pitchFamily="34" charset="0"/>
                  <a:ea typeface="msgothic"/>
                  <a:cs typeface="msgothic"/>
                </a:rPr>
                <a:t>CT</a:t>
              </a:r>
            </a:p>
          </p:txBody>
        </p:sp>
        <p:sp>
          <p:nvSpPr>
            <p:cNvPr id="50" name="Rectangle 49"/>
            <p:cNvSpPr/>
            <p:nvPr/>
          </p:nvSpPr>
          <p:spPr bwMode="auto">
            <a:xfrm>
              <a:off x="10434" y="4287"/>
              <a:ext cx="425" cy="297"/>
            </a:xfrm>
            <a:prstGeom prst="rect">
              <a:avLst/>
            </a:prstGeom>
            <a:solidFill>
              <a:srgbClr val="DBF2DA"/>
            </a:solidFill>
            <a:ln w="12700" cap="flat" cmpd="sng" algn="ctr">
              <a:solidFill>
                <a:schemeClr val="tx1"/>
              </a:solidFill>
              <a:prstDash val="solid"/>
              <a:round/>
              <a:headEnd type="none" w="med" len="med"/>
              <a:tailEnd type="arrow" w="med" len="med"/>
            </a:ln>
            <a:effectLst/>
          </p:spPr>
          <p:txBody>
            <a:bodyPr anchor="ctr"/>
            <a:lstStyle/>
            <a:p>
              <a:pPr algn="ctr" defTabSz="685800">
                <a:defRPr/>
              </a:pPr>
              <a:endParaRPr lang="en-US" sz="1200" dirty="0">
                <a:solidFill>
                  <a:srgbClr val="000000"/>
                </a:solidFill>
                <a:latin typeface="Arial"/>
                <a:ea typeface="微软雅黑"/>
              </a:endParaRPr>
            </a:p>
          </p:txBody>
        </p:sp>
        <p:sp>
          <p:nvSpPr>
            <p:cNvPr id="51" name="Rectangle 50"/>
            <p:cNvSpPr/>
            <p:nvPr/>
          </p:nvSpPr>
          <p:spPr bwMode="auto">
            <a:xfrm>
              <a:off x="10859" y="4287"/>
              <a:ext cx="425" cy="297"/>
            </a:xfrm>
            <a:prstGeom prst="rect">
              <a:avLst/>
            </a:prstGeom>
            <a:solidFill>
              <a:srgbClr val="DBF2DA"/>
            </a:solidFill>
            <a:ln w="12700" cap="flat" cmpd="sng" algn="ctr">
              <a:solidFill>
                <a:schemeClr val="tx1"/>
              </a:solidFill>
              <a:prstDash val="solid"/>
              <a:round/>
              <a:headEnd type="none" w="med" len="med"/>
              <a:tailEnd type="arrow" w="med" len="med"/>
            </a:ln>
            <a:effectLst/>
          </p:spPr>
          <p:txBody>
            <a:bodyPr anchor="ctr"/>
            <a:lstStyle/>
            <a:p>
              <a:pPr algn="ctr" defTabSz="685800">
                <a:defRPr/>
              </a:pPr>
              <a:endParaRPr lang="en-US" sz="1200" dirty="0">
                <a:solidFill>
                  <a:srgbClr val="000000"/>
                </a:solidFill>
                <a:latin typeface="Arial"/>
                <a:ea typeface="微软雅黑"/>
              </a:endParaRPr>
            </a:p>
          </p:txBody>
        </p:sp>
        <p:sp>
          <p:nvSpPr>
            <p:cNvPr id="52" name="Rectangle 51"/>
            <p:cNvSpPr/>
            <p:nvPr/>
          </p:nvSpPr>
          <p:spPr bwMode="auto">
            <a:xfrm>
              <a:off x="11232" y="4287"/>
              <a:ext cx="425" cy="297"/>
            </a:xfrm>
            <a:prstGeom prst="rect">
              <a:avLst/>
            </a:prstGeom>
            <a:solidFill>
              <a:srgbClr val="DBF2DA"/>
            </a:solidFill>
            <a:ln w="12700" cap="flat" cmpd="sng" algn="ctr">
              <a:solidFill>
                <a:schemeClr val="tx1"/>
              </a:solidFill>
              <a:prstDash val="solid"/>
              <a:round/>
              <a:headEnd type="none" w="med" len="med"/>
              <a:tailEnd type="arrow" w="med" len="med"/>
            </a:ln>
            <a:effectLst/>
          </p:spPr>
          <p:txBody>
            <a:bodyPr anchor="ctr"/>
            <a:lstStyle/>
            <a:p>
              <a:pPr algn="ctr" defTabSz="685800">
                <a:defRPr/>
              </a:pPr>
              <a:endParaRPr lang="en-US" sz="1200" dirty="0">
                <a:solidFill>
                  <a:srgbClr val="000000"/>
                </a:solidFill>
                <a:latin typeface="Arial"/>
                <a:ea typeface="微软雅黑"/>
              </a:endParaRPr>
            </a:p>
          </p:txBody>
        </p:sp>
        <p:sp>
          <p:nvSpPr>
            <p:cNvPr id="53" name="Rectangle 52"/>
            <p:cNvSpPr/>
            <p:nvPr/>
          </p:nvSpPr>
          <p:spPr bwMode="auto">
            <a:xfrm>
              <a:off x="11657" y="4287"/>
              <a:ext cx="425" cy="297"/>
            </a:xfrm>
            <a:prstGeom prst="rect">
              <a:avLst/>
            </a:prstGeom>
            <a:solidFill>
              <a:srgbClr val="DBF2DA"/>
            </a:solidFill>
            <a:ln w="12700" cap="flat" cmpd="sng" algn="ctr">
              <a:solidFill>
                <a:schemeClr val="tx1"/>
              </a:solidFill>
              <a:prstDash val="solid"/>
              <a:round/>
              <a:headEnd type="none" w="med" len="med"/>
              <a:tailEnd type="arrow" w="med" len="med"/>
            </a:ln>
            <a:effectLst/>
          </p:spPr>
          <p:txBody>
            <a:bodyPr anchor="ctr"/>
            <a:lstStyle/>
            <a:p>
              <a:pPr algn="ctr" defTabSz="685800">
                <a:defRPr/>
              </a:pPr>
              <a:endParaRPr lang="en-US" sz="1200" dirty="0">
                <a:solidFill>
                  <a:srgbClr val="000000"/>
                </a:solidFill>
                <a:latin typeface="Arial"/>
                <a:ea typeface="微软雅黑"/>
              </a:endParaRPr>
            </a:p>
          </p:txBody>
        </p:sp>
        <p:sp>
          <p:nvSpPr>
            <p:cNvPr id="55" name="Rectangle 54"/>
            <p:cNvSpPr/>
            <p:nvPr/>
          </p:nvSpPr>
          <p:spPr bwMode="auto">
            <a:xfrm>
              <a:off x="12061" y="4287"/>
              <a:ext cx="425" cy="297"/>
            </a:xfrm>
            <a:prstGeom prst="rect">
              <a:avLst/>
            </a:prstGeom>
            <a:solidFill>
              <a:srgbClr val="DBF2DA"/>
            </a:solidFill>
            <a:ln w="12700" cap="flat" cmpd="sng" algn="ctr">
              <a:solidFill>
                <a:schemeClr val="tx1"/>
              </a:solidFill>
              <a:prstDash val="solid"/>
              <a:round/>
              <a:headEnd type="none" w="med" len="med"/>
              <a:tailEnd type="arrow" w="med" len="med"/>
            </a:ln>
            <a:effectLst/>
          </p:spPr>
          <p:txBody>
            <a:bodyPr anchor="ctr"/>
            <a:lstStyle/>
            <a:p>
              <a:pPr algn="ctr" defTabSz="685800">
                <a:defRPr/>
              </a:pPr>
              <a:endParaRPr lang="en-US" sz="1200" dirty="0">
                <a:solidFill>
                  <a:srgbClr val="000000"/>
                </a:solidFill>
                <a:latin typeface="Arial"/>
                <a:ea typeface="微软雅黑"/>
              </a:endParaRPr>
            </a:p>
          </p:txBody>
        </p:sp>
        <p:sp>
          <p:nvSpPr>
            <p:cNvPr id="56" name="Rectangle 55"/>
            <p:cNvSpPr/>
            <p:nvPr/>
          </p:nvSpPr>
          <p:spPr bwMode="auto">
            <a:xfrm>
              <a:off x="12486" y="4287"/>
              <a:ext cx="425" cy="297"/>
            </a:xfrm>
            <a:prstGeom prst="rect">
              <a:avLst/>
            </a:prstGeom>
            <a:solidFill>
              <a:srgbClr val="DBF2DA"/>
            </a:solidFill>
            <a:ln w="12700" cap="flat" cmpd="sng" algn="ctr">
              <a:solidFill>
                <a:schemeClr val="tx1"/>
              </a:solidFill>
              <a:prstDash val="solid"/>
              <a:round/>
              <a:headEnd type="none" w="med" len="med"/>
              <a:tailEnd type="arrow" w="med" len="med"/>
            </a:ln>
            <a:effectLst/>
          </p:spPr>
          <p:txBody>
            <a:bodyPr anchor="ctr"/>
            <a:lstStyle/>
            <a:p>
              <a:pPr algn="ctr" defTabSz="685800">
                <a:defRPr/>
              </a:pPr>
              <a:endParaRPr lang="en-US" sz="1200" dirty="0">
                <a:solidFill>
                  <a:srgbClr val="000000"/>
                </a:solidFill>
                <a:latin typeface="Arial"/>
                <a:ea typeface="微软雅黑"/>
              </a:endParaRPr>
            </a:p>
          </p:txBody>
        </p:sp>
        <p:sp>
          <p:nvSpPr>
            <p:cNvPr id="57" name="Rectangle 56"/>
            <p:cNvSpPr/>
            <p:nvPr/>
          </p:nvSpPr>
          <p:spPr bwMode="auto">
            <a:xfrm>
              <a:off x="12859" y="4287"/>
              <a:ext cx="425" cy="297"/>
            </a:xfrm>
            <a:prstGeom prst="rect">
              <a:avLst/>
            </a:prstGeom>
            <a:solidFill>
              <a:srgbClr val="DBF2DA"/>
            </a:solidFill>
            <a:ln w="12700" cap="flat" cmpd="sng" algn="ctr">
              <a:solidFill>
                <a:schemeClr val="tx1"/>
              </a:solidFill>
              <a:prstDash val="solid"/>
              <a:round/>
              <a:headEnd type="none" w="med" len="med"/>
              <a:tailEnd type="arrow" w="med" len="med"/>
            </a:ln>
            <a:effectLst/>
          </p:spPr>
          <p:txBody>
            <a:bodyPr anchor="ctr"/>
            <a:lstStyle/>
            <a:p>
              <a:pPr algn="ctr" defTabSz="685800">
                <a:defRPr/>
              </a:pPr>
              <a:endParaRPr lang="en-US" sz="1200" dirty="0">
                <a:solidFill>
                  <a:srgbClr val="000000"/>
                </a:solidFill>
                <a:latin typeface="Arial"/>
                <a:ea typeface="微软雅黑"/>
              </a:endParaRPr>
            </a:p>
          </p:txBody>
        </p:sp>
        <p:sp>
          <p:nvSpPr>
            <p:cNvPr id="58" name="Rectangle 57"/>
            <p:cNvSpPr/>
            <p:nvPr/>
          </p:nvSpPr>
          <p:spPr bwMode="auto">
            <a:xfrm>
              <a:off x="13285" y="4287"/>
              <a:ext cx="425" cy="297"/>
            </a:xfrm>
            <a:prstGeom prst="rect">
              <a:avLst/>
            </a:prstGeom>
            <a:solidFill>
              <a:srgbClr val="DBF2DA"/>
            </a:solidFill>
            <a:ln w="12700" cap="flat" cmpd="sng" algn="ctr">
              <a:solidFill>
                <a:schemeClr val="tx1"/>
              </a:solidFill>
              <a:prstDash val="solid"/>
              <a:round/>
              <a:headEnd type="none" w="med" len="med"/>
              <a:tailEnd type="arrow" w="med" len="med"/>
            </a:ln>
            <a:effectLst/>
          </p:spPr>
          <p:txBody>
            <a:bodyPr anchor="ctr"/>
            <a:lstStyle/>
            <a:p>
              <a:pPr algn="ctr" defTabSz="685800">
                <a:defRPr/>
              </a:pPr>
              <a:endParaRPr lang="en-US" sz="1200" dirty="0">
                <a:solidFill>
                  <a:srgbClr val="000000"/>
                </a:solidFill>
                <a:latin typeface="Arial"/>
                <a:ea typeface="微软雅黑"/>
              </a:endParaRPr>
            </a:p>
          </p:txBody>
        </p:sp>
        <p:sp>
          <p:nvSpPr>
            <p:cNvPr id="121893" name="Line 30"/>
            <p:cNvSpPr>
              <a:spLocks noChangeShapeType="1"/>
            </p:cNvSpPr>
            <p:nvPr/>
          </p:nvSpPr>
          <p:spPr bwMode="auto">
            <a:xfrm flipV="1">
              <a:off x="11085" y="2417"/>
              <a:ext cx="2" cy="2050"/>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94" name="Line 30"/>
            <p:cNvSpPr>
              <a:spLocks noChangeShapeType="1"/>
            </p:cNvSpPr>
            <p:nvPr/>
          </p:nvSpPr>
          <p:spPr bwMode="auto">
            <a:xfrm flipV="1">
              <a:off x="11427" y="2417"/>
              <a:ext cx="2" cy="2050"/>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95" name="Line 30"/>
            <p:cNvSpPr>
              <a:spLocks noChangeShapeType="1"/>
            </p:cNvSpPr>
            <p:nvPr/>
          </p:nvSpPr>
          <p:spPr bwMode="auto">
            <a:xfrm flipV="1">
              <a:off x="11883" y="2417"/>
              <a:ext cx="2" cy="2050"/>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96" name="Line 30"/>
            <p:cNvSpPr>
              <a:spLocks noChangeShapeType="1"/>
            </p:cNvSpPr>
            <p:nvPr/>
          </p:nvSpPr>
          <p:spPr bwMode="auto">
            <a:xfrm flipV="1">
              <a:off x="10629" y="2420"/>
              <a:ext cx="2" cy="2050"/>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97" name="Line 30"/>
            <p:cNvSpPr>
              <a:spLocks noChangeShapeType="1"/>
            </p:cNvSpPr>
            <p:nvPr/>
          </p:nvSpPr>
          <p:spPr bwMode="auto">
            <a:xfrm flipV="1">
              <a:off x="13482" y="2420"/>
              <a:ext cx="2" cy="2050"/>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98" name="Line 30"/>
            <p:cNvSpPr>
              <a:spLocks noChangeShapeType="1"/>
            </p:cNvSpPr>
            <p:nvPr/>
          </p:nvSpPr>
          <p:spPr bwMode="auto">
            <a:xfrm flipV="1">
              <a:off x="12227" y="2417"/>
              <a:ext cx="2" cy="2050"/>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899" name="Line 30"/>
            <p:cNvSpPr>
              <a:spLocks noChangeShapeType="1"/>
            </p:cNvSpPr>
            <p:nvPr/>
          </p:nvSpPr>
          <p:spPr bwMode="auto">
            <a:xfrm flipV="1">
              <a:off x="12684" y="2417"/>
              <a:ext cx="2" cy="2050"/>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900" name="Line 30"/>
            <p:cNvSpPr>
              <a:spLocks noChangeShapeType="1"/>
            </p:cNvSpPr>
            <p:nvPr/>
          </p:nvSpPr>
          <p:spPr bwMode="auto">
            <a:xfrm flipV="1">
              <a:off x="13026" y="2417"/>
              <a:ext cx="2" cy="2050"/>
            </a:xfrm>
            <a:prstGeom prst="line">
              <a:avLst/>
            </a:prstGeom>
            <a:noFill/>
            <a:ln w="9360">
              <a:solidFill>
                <a:srgbClr val="000066"/>
              </a:solidFill>
              <a:miter lim="800000"/>
              <a:headEnd type="oval" w="med" len="med"/>
              <a:tailEnd type="triangle" w="med" len="med"/>
            </a:ln>
            <a:extLst>
              <a:ext uri="{909E8E84-426E-40DD-AFC4-6F175D3DCCD1}">
                <a14:hiddenFill xmlns:a14="http://schemas.microsoft.com/office/drawing/2010/main">
                  <a:noFill/>
                </a14:hiddenFill>
              </a:ext>
            </a:extLst>
          </p:spPr>
          <p:txBody>
            <a:bodyPr/>
            <a:lstStyle/>
            <a:p>
              <a:pPr defTabSz="685800"/>
              <a:endParaRPr lang="zh-CN" altLang="en-US" sz="1350">
                <a:solidFill>
                  <a:srgbClr val="000000"/>
                </a:solidFill>
                <a:latin typeface="Arial"/>
                <a:ea typeface="微软雅黑"/>
              </a:endParaRPr>
            </a:p>
          </p:txBody>
        </p:sp>
        <p:sp>
          <p:nvSpPr>
            <p:cNvPr id="121901" name="AutoShape 19"/>
            <p:cNvSpPr>
              <a:spLocks noChangeArrowheads="1"/>
            </p:cNvSpPr>
            <p:nvPr/>
          </p:nvSpPr>
          <p:spPr bwMode="auto">
            <a:xfrm>
              <a:off x="10061" y="1771"/>
              <a:ext cx="3991" cy="646"/>
            </a:xfrm>
            <a:prstGeom prst="roundRect">
              <a:avLst>
                <a:gd name="adj" fmla="val 16667"/>
              </a:avLst>
            </a:prstGeom>
            <a:solidFill>
              <a:srgbClr val="D9D9D9"/>
            </a:solidFill>
            <a:ln>
              <a:noFill/>
            </a:ln>
            <a:extLst>
              <a:ext uri="{91240B29-F687-4F45-9708-019B960494DF}">
                <a14:hiddenLine xmlns:a14="http://schemas.microsoft.com/office/drawing/2010/main" w="19080">
                  <a:solidFill>
                    <a:srgbClr val="000000"/>
                  </a:solidFill>
                  <a:miter lim="800000"/>
                  <a:headEnd/>
                  <a:tailEnd/>
                </a14:hiddenLine>
              </a:ext>
            </a:extLst>
          </p:spPr>
          <p:txBody>
            <a:bodyPr wrap="none" lIns="67770" tIns="33210" rIns="67770" bIns="33210" anchor="ctr"/>
            <a:lstStyle>
              <a:lvl1pPr>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omic Sans MS" panose="030F0702030302020204" pitchFamily="66" charset="0"/>
                </a:defRPr>
              </a:lvl1pPr>
              <a:lvl2pPr marL="742950" indent="-28575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omic Sans MS" panose="030F0702030302020204" pitchFamily="66" charset="0"/>
                </a:defRPr>
              </a:lvl2pPr>
              <a:lvl3pPr marL="11430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3pPr>
              <a:lvl4pPr marL="16002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4pPr>
              <a:lvl5pPr marL="2057400" indent="-228600">
                <a:spcBef>
                  <a:spcPct val="20000"/>
                </a:spcBef>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omic Sans MS" panose="030F0702030302020204" pitchFamily="66" charset="0"/>
                </a:defRPr>
              </a:lvl9pPr>
            </a:lstStyle>
            <a:p>
              <a:pPr algn="ctr" defTabSz="685800">
                <a:lnSpc>
                  <a:spcPct val="88000"/>
                </a:lnSpc>
                <a:spcBef>
                  <a:spcPts val="394"/>
                </a:spcBef>
                <a:buNone/>
                <a:tabLst>
                  <a:tab pos="0" algn="l"/>
                  <a:tab pos="685800" algn="l"/>
                  <a:tab pos="1371600" algn="l"/>
                  <a:tab pos="2057400" algn="l"/>
                  <a:tab pos="2743200" algn="l"/>
                  <a:tab pos="3429000" algn="l"/>
                  <a:tab pos="4114800" algn="l"/>
                  <a:tab pos="4800600" algn="l"/>
                  <a:tab pos="5486400" algn="l"/>
                  <a:tab pos="6172200" algn="l"/>
                  <a:tab pos="6858000" algn="l"/>
                  <a:tab pos="7543800" algn="l"/>
                </a:tabLst>
              </a:pPr>
              <a:r>
                <a:rPr lang="en-GB" altLang="zh-CN" sz="1200">
                  <a:solidFill>
                    <a:srgbClr val="003300"/>
                  </a:solidFill>
                  <a:latin typeface="Calibri" panose="020F0502020204030204" pitchFamily="34" charset="0"/>
                  <a:ea typeface="msgothic"/>
                  <a:cs typeface="msgothic"/>
                </a:rPr>
                <a:t>Tag Check</a:t>
              </a:r>
            </a:p>
          </p:txBody>
        </p:sp>
      </p:grpSp>
      <p:sp>
        <p:nvSpPr>
          <p:cNvPr id="121902" name="Page Number 89"/>
          <p:cNvSpPr>
            <a:spLocks noGrp="1"/>
          </p:cNvSpPr>
          <p:nvPr>
            <p:ph type="sldNum" sz="quarter" idx="12"/>
          </p:nvPr>
        </p:nvSpPr>
        <p:spPr>
          <a:xfrm>
            <a:off x="7203185" y="4831461"/>
            <a:ext cx="1597914" cy="2263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rtlCol="0" anchor="ctr"/>
          <a:lstStyle>
            <a:lvl1pPr>
              <a:spcBef>
                <a:spcPct val="20000"/>
              </a:spcBef>
              <a:buChar char="•"/>
              <a:defRPr sz="2100">
                <a:solidFill>
                  <a:schemeClr val="tx1"/>
                </a:solidFill>
                <a:latin typeface="Comic Sans MS" panose="030F0702030302020204" pitchFamily="66" charset="0"/>
              </a:defRPr>
            </a:lvl1pPr>
            <a:lvl2pPr marL="557213" indent="-214313">
              <a:spcBef>
                <a:spcPct val="20000"/>
              </a:spcBef>
              <a:buChar char="–"/>
              <a:defRPr sz="1800">
                <a:solidFill>
                  <a:schemeClr val="tx1"/>
                </a:solidFill>
                <a:latin typeface="Comic Sans MS" panose="030F0702030302020204" pitchFamily="66" charset="0"/>
              </a:defRPr>
            </a:lvl2pPr>
            <a:lvl3pPr marL="857250" indent="-171450">
              <a:spcBef>
                <a:spcPct val="20000"/>
              </a:spcBef>
              <a:buChar char="•"/>
              <a:defRPr sz="1500">
                <a:solidFill>
                  <a:schemeClr val="tx1"/>
                </a:solidFill>
                <a:latin typeface="Comic Sans MS" panose="030F0702030302020204" pitchFamily="66" charset="0"/>
              </a:defRPr>
            </a:lvl3pPr>
            <a:lvl4pPr marL="1200150" indent="-171450">
              <a:spcBef>
                <a:spcPct val="20000"/>
              </a:spcBef>
              <a:buChar char="–"/>
              <a:defRPr sz="1500">
                <a:solidFill>
                  <a:schemeClr val="tx1"/>
                </a:solidFill>
                <a:latin typeface="Comic Sans MS" panose="030F0702030302020204" pitchFamily="66" charset="0"/>
              </a:defRPr>
            </a:lvl4pPr>
            <a:lvl5pPr marL="1543050" indent="-171450">
              <a:spcBef>
                <a:spcPct val="20000"/>
              </a:spcBef>
              <a:buChar char="»"/>
              <a:defRPr sz="1500">
                <a:solidFill>
                  <a:schemeClr val="tx1"/>
                </a:solidFill>
                <a:latin typeface="Comic Sans MS" panose="030F0702030302020204" pitchFamily="66" charset="0"/>
              </a:defRPr>
            </a:lvl5pPr>
            <a:lvl6pPr marL="1885950" indent="-171450" eaLnBrk="0" fontAlgn="base" hangingPunct="0">
              <a:spcBef>
                <a:spcPct val="20000"/>
              </a:spcBef>
              <a:spcAft>
                <a:spcPct val="0"/>
              </a:spcAft>
              <a:buChar char="»"/>
              <a:defRPr sz="1500">
                <a:solidFill>
                  <a:schemeClr val="tx1"/>
                </a:solidFill>
                <a:latin typeface="Comic Sans MS" panose="030F0702030302020204" pitchFamily="66" charset="0"/>
              </a:defRPr>
            </a:lvl6pPr>
            <a:lvl7pPr marL="2228850" indent="-171450" eaLnBrk="0" fontAlgn="base" hangingPunct="0">
              <a:spcBef>
                <a:spcPct val="20000"/>
              </a:spcBef>
              <a:spcAft>
                <a:spcPct val="0"/>
              </a:spcAft>
              <a:buChar char="»"/>
              <a:defRPr sz="1500">
                <a:solidFill>
                  <a:schemeClr val="tx1"/>
                </a:solidFill>
                <a:latin typeface="Comic Sans MS" panose="030F0702030302020204" pitchFamily="66" charset="0"/>
              </a:defRPr>
            </a:lvl7pPr>
            <a:lvl8pPr marL="2571750" indent="-171450" eaLnBrk="0" fontAlgn="base" hangingPunct="0">
              <a:spcBef>
                <a:spcPct val="20000"/>
              </a:spcBef>
              <a:spcAft>
                <a:spcPct val="0"/>
              </a:spcAft>
              <a:buChar char="»"/>
              <a:defRPr sz="1500">
                <a:solidFill>
                  <a:schemeClr val="tx1"/>
                </a:solidFill>
                <a:latin typeface="Comic Sans MS" panose="030F0702030302020204" pitchFamily="66" charset="0"/>
              </a:defRPr>
            </a:lvl8pPr>
            <a:lvl9pPr marL="2914650" indent="-171450" eaLnBrk="0" fontAlgn="base" hangingPunct="0">
              <a:spcBef>
                <a:spcPct val="20000"/>
              </a:spcBef>
              <a:spcAft>
                <a:spcPct val="0"/>
              </a:spcAft>
              <a:buChar char="»"/>
              <a:defRPr sz="1500">
                <a:solidFill>
                  <a:schemeClr val="tx1"/>
                </a:solidFill>
                <a:latin typeface="Comic Sans MS" panose="030F0702030302020204" pitchFamily="66" charset="0"/>
              </a:defRPr>
            </a:lvl9pPr>
          </a:lstStyle>
          <a:p>
            <a:pPr defTabSz="685800">
              <a:spcBef>
                <a:spcPct val="0"/>
              </a:spcBef>
              <a:buNone/>
            </a:pPr>
            <a:r>
              <a:rPr sz="900">
                <a:solidFill>
                  <a:srgbClr val="5A5A5A"/>
                </a:solidFill>
                <a:latin typeface="Calibri" panose="020F0502020204030204"/>
              </a:rPr>
              <a:t>89</a:t>
            </a:r>
            <a:endParaRPr lang="en-US" altLang="zh-CN" sz="1050">
              <a:solidFill>
                <a:srgbClr val="000000"/>
              </a:solidFill>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23</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3.3 (A)</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Is VIPT feasible with our 32 KB L1?</a:t>
            </a:r>
            <a:endParaRPr lang="en-US" sz="2300" dirty="0"/>
          </a:p>
        </p:txBody>
      </p:sp>
      <p:sp>
        <p:nvSpPr>
          <p:cNvPr id="5" name="Shape 3"/>
          <p:cNvSpPr/>
          <p:nvPr/>
        </p:nvSpPr>
        <p:spPr>
          <a:xfrm>
            <a:off x="457200" y="1188720"/>
            <a:ext cx="1965960" cy="1554480"/>
          </a:xfrm>
          <a:prstGeom prst="rect">
            <a:avLst/>
          </a:prstGeom>
          <a:solidFill>
            <a:srgbClr val="FFFFFF"/>
          </a:solidFill>
          <a:ln w="12700">
            <a:solidFill>
              <a:srgbClr val="DDE1E6"/>
            </a:solidFill>
            <a:prstDash val="solid"/>
          </a:ln>
        </p:spPr>
      </p:sp>
      <p:sp>
        <p:nvSpPr>
          <p:cNvPr id="6" name="Text 4"/>
          <p:cNvSpPr/>
          <p:nvPr/>
        </p:nvSpPr>
        <p:spPr>
          <a:xfrm>
            <a:off x="594360" y="1353312"/>
            <a:ext cx="1737360" cy="228600"/>
          </a:xfrm>
          <a:prstGeom prst="rect">
            <a:avLst/>
          </a:prstGeom>
          <a:noFill/>
          <a:ln/>
        </p:spPr>
        <p:txBody>
          <a:bodyPr wrap="square" lIns="0" tIns="0" rIns="0" bIns="0" rtlCol="0" anchor="ctr"/>
          <a:lstStyle/>
          <a:p>
            <a:pPr marL="0" indent="0">
              <a:buNone/>
            </a:pPr>
            <a:r>
              <a:rPr lang="en-US" sz="1000" b="1" kern="0" spc="100" dirty="0">
                <a:solidFill>
                  <a:srgbClr val="6B7280"/>
                </a:solidFill>
                <a:latin typeface="Trebuchet MS" pitchFamily="34" charset="0"/>
                <a:ea typeface="Trebuchet MS" pitchFamily="34" charset="-122"/>
                <a:cs typeface="Trebuchet MS" pitchFamily="34" charset="-120"/>
              </a:rPr>
              <a:t>CO</a:t>
            </a:r>
            <a:endParaRPr lang="en-US" sz="1000" dirty="0"/>
          </a:p>
        </p:txBody>
      </p:sp>
      <p:sp>
        <p:nvSpPr>
          <p:cNvPr id="7" name="Text 5"/>
          <p:cNvSpPr/>
          <p:nvPr/>
        </p:nvSpPr>
        <p:spPr>
          <a:xfrm>
            <a:off x="594360" y="1627632"/>
            <a:ext cx="1737360" cy="594360"/>
          </a:xfrm>
          <a:prstGeom prst="rect">
            <a:avLst/>
          </a:prstGeom>
          <a:noFill/>
          <a:ln/>
        </p:spPr>
        <p:txBody>
          <a:bodyPr wrap="square" lIns="0" tIns="0" rIns="0" bIns="0" rtlCol="0" anchor="ctr"/>
          <a:lstStyle/>
          <a:p>
            <a:pPr marL="0" indent="0">
              <a:buNone/>
            </a:pPr>
            <a:r>
              <a:rPr lang="en-US" sz="3000" b="1" dirty="0">
                <a:solidFill>
                  <a:srgbClr val="94470F"/>
                </a:solidFill>
                <a:latin typeface="Trebuchet MS" pitchFamily="34" charset="0"/>
                <a:ea typeface="Trebuchet MS" pitchFamily="34" charset="-122"/>
                <a:cs typeface="Trebuchet MS" pitchFamily="34" charset="-120"/>
              </a:rPr>
              <a:t>6</a:t>
            </a:r>
            <a:endParaRPr lang="en-US" sz="3000" dirty="0"/>
          </a:p>
        </p:txBody>
      </p:sp>
      <p:sp>
        <p:nvSpPr>
          <p:cNvPr id="8" name="Text 6"/>
          <p:cNvSpPr/>
          <p:nvPr/>
        </p:nvSpPr>
        <p:spPr>
          <a:xfrm>
            <a:off x="594360" y="2267712"/>
            <a:ext cx="1737360" cy="411480"/>
          </a:xfrm>
          <a:prstGeom prst="rect">
            <a:avLst/>
          </a:prstGeom>
          <a:noFill/>
          <a:ln/>
        </p:spPr>
        <p:txBody>
          <a:bodyPr wrap="square" lIns="0" tIns="0" rIns="0" bIns="0" rtlCol="0" anchor="ctr"/>
          <a:lstStyle/>
          <a:p>
            <a:pPr marL="0" indent="0">
              <a:buNone/>
            </a:pPr>
            <a:r>
              <a:rPr lang="en-US" sz="1000" dirty="0">
                <a:solidFill>
                  <a:srgbClr val="6B7280"/>
                </a:solidFill>
                <a:latin typeface="Courier New" pitchFamily="34" charset="0"/>
                <a:ea typeface="Courier New" pitchFamily="34" charset="-122"/>
                <a:cs typeface="Courier New" pitchFamily="34" charset="-120"/>
              </a:rPr>
              <a:t>log₂ 64 B line</a:t>
            </a:r>
            <a:endParaRPr lang="en-US" sz="1000" dirty="0"/>
          </a:p>
        </p:txBody>
      </p:sp>
      <p:sp>
        <p:nvSpPr>
          <p:cNvPr id="9" name="Shape 7"/>
          <p:cNvSpPr/>
          <p:nvPr/>
        </p:nvSpPr>
        <p:spPr>
          <a:xfrm>
            <a:off x="2606040" y="1188720"/>
            <a:ext cx="1965960" cy="1554480"/>
          </a:xfrm>
          <a:prstGeom prst="rect">
            <a:avLst/>
          </a:prstGeom>
          <a:solidFill>
            <a:srgbClr val="FFFFFF"/>
          </a:solidFill>
          <a:ln w="12700">
            <a:solidFill>
              <a:srgbClr val="DDE1E6"/>
            </a:solidFill>
            <a:prstDash val="solid"/>
          </a:ln>
        </p:spPr>
      </p:sp>
      <p:sp>
        <p:nvSpPr>
          <p:cNvPr id="10" name="Text 8"/>
          <p:cNvSpPr/>
          <p:nvPr/>
        </p:nvSpPr>
        <p:spPr>
          <a:xfrm>
            <a:off x="2743200" y="1353312"/>
            <a:ext cx="1737360" cy="228600"/>
          </a:xfrm>
          <a:prstGeom prst="rect">
            <a:avLst/>
          </a:prstGeom>
          <a:noFill/>
          <a:ln/>
        </p:spPr>
        <p:txBody>
          <a:bodyPr wrap="square" lIns="0" tIns="0" rIns="0" bIns="0" rtlCol="0" anchor="ctr"/>
          <a:lstStyle/>
          <a:p>
            <a:pPr marL="0" indent="0">
              <a:buNone/>
            </a:pPr>
            <a:r>
              <a:rPr lang="en-US" sz="1000" b="1" kern="0" spc="100" dirty="0">
                <a:solidFill>
                  <a:srgbClr val="6B7280"/>
                </a:solidFill>
                <a:latin typeface="Trebuchet MS" pitchFamily="34" charset="0"/>
                <a:ea typeface="Trebuchet MS" pitchFamily="34" charset="-122"/>
                <a:cs typeface="Trebuchet MS" pitchFamily="34" charset="-120"/>
              </a:rPr>
              <a:t>CI</a:t>
            </a:r>
            <a:endParaRPr lang="en-US" sz="1000" dirty="0"/>
          </a:p>
        </p:txBody>
      </p:sp>
      <p:sp>
        <p:nvSpPr>
          <p:cNvPr id="11" name="Text 9"/>
          <p:cNvSpPr/>
          <p:nvPr/>
        </p:nvSpPr>
        <p:spPr>
          <a:xfrm>
            <a:off x="2743200" y="1627632"/>
            <a:ext cx="1737360" cy="594360"/>
          </a:xfrm>
          <a:prstGeom prst="rect">
            <a:avLst/>
          </a:prstGeom>
          <a:noFill/>
          <a:ln/>
        </p:spPr>
        <p:txBody>
          <a:bodyPr wrap="square" lIns="0" tIns="0" rIns="0" bIns="0" rtlCol="0" anchor="ctr"/>
          <a:lstStyle/>
          <a:p>
            <a:pPr marL="0" indent="0">
              <a:buNone/>
            </a:pPr>
            <a:r>
              <a:rPr lang="en-US" sz="3000" b="1" dirty="0">
                <a:solidFill>
                  <a:srgbClr val="94470F"/>
                </a:solidFill>
                <a:latin typeface="Trebuchet MS" pitchFamily="34" charset="0"/>
                <a:ea typeface="Trebuchet MS" pitchFamily="34" charset="-122"/>
                <a:cs typeface="Trebuchet MS" pitchFamily="34" charset="-120"/>
              </a:rPr>
              <a:t>6</a:t>
            </a:r>
            <a:endParaRPr lang="en-US" sz="3000" dirty="0"/>
          </a:p>
        </p:txBody>
      </p:sp>
      <p:sp>
        <p:nvSpPr>
          <p:cNvPr id="12" name="Text 10"/>
          <p:cNvSpPr/>
          <p:nvPr/>
        </p:nvSpPr>
        <p:spPr>
          <a:xfrm>
            <a:off x="2743200" y="2267712"/>
            <a:ext cx="1737360" cy="411480"/>
          </a:xfrm>
          <a:prstGeom prst="rect">
            <a:avLst/>
          </a:prstGeom>
          <a:noFill/>
          <a:ln/>
        </p:spPr>
        <p:txBody>
          <a:bodyPr wrap="square" lIns="0" tIns="0" rIns="0" bIns="0" rtlCol="0" anchor="ctr"/>
          <a:lstStyle/>
          <a:p>
            <a:pPr marL="0" indent="0">
              <a:buNone/>
            </a:pPr>
            <a:r>
              <a:rPr lang="en-US" sz="1000" dirty="0">
                <a:solidFill>
                  <a:srgbClr val="6B7280"/>
                </a:solidFill>
                <a:latin typeface="Courier New" pitchFamily="34" charset="0"/>
                <a:ea typeface="Courier New" pitchFamily="34" charset="-122"/>
                <a:cs typeface="Courier New" pitchFamily="34" charset="-120"/>
              </a:rPr>
              <a:t>log₂ 64 sets</a:t>
            </a:r>
            <a:endParaRPr lang="en-US" sz="1000" dirty="0"/>
          </a:p>
        </p:txBody>
      </p:sp>
      <p:sp>
        <p:nvSpPr>
          <p:cNvPr id="13" name="Shape 11"/>
          <p:cNvSpPr/>
          <p:nvPr/>
        </p:nvSpPr>
        <p:spPr>
          <a:xfrm>
            <a:off x="4754880" y="1188720"/>
            <a:ext cx="1965960" cy="1554480"/>
          </a:xfrm>
          <a:prstGeom prst="rect">
            <a:avLst/>
          </a:prstGeom>
          <a:solidFill>
            <a:srgbClr val="FFFFFF"/>
          </a:solidFill>
          <a:ln w="12700">
            <a:solidFill>
              <a:srgbClr val="DDE1E6"/>
            </a:solidFill>
            <a:prstDash val="solid"/>
          </a:ln>
        </p:spPr>
      </p:sp>
      <p:sp>
        <p:nvSpPr>
          <p:cNvPr id="14" name="Text 12"/>
          <p:cNvSpPr/>
          <p:nvPr/>
        </p:nvSpPr>
        <p:spPr>
          <a:xfrm>
            <a:off x="4892040" y="1353312"/>
            <a:ext cx="1737360" cy="228600"/>
          </a:xfrm>
          <a:prstGeom prst="rect">
            <a:avLst/>
          </a:prstGeom>
          <a:noFill/>
          <a:ln/>
        </p:spPr>
        <p:txBody>
          <a:bodyPr wrap="square" lIns="0" tIns="0" rIns="0" bIns="0" rtlCol="0" anchor="ctr"/>
          <a:lstStyle/>
          <a:p>
            <a:pPr marL="0" indent="0">
              <a:buNone/>
            </a:pPr>
            <a:r>
              <a:rPr lang="en-US" sz="1000" b="1" kern="0" spc="100" dirty="0">
                <a:solidFill>
                  <a:srgbClr val="6B7280"/>
                </a:solidFill>
                <a:latin typeface="Trebuchet MS" pitchFamily="34" charset="0"/>
                <a:ea typeface="Trebuchet MS" pitchFamily="34" charset="-122"/>
                <a:cs typeface="Trebuchet MS" pitchFamily="34" charset="-120"/>
              </a:rPr>
              <a:t>VPO</a:t>
            </a:r>
            <a:endParaRPr lang="en-US" sz="1000" dirty="0"/>
          </a:p>
        </p:txBody>
      </p:sp>
      <p:sp>
        <p:nvSpPr>
          <p:cNvPr id="15" name="Text 13"/>
          <p:cNvSpPr/>
          <p:nvPr/>
        </p:nvSpPr>
        <p:spPr>
          <a:xfrm>
            <a:off x="4892040" y="1627632"/>
            <a:ext cx="1737360" cy="594360"/>
          </a:xfrm>
          <a:prstGeom prst="rect">
            <a:avLst/>
          </a:prstGeom>
          <a:noFill/>
          <a:ln/>
        </p:spPr>
        <p:txBody>
          <a:bodyPr wrap="square" lIns="0" tIns="0" rIns="0" bIns="0" rtlCol="0" anchor="ctr"/>
          <a:lstStyle/>
          <a:p>
            <a:pPr marL="0" indent="0">
              <a:buNone/>
            </a:pPr>
            <a:r>
              <a:rPr lang="en-US" sz="3000" b="1" dirty="0">
                <a:solidFill>
                  <a:srgbClr val="94470F"/>
                </a:solidFill>
                <a:latin typeface="Trebuchet MS" pitchFamily="34" charset="0"/>
                <a:ea typeface="Trebuchet MS" pitchFamily="34" charset="-122"/>
                <a:cs typeface="Trebuchet MS" pitchFamily="34" charset="-120"/>
              </a:rPr>
              <a:t>12</a:t>
            </a:r>
            <a:endParaRPr lang="en-US" sz="3000" dirty="0"/>
          </a:p>
        </p:txBody>
      </p:sp>
      <p:sp>
        <p:nvSpPr>
          <p:cNvPr id="16" name="Text 14"/>
          <p:cNvSpPr/>
          <p:nvPr/>
        </p:nvSpPr>
        <p:spPr>
          <a:xfrm>
            <a:off x="4892040" y="2267712"/>
            <a:ext cx="1737360" cy="411480"/>
          </a:xfrm>
          <a:prstGeom prst="rect">
            <a:avLst/>
          </a:prstGeom>
          <a:noFill/>
          <a:ln/>
        </p:spPr>
        <p:txBody>
          <a:bodyPr wrap="square" lIns="0" tIns="0" rIns="0" bIns="0" rtlCol="0" anchor="ctr"/>
          <a:lstStyle/>
          <a:p>
            <a:pPr marL="0" indent="0">
              <a:buNone/>
            </a:pPr>
            <a:r>
              <a:rPr lang="en-US" sz="1000" dirty="0">
                <a:solidFill>
                  <a:srgbClr val="6B7280"/>
                </a:solidFill>
                <a:latin typeface="Courier New" pitchFamily="34" charset="0"/>
                <a:ea typeface="Courier New" pitchFamily="34" charset="-122"/>
                <a:cs typeface="Courier New" pitchFamily="34" charset="-120"/>
              </a:rPr>
              <a:t>log₂ 4 KB page</a:t>
            </a:r>
            <a:endParaRPr lang="en-US" sz="1000" dirty="0"/>
          </a:p>
        </p:txBody>
      </p:sp>
      <p:sp>
        <p:nvSpPr>
          <p:cNvPr id="17" name="Shape 15"/>
          <p:cNvSpPr/>
          <p:nvPr/>
        </p:nvSpPr>
        <p:spPr>
          <a:xfrm>
            <a:off x="6903720" y="1188720"/>
            <a:ext cx="1828800" cy="1554480"/>
          </a:xfrm>
          <a:prstGeom prst="rect">
            <a:avLst/>
          </a:prstGeom>
          <a:solidFill>
            <a:srgbClr val="EDF5EC"/>
          </a:solidFill>
          <a:ln w="12700">
            <a:solidFill>
              <a:srgbClr val="DDE1E6"/>
            </a:solidFill>
            <a:prstDash val="solid"/>
          </a:ln>
        </p:spPr>
      </p:sp>
      <p:sp>
        <p:nvSpPr>
          <p:cNvPr id="18" name="Shape 16"/>
          <p:cNvSpPr/>
          <p:nvPr/>
        </p:nvSpPr>
        <p:spPr>
          <a:xfrm>
            <a:off x="6903720" y="1188720"/>
            <a:ext cx="64008" cy="1554480"/>
          </a:xfrm>
          <a:prstGeom prst="rect">
            <a:avLst/>
          </a:prstGeom>
          <a:solidFill>
            <a:srgbClr val="5E9E52"/>
          </a:solidFill>
          <a:ln/>
        </p:spPr>
      </p:sp>
      <p:sp>
        <p:nvSpPr>
          <p:cNvPr id="19" name="Text 17"/>
          <p:cNvSpPr/>
          <p:nvPr/>
        </p:nvSpPr>
        <p:spPr>
          <a:xfrm>
            <a:off x="7040880" y="1325880"/>
            <a:ext cx="1600200" cy="1280160"/>
          </a:xfrm>
          <a:prstGeom prst="rect">
            <a:avLst/>
          </a:prstGeom>
          <a:noFill/>
          <a:ln/>
        </p:spPr>
        <p:txBody>
          <a:bodyPr wrap="square" lIns="0" tIns="0" rIns="0" bIns="0" rtlCol="0" anchor="ctr"/>
          <a:lstStyle/>
          <a:p>
            <a:pPr marL="0" indent="0">
              <a:buNone/>
            </a:pPr>
            <a:r>
              <a:rPr lang="en-US" sz="1700" b="1" dirty="0">
                <a:solidFill>
                  <a:srgbClr val="2F6B28"/>
                </a:solidFill>
                <a:latin typeface="Courier New" pitchFamily="34" charset="0"/>
                <a:ea typeface="Courier New" pitchFamily="34" charset="-122"/>
                <a:cs typeface="Courier New" pitchFamily="34" charset="-120"/>
              </a:rPr>
              <a:t>6 + 6 = 12</a:t>
            </a:r>
            <a:endParaRPr lang="en-US" sz="1700" dirty="0"/>
          </a:p>
          <a:p>
            <a:pPr marL="0" indent="0">
              <a:buNone/>
            </a:pPr>
            <a:r>
              <a:rPr lang="en-US" sz="1700" b="1" dirty="0">
                <a:solidFill>
                  <a:srgbClr val="2F6B28"/>
                </a:solidFill>
                <a:latin typeface="Courier New" pitchFamily="34" charset="0"/>
                <a:ea typeface="Courier New" pitchFamily="34" charset="-122"/>
                <a:cs typeface="Courier New" pitchFamily="34" charset="-120"/>
              </a:rPr>
              <a:t>≤ 12  ✓</a:t>
            </a:r>
            <a:endParaRPr lang="en-US" sz="1700" dirty="0"/>
          </a:p>
        </p:txBody>
      </p:sp>
      <p:sp>
        <p:nvSpPr>
          <p:cNvPr id="20" name="Shape 18"/>
          <p:cNvSpPr/>
          <p:nvPr/>
        </p:nvSpPr>
        <p:spPr>
          <a:xfrm>
            <a:off x="457200" y="3063240"/>
            <a:ext cx="8275320" cy="1371600"/>
          </a:xfrm>
          <a:prstGeom prst="rect">
            <a:avLst/>
          </a:prstGeom>
          <a:solidFill>
            <a:srgbClr val="FFFFFF"/>
          </a:solidFill>
          <a:ln w="12700">
            <a:solidFill>
              <a:srgbClr val="DDE1E6"/>
            </a:solidFill>
            <a:prstDash val="solid"/>
          </a:ln>
        </p:spPr>
      </p:sp>
      <p:sp>
        <p:nvSpPr>
          <p:cNvPr id="21" name="Shape 19"/>
          <p:cNvSpPr/>
          <p:nvPr/>
        </p:nvSpPr>
        <p:spPr>
          <a:xfrm>
            <a:off x="457200" y="3063240"/>
            <a:ext cx="64008" cy="1371600"/>
          </a:xfrm>
          <a:prstGeom prst="rect">
            <a:avLst/>
          </a:prstGeom>
          <a:solidFill>
            <a:srgbClr val="C2641A"/>
          </a:solidFill>
          <a:ln/>
        </p:spPr>
      </p:sp>
      <p:sp>
        <p:nvSpPr>
          <p:cNvPr id="22" name="Text 20"/>
          <p:cNvSpPr/>
          <p:nvPr/>
        </p:nvSpPr>
        <p:spPr>
          <a:xfrm>
            <a:off x="658368" y="3127248"/>
            <a:ext cx="1280160" cy="182880"/>
          </a:xfrm>
          <a:prstGeom prst="rect">
            <a:avLst/>
          </a:prstGeom>
          <a:noFill/>
          <a:ln/>
        </p:spPr>
        <p:txBody>
          <a:bodyPr wrap="square" lIns="0" tIns="0" rIns="0" bIns="0" rtlCol="0" anchor="ctr"/>
          <a:lstStyle/>
          <a:p>
            <a:pPr marL="0" indent="0">
              <a:buNone/>
            </a:pPr>
            <a:r>
              <a:rPr lang="en-US" sz="850" b="1" kern="0" spc="200" dirty="0">
                <a:solidFill>
                  <a:srgbClr val="C2641A"/>
                </a:solidFill>
                <a:latin typeface="Trebuchet MS" pitchFamily="34" charset="0"/>
                <a:ea typeface="Trebuchet MS" pitchFamily="34" charset="-122"/>
                <a:cs typeface="Trebuchet MS" pitchFamily="34" charset="-120"/>
              </a:rPr>
              <a:t>ANSWER</a:t>
            </a:r>
            <a:endParaRPr lang="en-US" sz="850" dirty="0"/>
          </a:p>
        </p:txBody>
      </p:sp>
      <p:sp>
        <p:nvSpPr>
          <p:cNvPr id="23" name="Text 21"/>
          <p:cNvSpPr/>
          <p:nvPr/>
        </p:nvSpPr>
        <p:spPr>
          <a:xfrm>
            <a:off x="658368" y="3310128"/>
            <a:ext cx="7909560" cy="1060704"/>
          </a:xfrm>
          <a:prstGeom prst="rect">
            <a:avLst/>
          </a:prstGeom>
          <a:noFill/>
          <a:ln/>
        </p:spPr>
        <p:txBody>
          <a:bodyPr wrap="square" lIns="0" tIns="0" rIns="0" bIns="0" rtlCol="0" anchor="t"/>
          <a:lstStyle/>
          <a:p>
            <a:pPr marL="0" indent="0">
              <a:buNone/>
            </a:pPr>
            <a:r>
              <a:rPr lang="en-US" sz="1200" b="1" dirty="0">
                <a:solidFill>
                  <a:srgbClr val="1F2937"/>
                </a:solidFill>
                <a:latin typeface="Calibri" pitchFamily="34" charset="0"/>
                <a:ea typeface="Calibri" pitchFamily="34" charset="-122"/>
                <a:cs typeface="Calibri" pitchFamily="34" charset="-120"/>
              </a:rPr>
              <a:t>VIPT is feasible. </a:t>
            </a:r>
            <a:r>
              <a:rPr lang="en-US" sz="1200" dirty="0">
                <a:solidFill>
                  <a:srgbClr val="1F2937"/>
                </a:solidFill>
                <a:latin typeface="Calibri" pitchFamily="34" charset="0"/>
                <a:ea typeface="Calibri" pitchFamily="34" charset="-122"/>
                <a:cs typeface="Calibri" pitchFamily="34" charset="-120"/>
              </a:rPr>
              <a:t>CI and CO are drawn entirely from bits 0–11 — the page-offset bits, identical in VA and PA. The virtual index equals the physical index, so the CPU can:</a:t>
            </a:r>
            <a:endParaRPr lang="en-US" sz="1200" dirty="0"/>
          </a:p>
          <a:p>
            <a:pPr marL="0" indent="0">
              <a:buNone/>
            </a:pPr>
            <a:r>
              <a:rPr lang="en-US" sz="1150" i="1" dirty="0">
                <a:solidFill>
                  <a:srgbClr val="1F2937"/>
                </a:solidFill>
                <a:latin typeface="Calibri" pitchFamily="34" charset="0"/>
                <a:ea typeface="Calibri" pitchFamily="34" charset="-122"/>
                <a:cs typeface="Calibri" pitchFamily="34" charset="-120"/>
              </a:rPr>
              <a:t>select the cache set from the VA while the TLB translates VPN → PPN — then compare physical tags.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24</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3.3 (B) — DESIGN A</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128 sets × 8-way × 64 B: VIPT breaks</a:t>
            </a:r>
            <a:endParaRPr lang="en-US" sz="2300" dirty="0"/>
          </a:p>
        </p:txBody>
      </p:sp>
      <p:sp>
        <p:nvSpPr>
          <p:cNvPr id="5" name="Shape 3"/>
          <p:cNvSpPr/>
          <p:nvPr/>
        </p:nvSpPr>
        <p:spPr>
          <a:xfrm>
            <a:off x="457200" y="1143000"/>
            <a:ext cx="3291840" cy="1463040"/>
          </a:xfrm>
          <a:prstGeom prst="rect">
            <a:avLst/>
          </a:prstGeom>
          <a:solidFill>
            <a:srgbClr val="FDF3EF"/>
          </a:solidFill>
          <a:ln w="12700">
            <a:solidFill>
              <a:srgbClr val="DDE1E6"/>
            </a:solidFill>
            <a:prstDash val="solid"/>
          </a:ln>
        </p:spPr>
      </p:sp>
      <p:sp>
        <p:nvSpPr>
          <p:cNvPr id="6" name="Shape 4"/>
          <p:cNvSpPr/>
          <p:nvPr/>
        </p:nvSpPr>
        <p:spPr>
          <a:xfrm>
            <a:off x="457200" y="1143000"/>
            <a:ext cx="64008" cy="1463040"/>
          </a:xfrm>
          <a:prstGeom prst="rect">
            <a:avLst/>
          </a:prstGeom>
          <a:solidFill>
            <a:srgbClr val="B23A2F"/>
          </a:solidFill>
          <a:ln/>
        </p:spPr>
      </p:sp>
      <p:sp>
        <p:nvSpPr>
          <p:cNvPr id="7" name="Text 5"/>
          <p:cNvSpPr/>
          <p:nvPr/>
        </p:nvSpPr>
        <p:spPr>
          <a:xfrm>
            <a:off x="685800" y="1325880"/>
            <a:ext cx="2926080" cy="1188720"/>
          </a:xfrm>
          <a:prstGeom prst="rect">
            <a:avLst/>
          </a:prstGeom>
          <a:noFill/>
          <a:ln/>
        </p:spPr>
        <p:txBody>
          <a:bodyPr wrap="square" lIns="0" tIns="0" rIns="0" bIns="0" rtlCol="0" anchor="t"/>
          <a:lstStyle/>
          <a:p>
            <a:pPr marL="0" indent="0">
              <a:spcAft>
                <a:spcPts val="300"/>
              </a:spcAft>
              <a:buNone/>
            </a:pPr>
            <a:r>
              <a:rPr lang="en-US" sz="1200" dirty="0">
                <a:solidFill>
                  <a:srgbClr val="1F2937"/>
                </a:solidFill>
                <a:latin typeface="Courier New" pitchFamily="34" charset="0"/>
                <a:ea typeface="Courier New" pitchFamily="34" charset="-122"/>
                <a:cs typeface="Courier New" pitchFamily="34" charset="-120"/>
              </a:rPr>
              <a:t>CI = log₂ 128 = 7</a:t>
            </a:r>
            <a:endParaRPr lang="en-US" sz="1200" dirty="0"/>
          </a:p>
          <a:p>
            <a:pPr marL="0" indent="0">
              <a:spcAft>
                <a:spcPts val="600"/>
              </a:spcAft>
              <a:buNone/>
            </a:pPr>
            <a:r>
              <a:rPr lang="en-US" sz="1200" dirty="0">
                <a:solidFill>
                  <a:srgbClr val="1F2937"/>
                </a:solidFill>
                <a:latin typeface="Courier New" pitchFamily="34" charset="0"/>
                <a:ea typeface="Courier New" pitchFamily="34" charset="-122"/>
                <a:cs typeface="Courier New" pitchFamily="34" charset="-120"/>
              </a:rPr>
              <a:t>CO = 6</a:t>
            </a:r>
            <a:endParaRPr lang="en-US" sz="1200" dirty="0"/>
          </a:p>
          <a:p>
            <a:pPr marL="0" indent="0">
              <a:buNone/>
            </a:pPr>
            <a:r>
              <a:rPr lang="en-US" sz="1500" b="1" dirty="0">
                <a:solidFill>
                  <a:srgbClr val="B23A2F"/>
                </a:solidFill>
                <a:latin typeface="Courier New" pitchFamily="34" charset="0"/>
                <a:ea typeface="Courier New" pitchFamily="34" charset="-122"/>
                <a:cs typeface="Courier New" pitchFamily="34" charset="-120"/>
              </a:rPr>
              <a:t>7 + 6 = 13 &gt; 12  ✗</a:t>
            </a:r>
            <a:endParaRPr lang="en-US" sz="1200" dirty="0"/>
          </a:p>
        </p:txBody>
      </p:sp>
      <p:sp>
        <p:nvSpPr>
          <p:cNvPr id="8" name="Text 6"/>
          <p:cNvSpPr/>
          <p:nvPr/>
        </p:nvSpPr>
        <p:spPr>
          <a:xfrm>
            <a:off x="4114800" y="1143000"/>
            <a:ext cx="4572000" cy="201168"/>
          </a:xfrm>
          <a:prstGeom prst="rect">
            <a:avLst/>
          </a:prstGeom>
          <a:noFill/>
          <a:ln/>
        </p:spPr>
        <p:txBody>
          <a:bodyPr wrap="square" lIns="0" tIns="0" rIns="0" bIns="0" rtlCol="0" anchor="ctr"/>
          <a:lstStyle/>
          <a:p>
            <a:pPr marL="0" indent="0">
              <a:buNone/>
            </a:pPr>
            <a:r>
              <a:rPr lang="en-US" sz="1000" i="1" dirty="0">
                <a:solidFill>
                  <a:srgbClr val="6B7280"/>
                </a:solidFill>
              </a:rPr>
              <a:t>address bits used by the index:</a:t>
            </a:r>
            <a:endParaRPr lang="en-US" sz="1000" dirty="0"/>
          </a:p>
        </p:txBody>
      </p:sp>
      <p:sp>
        <p:nvSpPr>
          <p:cNvPr id="9" name="Shape 7"/>
          <p:cNvSpPr/>
          <p:nvPr/>
        </p:nvSpPr>
        <p:spPr>
          <a:xfrm>
            <a:off x="4114800" y="1417320"/>
            <a:ext cx="603504" cy="457200"/>
          </a:xfrm>
          <a:prstGeom prst="rect">
            <a:avLst/>
          </a:prstGeom>
          <a:solidFill>
            <a:srgbClr val="B23A2F"/>
          </a:solidFill>
          <a:ln w="12700">
            <a:solidFill>
              <a:srgbClr val="FFFFFF"/>
            </a:solidFill>
            <a:prstDash val="solid"/>
          </a:ln>
        </p:spPr>
      </p:sp>
      <p:sp>
        <p:nvSpPr>
          <p:cNvPr id="10" name="Text 8"/>
          <p:cNvSpPr/>
          <p:nvPr/>
        </p:nvSpPr>
        <p:spPr>
          <a:xfrm>
            <a:off x="4114800" y="1417320"/>
            <a:ext cx="603504"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12</a:t>
            </a:r>
            <a:endParaRPr lang="en-US" sz="950" dirty="0"/>
          </a:p>
        </p:txBody>
      </p:sp>
      <p:sp>
        <p:nvSpPr>
          <p:cNvPr id="11" name="Shape 9"/>
          <p:cNvSpPr/>
          <p:nvPr/>
        </p:nvSpPr>
        <p:spPr>
          <a:xfrm>
            <a:off x="4773168" y="1417320"/>
            <a:ext cx="603504" cy="457200"/>
          </a:xfrm>
          <a:prstGeom prst="rect">
            <a:avLst/>
          </a:prstGeom>
          <a:solidFill>
            <a:srgbClr val="D9EBD7"/>
          </a:solidFill>
          <a:ln w="12700">
            <a:solidFill>
              <a:srgbClr val="FFFFFF"/>
            </a:solidFill>
            <a:prstDash val="solid"/>
          </a:ln>
        </p:spPr>
      </p:sp>
      <p:sp>
        <p:nvSpPr>
          <p:cNvPr id="12" name="Text 10"/>
          <p:cNvSpPr/>
          <p:nvPr/>
        </p:nvSpPr>
        <p:spPr>
          <a:xfrm>
            <a:off x="4773168" y="1417320"/>
            <a:ext cx="603504" cy="457200"/>
          </a:xfrm>
          <a:prstGeom prst="rect">
            <a:avLst/>
          </a:prstGeom>
          <a:noFill/>
          <a:ln/>
        </p:spPr>
        <p:txBody>
          <a:bodyPr wrap="square" lIns="0" tIns="0" rIns="0" bIns="0" rtlCol="0" anchor="ctr"/>
          <a:lstStyle/>
          <a:p>
            <a:pPr marL="0" indent="0" algn="ctr">
              <a:buNone/>
            </a:pPr>
            <a:r>
              <a:rPr lang="en-US" sz="950" b="1" dirty="0">
                <a:solidFill>
                  <a:srgbClr val="2F6B28"/>
                </a:solidFill>
                <a:latin typeface="Courier New" pitchFamily="34" charset="0"/>
                <a:ea typeface="Courier New" pitchFamily="34" charset="-122"/>
                <a:cs typeface="Courier New" pitchFamily="34" charset="-120"/>
              </a:rPr>
              <a:t>11</a:t>
            </a:r>
            <a:endParaRPr lang="en-US" sz="950" dirty="0"/>
          </a:p>
        </p:txBody>
      </p:sp>
      <p:sp>
        <p:nvSpPr>
          <p:cNvPr id="13" name="Shape 11"/>
          <p:cNvSpPr/>
          <p:nvPr/>
        </p:nvSpPr>
        <p:spPr>
          <a:xfrm>
            <a:off x="5431536" y="1417320"/>
            <a:ext cx="603504" cy="457200"/>
          </a:xfrm>
          <a:prstGeom prst="rect">
            <a:avLst/>
          </a:prstGeom>
          <a:solidFill>
            <a:srgbClr val="D9EBD7"/>
          </a:solidFill>
          <a:ln w="12700">
            <a:solidFill>
              <a:srgbClr val="FFFFFF"/>
            </a:solidFill>
            <a:prstDash val="solid"/>
          </a:ln>
        </p:spPr>
      </p:sp>
      <p:sp>
        <p:nvSpPr>
          <p:cNvPr id="14" name="Text 12"/>
          <p:cNvSpPr/>
          <p:nvPr/>
        </p:nvSpPr>
        <p:spPr>
          <a:xfrm>
            <a:off x="5431536" y="1417320"/>
            <a:ext cx="603504" cy="457200"/>
          </a:xfrm>
          <a:prstGeom prst="rect">
            <a:avLst/>
          </a:prstGeom>
          <a:noFill/>
          <a:ln/>
        </p:spPr>
        <p:txBody>
          <a:bodyPr wrap="square" lIns="0" tIns="0" rIns="0" bIns="0" rtlCol="0" anchor="ctr"/>
          <a:lstStyle/>
          <a:p>
            <a:pPr marL="0" indent="0" algn="ctr">
              <a:buNone/>
            </a:pPr>
            <a:r>
              <a:rPr lang="en-US" sz="950" b="1" dirty="0">
                <a:solidFill>
                  <a:srgbClr val="2F6B28"/>
                </a:solidFill>
                <a:latin typeface="Courier New" pitchFamily="34" charset="0"/>
                <a:ea typeface="Courier New" pitchFamily="34" charset="-122"/>
                <a:cs typeface="Courier New" pitchFamily="34" charset="-120"/>
              </a:rPr>
              <a:t>10</a:t>
            </a:r>
            <a:endParaRPr lang="en-US" sz="950" dirty="0"/>
          </a:p>
        </p:txBody>
      </p:sp>
      <p:sp>
        <p:nvSpPr>
          <p:cNvPr id="15" name="Shape 13"/>
          <p:cNvSpPr/>
          <p:nvPr/>
        </p:nvSpPr>
        <p:spPr>
          <a:xfrm>
            <a:off x="6089904" y="1417320"/>
            <a:ext cx="603504" cy="457200"/>
          </a:xfrm>
          <a:prstGeom prst="rect">
            <a:avLst/>
          </a:prstGeom>
          <a:solidFill>
            <a:srgbClr val="D9EBD7"/>
          </a:solidFill>
          <a:ln w="12700">
            <a:solidFill>
              <a:srgbClr val="FFFFFF"/>
            </a:solidFill>
            <a:prstDash val="solid"/>
          </a:ln>
        </p:spPr>
      </p:sp>
      <p:sp>
        <p:nvSpPr>
          <p:cNvPr id="16" name="Text 14"/>
          <p:cNvSpPr/>
          <p:nvPr/>
        </p:nvSpPr>
        <p:spPr>
          <a:xfrm>
            <a:off x="6089904" y="1417320"/>
            <a:ext cx="603504" cy="457200"/>
          </a:xfrm>
          <a:prstGeom prst="rect">
            <a:avLst/>
          </a:prstGeom>
          <a:noFill/>
          <a:ln/>
        </p:spPr>
        <p:txBody>
          <a:bodyPr wrap="square" lIns="0" tIns="0" rIns="0" bIns="0" rtlCol="0" anchor="ctr"/>
          <a:lstStyle/>
          <a:p>
            <a:pPr marL="0" indent="0" algn="ctr">
              <a:buNone/>
            </a:pPr>
            <a:r>
              <a:rPr lang="en-US" sz="950" b="1" dirty="0">
                <a:solidFill>
                  <a:srgbClr val="2F6B28"/>
                </a:solidFill>
                <a:latin typeface="Courier New" pitchFamily="34" charset="0"/>
                <a:ea typeface="Courier New" pitchFamily="34" charset="-122"/>
                <a:cs typeface="Courier New" pitchFamily="34" charset="-120"/>
              </a:rPr>
              <a:t>9</a:t>
            </a:r>
            <a:endParaRPr lang="en-US" sz="950" dirty="0"/>
          </a:p>
        </p:txBody>
      </p:sp>
      <p:sp>
        <p:nvSpPr>
          <p:cNvPr id="17" name="Shape 15"/>
          <p:cNvSpPr/>
          <p:nvPr/>
        </p:nvSpPr>
        <p:spPr>
          <a:xfrm>
            <a:off x="6748272" y="1417320"/>
            <a:ext cx="603504" cy="457200"/>
          </a:xfrm>
          <a:prstGeom prst="rect">
            <a:avLst/>
          </a:prstGeom>
          <a:solidFill>
            <a:srgbClr val="D9EBD7"/>
          </a:solidFill>
          <a:ln w="12700">
            <a:solidFill>
              <a:srgbClr val="FFFFFF"/>
            </a:solidFill>
            <a:prstDash val="solid"/>
          </a:ln>
        </p:spPr>
      </p:sp>
      <p:sp>
        <p:nvSpPr>
          <p:cNvPr id="18" name="Text 16"/>
          <p:cNvSpPr/>
          <p:nvPr/>
        </p:nvSpPr>
        <p:spPr>
          <a:xfrm>
            <a:off x="6748272" y="1417320"/>
            <a:ext cx="603504" cy="457200"/>
          </a:xfrm>
          <a:prstGeom prst="rect">
            <a:avLst/>
          </a:prstGeom>
          <a:noFill/>
          <a:ln/>
        </p:spPr>
        <p:txBody>
          <a:bodyPr wrap="square" lIns="0" tIns="0" rIns="0" bIns="0" rtlCol="0" anchor="ctr"/>
          <a:lstStyle/>
          <a:p>
            <a:pPr marL="0" indent="0" algn="ctr">
              <a:buNone/>
            </a:pPr>
            <a:r>
              <a:rPr lang="en-US" sz="950" b="1" dirty="0">
                <a:solidFill>
                  <a:srgbClr val="2F6B28"/>
                </a:solidFill>
                <a:latin typeface="Courier New" pitchFamily="34" charset="0"/>
                <a:ea typeface="Courier New" pitchFamily="34" charset="-122"/>
                <a:cs typeface="Courier New" pitchFamily="34" charset="-120"/>
              </a:rPr>
              <a:t>8</a:t>
            </a:r>
            <a:endParaRPr lang="en-US" sz="950" dirty="0"/>
          </a:p>
        </p:txBody>
      </p:sp>
      <p:sp>
        <p:nvSpPr>
          <p:cNvPr id="19" name="Shape 17"/>
          <p:cNvSpPr/>
          <p:nvPr/>
        </p:nvSpPr>
        <p:spPr>
          <a:xfrm>
            <a:off x="7406640" y="1417320"/>
            <a:ext cx="603504" cy="457200"/>
          </a:xfrm>
          <a:prstGeom prst="rect">
            <a:avLst/>
          </a:prstGeom>
          <a:solidFill>
            <a:srgbClr val="D9EBD7"/>
          </a:solidFill>
          <a:ln w="12700">
            <a:solidFill>
              <a:srgbClr val="FFFFFF"/>
            </a:solidFill>
            <a:prstDash val="solid"/>
          </a:ln>
        </p:spPr>
      </p:sp>
      <p:sp>
        <p:nvSpPr>
          <p:cNvPr id="20" name="Text 18"/>
          <p:cNvSpPr/>
          <p:nvPr/>
        </p:nvSpPr>
        <p:spPr>
          <a:xfrm>
            <a:off x="7406640" y="1417320"/>
            <a:ext cx="603504" cy="457200"/>
          </a:xfrm>
          <a:prstGeom prst="rect">
            <a:avLst/>
          </a:prstGeom>
          <a:noFill/>
          <a:ln/>
        </p:spPr>
        <p:txBody>
          <a:bodyPr wrap="square" lIns="0" tIns="0" rIns="0" bIns="0" rtlCol="0" anchor="ctr"/>
          <a:lstStyle/>
          <a:p>
            <a:pPr marL="0" indent="0" algn="ctr">
              <a:buNone/>
            </a:pPr>
            <a:r>
              <a:rPr lang="en-US" sz="950" b="1" dirty="0">
                <a:solidFill>
                  <a:srgbClr val="2F6B28"/>
                </a:solidFill>
                <a:latin typeface="Courier New" pitchFamily="34" charset="0"/>
                <a:ea typeface="Courier New" pitchFamily="34" charset="-122"/>
                <a:cs typeface="Courier New" pitchFamily="34" charset="-120"/>
              </a:rPr>
              <a:t>7</a:t>
            </a:r>
            <a:endParaRPr lang="en-US" sz="950" dirty="0"/>
          </a:p>
        </p:txBody>
      </p:sp>
      <p:sp>
        <p:nvSpPr>
          <p:cNvPr id="21" name="Shape 19"/>
          <p:cNvSpPr/>
          <p:nvPr/>
        </p:nvSpPr>
        <p:spPr>
          <a:xfrm>
            <a:off x="8065008" y="1417320"/>
            <a:ext cx="603504" cy="457200"/>
          </a:xfrm>
          <a:prstGeom prst="rect">
            <a:avLst/>
          </a:prstGeom>
          <a:solidFill>
            <a:srgbClr val="D9EBD7"/>
          </a:solidFill>
          <a:ln w="12700">
            <a:solidFill>
              <a:srgbClr val="FFFFFF"/>
            </a:solidFill>
            <a:prstDash val="solid"/>
          </a:ln>
        </p:spPr>
      </p:sp>
      <p:sp>
        <p:nvSpPr>
          <p:cNvPr id="22" name="Text 20"/>
          <p:cNvSpPr/>
          <p:nvPr/>
        </p:nvSpPr>
        <p:spPr>
          <a:xfrm>
            <a:off x="8065008" y="1417320"/>
            <a:ext cx="603504" cy="457200"/>
          </a:xfrm>
          <a:prstGeom prst="rect">
            <a:avLst/>
          </a:prstGeom>
          <a:noFill/>
          <a:ln/>
        </p:spPr>
        <p:txBody>
          <a:bodyPr wrap="square" lIns="0" tIns="0" rIns="0" bIns="0" rtlCol="0" anchor="ctr"/>
          <a:lstStyle/>
          <a:p>
            <a:pPr marL="0" indent="0" algn="ctr">
              <a:buNone/>
            </a:pPr>
            <a:r>
              <a:rPr lang="en-US" sz="950" b="1" dirty="0">
                <a:solidFill>
                  <a:srgbClr val="2F6B28"/>
                </a:solidFill>
                <a:latin typeface="Courier New" pitchFamily="34" charset="0"/>
                <a:ea typeface="Courier New" pitchFamily="34" charset="-122"/>
                <a:cs typeface="Courier New" pitchFamily="34" charset="-120"/>
              </a:rPr>
              <a:t>6</a:t>
            </a:r>
            <a:endParaRPr lang="en-US" sz="950" dirty="0"/>
          </a:p>
        </p:txBody>
      </p:sp>
      <p:sp>
        <p:nvSpPr>
          <p:cNvPr id="23" name="Text 21"/>
          <p:cNvSpPr/>
          <p:nvPr/>
        </p:nvSpPr>
        <p:spPr>
          <a:xfrm>
            <a:off x="4114800" y="1993392"/>
            <a:ext cx="4617720" cy="594360"/>
          </a:xfrm>
          <a:prstGeom prst="rect">
            <a:avLst/>
          </a:prstGeom>
          <a:noFill/>
          <a:ln/>
        </p:spPr>
        <p:txBody>
          <a:bodyPr wrap="square" lIns="0" tIns="0" rIns="0" bIns="0" rtlCol="0" anchor="ctr"/>
          <a:lstStyle/>
          <a:p>
            <a:pPr marL="0" indent="0">
              <a:buNone/>
            </a:pPr>
            <a:r>
              <a:rPr lang="en-US" sz="1050" dirty="0">
                <a:solidFill>
                  <a:srgbClr val="1F2937"/>
                </a:solidFill>
                <a:latin typeface="Calibri" pitchFamily="34" charset="0"/>
                <a:ea typeface="Calibri" pitchFamily="34" charset="-122"/>
                <a:cs typeface="Calibri" pitchFamily="34" charset="-120"/>
              </a:rPr>
              <a:t>bit 12 is the lowest VPN bit — outside the page offset. It can differ between two VAs that map to the same physical page.</a:t>
            </a:r>
            <a:endParaRPr lang="en-US" sz="1050" dirty="0"/>
          </a:p>
        </p:txBody>
      </p:sp>
      <p:sp>
        <p:nvSpPr>
          <p:cNvPr id="24" name="Shape 22"/>
          <p:cNvSpPr/>
          <p:nvPr/>
        </p:nvSpPr>
        <p:spPr>
          <a:xfrm>
            <a:off x="457200" y="2834640"/>
            <a:ext cx="8275320" cy="1051560"/>
          </a:xfrm>
          <a:prstGeom prst="rect">
            <a:avLst/>
          </a:prstGeom>
          <a:solidFill>
            <a:srgbClr val="FFFFFF"/>
          </a:solidFill>
          <a:ln w="12700">
            <a:solidFill>
              <a:srgbClr val="DDE1E6"/>
            </a:solidFill>
            <a:prstDash val="solid"/>
          </a:ln>
        </p:spPr>
      </p:sp>
      <p:sp>
        <p:nvSpPr>
          <p:cNvPr id="25" name="Shape 23"/>
          <p:cNvSpPr/>
          <p:nvPr/>
        </p:nvSpPr>
        <p:spPr>
          <a:xfrm>
            <a:off x="457200" y="2834640"/>
            <a:ext cx="64008" cy="1051560"/>
          </a:xfrm>
          <a:prstGeom prst="rect">
            <a:avLst/>
          </a:prstGeom>
          <a:solidFill>
            <a:srgbClr val="C2641A"/>
          </a:solidFill>
          <a:ln/>
        </p:spPr>
      </p:sp>
      <p:sp>
        <p:nvSpPr>
          <p:cNvPr id="26" name="Text 24"/>
          <p:cNvSpPr/>
          <p:nvPr/>
        </p:nvSpPr>
        <p:spPr>
          <a:xfrm>
            <a:off x="658368" y="2898648"/>
            <a:ext cx="1280160" cy="182880"/>
          </a:xfrm>
          <a:prstGeom prst="rect">
            <a:avLst/>
          </a:prstGeom>
          <a:noFill/>
          <a:ln/>
        </p:spPr>
        <p:txBody>
          <a:bodyPr wrap="square" lIns="0" tIns="0" rIns="0" bIns="0" rtlCol="0" anchor="ctr"/>
          <a:lstStyle/>
          <a:p>
            <a:pPr marL="0" indent="0">
              <a:buNone/>
            </a:pPr>
            <a:r>
              <a:rPr lang="en-US" sz="850" b="1" kern="0" spc="200" dirty="0">
                <a:solidFill>
                  <a:srgbClr val="C2641A"/>
                </a:solidFill>
                <a:latin typeface="Trebuchet MS" pitchFamily="34" charset="0"/>
                <a:ea typeface="Trebuchet MS" pitchFamily="34" charset="-122"/>
                <a:cs typeface="Trebuchet MS" pitchFamily="34" charset="-120"/>
              </a:rPr>
              <a:t>ANSWER</a:t>
            </a:r>
            <a:endParaRPr lang="en-US" sz="850" dirty="0"/>
          </a:p>
        </p:txBody>
      </p:sp>
      <p:sp>
        <p:nvSpPr>
          <p:cNvPr id="27" name="Text 25"/>
          <p:cNvSpPr/>
          <p:nvPr/>
        </p:nvSpPr>
        <p:spPr>
          <a:xfrm>
            <a:off x="658368" y="3081528"/>
            <a:ext cx="7909560" cy="740664"/>
          </a:xfrm>
          <a:prstGeom prst="rect">
            <a:avLst/>
          </a:prstGeom>
          <a:noFill/>
          <a:ln/>
        </p:spPr>
        <p:txBody>
          <a:bodyPr wrap="square" lIns="0" tIns="0" rIns="0" bIns="0" rtlCol="0" anchor="t"/>
          <a:lstStyle/>
          <a:p>
            <a:pPr marL="0" indent="0">
              <a:buNone/>
            </a:pPr>
            <a:r>
              <a:rPr lang="en-US" sz="1200" b="1" dirty="0">
                <a:solidFill>
                  <a:srgbClr val="B23A2F"/>
                </a:solidFill>
                <a:latin typeface="Calibri" pitchFamily="34" charset="0"/>
                <a:ea typeface="Calibri" pitchFamily="34" charset="-122"/>
                <a:cs typeface="Calibri" pitchFamily="34" charset="-120"/>
              </a:rPr>
              <a:t>Cache aliasing: </a:t>
            </a:r>
            <a:r>
              <a:rPr lang="en-US" sz="1200" dirty="0">
                <a:solidFill>
                  <a:srgbClr val="1F2937"/>
                </a:solidFill>
                <a:latin typeface="Calibri" pitchFamily="34" charset="0"/>
                <a:ea typeface="Calibri" pitchFamily="34" charset="-122"/>
                <a:cs typeface="Calibri" pitchFamily="34" charset="-120"/>
              </a:rPr>
              <a:t>two virtual addresses for the same physical page can land in different cache sets → two copies of one physical line, and a write to one is invisible via the other.</a:t>
            </a:r>
            <a:endParaRPr lang="en-US" sz="1200" dirty="0"/>
          </a:p>
          <a:p>
            <a:pPr marL="0" indent="0">
              <a:buNone/>
            </a:pPr>
            <a:r>
              <a:rPr lang="en-US" sz="1200" b="1" dirty="0">
                <a:solidFill>
                  <a:srgbClr val="1F2937"/>
                </a:solidFill>
                <a:latin typeface="Calibri" pitchFamily="34" charset="0"/>
                <a:ea typeface="Calibri" pitchFamily="34" charset="-122"/>
                <a:cs typeface="Calibri" pitchFamily="34" charset="-120"/>
              </a:rPr>
              <a:t>Fix without changing the cache: VPO ≥ 13  ⇒  minimum page size 2¹³ = 8 KB.</a:t>
            </a:r>
            <a:endParaRPr lang="en-US" sz="1200" dirty="0"/>
          </a:p>
        </p:txBody>
      </p:sp>
      <p:sp>
        <p:nvSpPr>
          <p:cNvPr id="28" name="Text 26"/>
          <p:cNvSpPr/>
          <p:nvPr/>
        </p:nvSpPr>
        <p:spPr>
          <a:xfrm>
            <a:off x="457200" y="4069080"/>
            <a:ext cx="822960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(Other escape hatches exist — OS page-coloring — but the exam asks for page size.)</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25</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3.3 (B) — DESIGN B</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64 sets × 16-way × 64 B: VIPT survives</a:t>
            </a:r>
            <a:endParaRPr lang="en-US" sz="2300" dirty="0"/>
          </a:p>
        </p:txBody>
      </p:sp>
      <p:sp>
        <p:nvSpPr>
          <p:cNvPr id="5" name="Shape 3"/>
          <p:cNvSpPr/>
          <p:nvPr/>
        </p:nvSpPr>
        <p:spPr>
          <a:xfrm>
            <a:off x="457200" y="1143000"/>
            <a:ext cx="3291840" cy="1463040"/>
          </a:xfrm>
          <a:prstGeom prst="rect">
            <a:avLst/>
          </a:prstGeom>
          <a:solidFill>
            <a:srgbClr val="EDF5EC"/>
          </a:solidFill>
          <a:ln w="12700">
            <a:solidFill>
              <a:srgbClr val="DDE1E6"/>
            </a:solidFill>
            <a:prstDash val="solid"/>
          </a:ln>
        </p:spPr>
      </p:sp>
      <p:sp>
        <p:nvSpPr>
          <p:cNvPr id="6" name="Shape 4"/>
          <p:cNvSpPr/>
          <p:nvPr/>
        </p:nvSpPr>
        <p:spPr>
          <a:xfrm>
            <a:off x="457200" y="1143000"/>
            <a:ext cx="64008" cy="1463040"/>
          </a:xfrm>
          <a:prstGeom prst="rect">
            <a:avLst/>
          </a:prstGeom>
          <a:solidFill>
            <a:srgbClr val="5E9E52"/>
          </a:solidFill>
          <a:ln/>
        </p:spPr>
      </p:sp>
      <p:sp>
        <p:nvSpPr>
          <p:cNvPr id="7" name="Text 5"/>
          <p:cNvSpPr/>
          <p:nvPr/>
        </p:nvSpPr>
        <p:spPr>
          <a:xfrm>
            <a:off x="685800" y="1325880"/>
            <a:ext cx="2926080" cy="1188720"/>
          </a:xfrm>
          <a:prstGeom prst="rect">
            <a:avLst/>
          </a:prstGeom>
          <a:noFill/>
          <a:ln/>
        </p:spPr>
        <p:txBody>
          <a:bodyPr wrap="square" lIns="0" tIns="0" rIns="0" bIns="0" rtlCol="0" anchor="t"/>
          <a:lstStyle/>
          <a:p>
            <a:pPr marL="0" indent="0">
              <a:spcAft>
                <a:spcPts val="300"/>
              </a:spcAft>
              <a:buNone/>
            </a:pPr>
            <a:r>
              <a:rPr lang="en-US" sz="1200" dirty="0">
                <a:solidFill>
                  <a:srgbClr val="1F2937"/>
                </a:solidFill>
                <a:latin typeface="Courier New" pitchFamily="34" charset="0"/>
                <a:ea typeface="Courier New" pitchFamily="34" charset="-122"/>
                <a:cs typeface="Courier New" pitchFamily="34" charset="-120"/>
              </a:rPr>
              <a:t>CI = log₂ 64 = 6</a:t>
            </a:r>
            <a:endParaRPr lang="en-US" sz="1200" dirty="0"/>
          </a:p>
          <a:p>
            <a:pPr marL="0" indent="0">
              <a:spcAft>
                <a:spcPts val="600"/>
              </a:spcAft>
              <a:buNone/>
            </a:pPr>
            <a:r>
              <a:rPr lang="en-US" sz="1200" dirty="0">
                <a:solidFill>
                  <a:srgbClr val="1F2937"/>
                </a:solidFill>
                <a:latin typeface="Courier New" pitchFamily="34" charset="0"/>
                <a:ea typeface="Courier New" pitchFamily="34" charset="-122"/>
                <a:cs typeface="Courier New" pitchFamily="34" charset="-120"/>
              </a:rPr>
              <a:t>CO = 6</a:t>
            </a:r>
            <a:endParaRPr lang="en-US" sz="1200" dirty="0"/>
          </a:p>
          <a:p>
            <a:pPr marL="0" indent="0">
              <a:buNone/>
            </a:pPr>
            <a:r>
              <a:rPr lang="en-US" sz="1500" b="1" dirty="0">
                <a:solidFill>
                  <a:srgbClr val="2F6B28"/>
                </a:solidFill>
                <a:latin typeface="Courier New" pitchFamily="34" charset="0"/>
                <a:ea typeface="Courier New" pitchFamily="34" charset="-122"/>
                <a:cs typeface="Courier New" pitchFamily="34" charset="-120"/>
              </a:rPr>
              <a:t>6 + 6 = 12 ≤ 12  ✓</a:t>
            </a:r>
            <a:endParaRPr lang="en-US" sz="1200" dirty="0"/>
          </a:p>
        </p:txBody>
      </p:sp>
      <p:sp>
        <p:nvSpPr>
          <p:cNvPr id="8" name="Text 6"/>
          <p:cNvSpPr/>
          <p:nvPr/>
        </p:nvSpPr>
        <p:spPr>
          <a:xfrm>
            <a:off x="4114800" y="1234440"/>
            <a:ext cx="4617720" cy="128016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Same 64 KB capacity, different shape. </a:t>
            </a:r>
            <a:r>
              <a:rPr lang="en-US" sz="1250" dirty="0">
                <a:solidFill>
                  <a:srgbClr val="1F2937"/>
                </a:solidFill>
                <a:latin typeface="Calibri" pitchFamily="34" charset="0"/>
                <a:ea typeface="Calibri" pitchFamily="34" charset="-122"/>
                <a:cs typeface="Calibri" pitchFamily="34" charset="-120"/>
              </a:rPr>
              <a:t>Doubling associativity doubles capacity without adding sets, so CI stays at 6 — entirely inside the page offset. No aliasing.</a:t>
            </a:r>
            <a:endParaRPr lang="en-US" sz="1250" dirty="0"/>
          </a:p>
        </p:txBody>
      </p:sp>
      <p:sp>
        <p:nvSpPr>
          <p:cNvPr id="9" name="Shape 7"/>
          <p:cNvSpPr/>
          <p:nvPr/>
        </p:nvSpPr>
        <p:spPr>
          <a:xfrm>
            <a:off x="457200" y="2880360"/>
            <a:ext cx="4023360" cy="1325880"/>
          </a:xfrm>
          <a:prstGeom prst="rect">
            <a:avLst/>
          </a:prstGeom>
          <a:solidFill>
            <a:srgbClr val="FDF3EF"/>
          </a:solidFill>
          <a:ln w="12700">
            <a:solidFill>
              <a:srgbClr val="DDE1E6"/>
            </a:solidFill>
            <a:prstDash val="solid"/>
          </a:ln>
        </p:spPr>
      </p:sp>
      <p:sp>
        <p:nvSpPr>
          <p:cNvPr id="10" name="Shape 8"/>
          <p:cNvSpPr/>
          <p:nvPr/>
        </p:nvSpPr>
        <p:spPr>
          <a:xfrm>
            <a:off x="457200" y="2880360"/>
            <a:ext cx="64008" cy="1325880"/>
          </a:xfrm>
          <a:prstGeom prst="rect">
            <a:avLst/>
          </a:prstGeom>
          <a:solidFill>
            <a:srgbClr val="B23A2F"/>
          </a:solidFill>
          <a:ln/>
        </p:spPr>
      </p:sp>
      <p:sp>
        <p:nvSpPr>
          <p:cNvPr id="11" name="Text 9"/>
          <p:cNvSpPr/>
          <p:nvPr/>
        </p:nvSpPr>
        <p:spPr>
          <a:xfrm>
            <a:off x="658368" y="294436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12" name="Text 10"/>
          <p:cNvSpPr/>
          <p:nvPr/>
        </p:nvSpPr>
        <p:spPr>
          <a:xfrm>
            <a:off x="658368" y="3127248"/>
            <a:ext cx="3657600" cy="101498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“Doubling cache size always breaks VIPT.”  Only if you double the SETS (CI grows). Growing ways or line size keeps the index bits put.</a:t>
            </a:r>
            <a:endParaRPr lang="en-US" sz="1100" dirty="0"/>
          </a:p>
        </p:txBody>
      </p:sp>
      <p:sp>
        <p:nvSpPr>
          <p:cNvPr id="13" name="Shape 11"/>
          <p:cNvSpPr/>
          <p:nvPr/>
        </p:nvSpPr>
        <p:spPr>
          <a:xfrm>
            <a:off x="4709160" y="2880360"/>
            <a:ext cx="4023360" cy="1325880"/>
          </a:xfrm>
          <a:prstGeom prst="rect">
            <a:avLst/>
          </a:prstGeom>
          <a:solidFill>
            <a:srgbClr val="F0F2F5"/>
          </a:solidFill>
          <a:ln w="12700">
            <a:solidFill>
              <a:srgbClr val="DDE1E6"/>
            </a:solidFill>
            <a:prstDash val="solid"/>
          </a:ln>
        </p:spPr>
      </p:sp>
      <p:sp>
        <p:nvSpPr>
          <p:cNvPr id="14" name="Text 12"/>
          <p:cNvSpPr/>
          <p:nvPr/>
        </p:nvSpPr>
        <p:spPr>
          <a:xfrm>
            <a:off x="4937760" y="3044952"/>
            <a:ext cx="3611880" cy="1051560"/>
          </a:xfrm>
          <a:prstGeom prst="rect">
            <a:avLst/>
          </a:prstGeom>
          <a:noFill/>
          <a:ln/>
        </p:spPr>
        <p:txBody>
          <a:bodyPr wrap="square" lIns="0" tIns="0" rIns="0" bIns="0" rtlCol="0" anchor="t"/>
          <a:lstStyle/>
          <a:p>
            <a:pPr marL="0" indent="0">
              <a:buNone/>
            </a:pPr>
            <a:r>
              <a:rPr lang="en-US" sz="1150" b="1" dirty="0">
                <a:solidFill>
                  <a:srgbClr val="2F3C7E"/>
                </a:solidFill>
                <a:latin typeface="Calibri" pitchFamily="34" charset="0"/>
                <a:ea typeface="Calibri" pitchFamily="34" charset="-122"/>
                <a:cs typeface="Calibri" pitchFamily="34" charset="-120"/>
              </a:rPr>
              <a:t>Real-world check:  </a:t>
            </a:r>
            <a:r>
              <a:rPr lang="en-US" sz="1150" dirty="0">
                <a:solidFill>
                  <a:srgbClr val="1F2937"/>
                </a:solidFill>
                <a:latin typeface="Calibri" pitchFamily="34" charset="0"/>
                <a:ea typeface="Calibri" pitchFamily="34" charset="-122"/>
                <a:cs typeface="Calibri" pitchFamily="34" charset="-120"/>
              </a:rPr>
              <a:t>this is how big L1s stay VIPT — e.g. 128 KB at 64 sets × 32-way still gives CI + CO = 12. High associativity is the escape hatch real CPUs (Apple M-series) use.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26</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3.4 (A)</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Copying a file to stdout: count the copies</a:t>
            </a:r>
            <a:endParaRPr lang="en-US" sz="2300" dirty="0"/>
          </a:p>
        </p:txBody>
      </p:sp>
      <p:sp>
        <p:nvSpPr>
          <p:cNvPr id="5" name="Text 3"/>
          <p:cNvSpPr/>
          <p:nvPr/>
        </p:nvSpPr>
        <p:spPr>
          <a:xfrm>
            <a:off x="457200" y="1097280"/>
            <a:ext cx="8229600" cy="237744"/>
          </a:xfrm>
          <a:prstGeom prst="rect">
            <a:avLst/>
          </a:prstGeom>
          <a:noFill/>
          <a:ln/>
        </p:spPr>
        <p:txBody>
          <a:bodyPr wrap="square" lIns="0" tIns="0" rIns="0" bIns="0" rtlCol="0" anchor="ctr"/>
          <a:lstStyle/>
          <a:p>
            <a:pPr marL="0" indent="0">
              <a:buNone/>
            </a:pPr>
            <a:r>
              <a:rPr lang="en-US" sz="1100" b="1" dirty="0">
                <a:solidFill>
                  <a:srgbClr val="1F2937"/>
                </a:solidFill>
                <a:latin typeface="Trebuchet MS" pitchFamily="34" charset="0"/>
                <a:ea typeface="Trebuchet MS" pitchFamily="34" charset="-122"/>
                <a:cs typeface="Trebuchet MS" pitchFamily="34" charset="-120"/>
              </a:rPr>
              <a:t>APPROACH 1 — read() + write():  two CPU copies</a:t>
            </a:r>
            <a:endParaRPr lang="en-US" sz="1100" dirty="0"/>
          </a:p>
        </p:txBody>
      </p:sp>
      <p:sp>
        <p:nvSpPr>
          <p:cNvPr id="6" name="Shape 4"/>
          <p:cNvSpPr/>
          <p:nvPr/>
        </p:nvSpPr>
        <p:spPr>
          <a:xfrm>
            <a:off x="457200" y="1389888"/>
            <a:ext cx="914400" cy="566928"/>
          </a:xfrm>
          <a:prstGeom prst="rect">
            <a:avLst/>
          </a:prstGeom>
          <a:solidFill>
            <a:srgbClr val="EFEFEC"/>
          </a:solidFill>
          <a:ln w="12700">
            <a:solidFill>
              <a:srgbClr val="DDE1E6"/>
            </a:solidFill>
            <a:prstDash val="solid"/>
          </a:ln>
        </p:spPr>
      </p:sp>
      <p:sp>
        <p:nvSpPr>
          <p:cNvPr id="7" name="Text 5"/>
          <p:cNvSpPr/>
          <p:nvPr/>
        </p:nvSpPr>
        <p:spPr>
          <a:xfrm>
            <a:off x="457200" y="1389888"/>
            <a:ext cx="914400" cy="566928"/>
          </a:xfrm>
          <a:prstGeom prst="rect">
            <a:avLst/>
          </a:prstGeom>
          <a:noFill/>
          <a:ln/>
        </p:spPr>
        <p:txBody>
          <a:bodyPr wrap="square" lIns="381" tIns="381" rIns="381" bIns="381" rtlCol="0" anchor="ctr"/>
          <a:lstStyle/>
          <a:p>
            <a:pPr marL="0" indent="0" algn="ctr">
              <a:buNone/>
            </a:pPr>
            <a:r>
              <a:rPr lang="en-US" sz="950" dirty="0">
                <a:solidFill>
                  <a:srgbClr val="1F2937"/>
                </a:solidFill>
                <a:latin typeface="Calibri" pitchFamily="34" charset="0"/>
                <a:ea typeface="Calibri" pitchFamily="34" charset="-122"/>
                <a:cs typeface="Calibri" pitchFamily="34" charset="-120"/>
              </a:rPr>
              <a:t>disk</a:t>
            </a:r>
            <a:endParaRPr lang="en-US" sz="950" dirty="0"/>
          </a:p>
        </p:txBody>
      </p:sp>
      <p:sp>
        <p:nvSpPr>
          <p:cNvPr id="8" name="Shape 6"/>
          <p:cNvSpPr/>
          <p:nvPr/>
        </p:nvSpPr>
        <p:spPr>
          <a:xfrm>
            <a:off x="1371600" y="1673352"/>
            <a:ext cx="548640" cy="0"/>
          </a:xfrm>
          <a:prstGeom prst="line">
            <a:avLst/>
          </a:prstGeom>
          <a:noFill/>
          <a:ln w="19050">
            <a:solidFill>
              <a:srgbClr val="9AA0A8"/>
            </a:solidFill>
            <a:prstDash val="solid"/>
            <a:tailEnd type="triangle"/>
          </a:ln>
        </p:spPr>
      </p:sp>
      <p:sp>
        <p:nvSpPr>
          <p:cNvPr id="9" name="Shape 7"/>
          <p:cNvSpPr/>
          <p:nvPr/>
        </p:nvSpPr>
        <p:spPr>
          <a:xfrm>
            <a:off x="1920240" y="1389888"/>
            <a:ext cx="1737360" cy="566928"/>
          </a:xfrm>
          <a:prstGeom prst="rect">
            <a:avLst/>
          </a:prstGeom>
          <a:solidFill>
            <a:srgbClr val="FFFFFF"/>
          </a:solidFill>
          <a:ln w="12700">
            <a:solidFill>
              <a:srgbClr val="DDE1E6"/>
            </a:solidFill>
            <a:prstDash val="solid"/>
          </a:ln>
        </p:spPr>
      </p:sp>
      <p:sp>
        <p:nvSpPr>
          <p:cNvPr id="10" name="Text 8"/>
          <p:cNvSpPr/>
          <p:nvPr/>
        </p:nvSpPr>
        <p:spPr>
          <a:xfrm>
            <a:off x="1920240" y="1389888"/>
            <a:ext cx="1737360" cy="566928"/>
          </a:xfrm>
          <a:prstGeom prst="rect">
            <a:avLst/>
          </a:prstGeom>
          <a:noFill/>
          <a:ln/>
        </p:spPr>
        <p:txBody>
          <a:bodyPr wrap="square" lIns="381" tIns="381" rIns="381" bIns="381" rtlCol="0" anchor="ctr"/>
          <a:lstStyle/>
          <a:p>
            <a:pPr marL="0" indent="0" algn="ctr">
              <a:buNone/>
            </a:pPr>
            <a:r>
              <a:rPr lang="en-US" sz="950" dirty="0">
                <a:solidFill>
                  <a:srgbClr val="1F2937"/>
                </a:solidFill>
                <a:latin typeface="Calibri" pitchFamily="34" charset="0"/>
                <a:ea typeface="Calibri" pitchFamily="34" charset="-122"/>
                <a:cs typeface="Calibri" pitchFamily="34" charset="-120"/>
              </a:rPr>
              <a:t>kernel page cache</a:t>
            </a:r>
            <a:endParaRPr lang="en-US" sz="950" dirty="0"/>
          </a:p>
        </p:txBody>
      </p:sp>
      <p:sp>
        <p:nvSpPr>
          <p:cNvPr id="11" name="Shape 9"/>
          <p:cNvSpPr/>
          <p:nvPr/>
        </p:nvSpPr>
        <p:spPr>
          <a:xfrm>
            <a:off x="3657600" y="1673352"/>
            <a:ext cx="548640" cy="0"/>
          </a:xfrm>
          <a:prstGeom prst="line">
            <a:avLst/>
          </a:prstGeom>
          <a:noFill/>
          <a:ln w="31750">
            <a:solidFill>
              <a:srgbClr val="B23A2F"/>
            </a:solidFill>
            <a:prstDash val="solid"/>
            <a:tailEnd type="triangle"/>
          </a:ln>
        </p:spPr>
      </p:sp>
      <p:sp>
        <p:nvSpPr>
          <p:cNvPr id="12" name="Text 10"/>
          <p:cNvSpPr/>
          <p:nvPr/>
        </p:nvSpPr>
        <p:spPr>
          <a:xfrm>
            <a:off x="3429000" y="1984248"/>
            <a:ext cx="1051560" cy="182880"/>
          </a:xfrm>
          <a:prstGeom prst="rect">
            <a:avLst/>
          </a:prstGeom>
          <a:noFill/>
          <a:ln/>
        </p:spPr>
        <p:txBody>
          <a:bodyPr wrap="square" lIns="0" tIns="0" rIns="0" bIns="0" rtlCol="0" anchor="ctr"/>
          <a:lstStyle/>
          <a:p>
            <a:pPr marL="0" indent="0" algn="ctr">
              <a:buNone/>
            </a:pPr>
            <a:r>
              <a:rPr lang="en-US" sz="850" b="1" dirty="0">
                <a:solidFill>
                  <a:srgbClr val="B23A2F"/>
                </a:solidFill>
              </a:rPr>
              <a:t>copy 1: read()</a:t>
            </a:r>
            <a:endParaRPr lang="en-US" sz="850" dirty="0"/>
          </a:p>
        </p:txBody>
      </p:sp>
      <p:sp>
        <p:nvSpPr>
          <p:cNvPr id="13" name="Shape 11"/>
          <p:cNvSpPr/>
          <p:nvPr/>
        </p:nvSpPr>
        <p:spPr>
          <a:xfrm>
            <a:off x="4206240" y="1389888"/>
            <a:ext cx="1737360" cy="566928"/>
          </a:xfrm>
          <a:prstGeom prst="rect">
            <a:avLst/>
          </a:prstGeom>
          <a:solidFill>
            <a:srgbClr val="FFFFFF"/>
          </a:solidFill>
          <a:ln w="12700">
            <a:solidFill>
              <a:srgbClr val="DDE1E6"/>
            </a:solidFill>
            <a:prstDash val="solid"/>
          </a:ln>
        </p:spPr>
      </p:sp>
      <p:sp>
        <p:nvSpPr>
          <p:cNvPr id="14" name="Text 12"/>
          <p:cNvSpPr/>
          <p:nvPr/>
        </p:nvSpPr>
        <p:spPr>
          <a:xfrm>
            <a:off x="4206240" y="1389888"/>
            <a:ext cx="1737360" cy="566928"/>
          </a:xfrm>
          <a:prstGeom prst="rect">
            <a:avLst/>
          </a:prstGeom>
          <a:noFill/>
          <a:ln/>
        </p:spPr>
        <p:txBody>
          <a:bodyPr wrap="square" lIns="381" tIns="381" rIns="381" bIns="381" rtlCol="0" anchor="ctr"/>
          <a:lstStyle/>
          <a:p>
            <a:pPr marL="0" indent="0" algn="ctr">
              <a:buNone/>
            </a:pPr>
            <a:r>
              <a:rPr lang="en-US" sz="950" dirty="0">
                <a:solidFill>
                  <a:srgbClr val="1F2937"/>
                </a:solidFill>
                <a:latin typeface="Calibri" pitchFamily="34" charset="0"/>
                <a:ea typeface="Calibri" pitchFamily="34" charset="-122"/>
                <a:cs typeface="Calibri" pitchFamily="34" charset="-120"/>
              </a:rPr>
              <a:t>user buffer buf[N]</a:t>
            </a:r>
            <a:endParaRPr lang="en-US" sz="950" dirty="0"/>
          </a:p>
        </p:txBody>
      </p:sp>
      <p:sp>
        <p:nvSpPr>
          <p:cNvPr id="15" name="Shape 13"/>
          <p:cNvSpPr/>
          <p:nvPr/>
        </p:nvSpPr>
        <p:spPr>
          <a:xfrm>
            <a:off x="5943600" y="1673352"/>
            <a:ext cx="548640" cy="0"/>
          </a:xfrm>
          <a:prstGeom prst="line">
            <a:avLst/>
          </a:prstGeom>
          <a:noFill/>
          <a:ln w="31750">
            <a:solidFill>
              <a:srgbClr val="B23A2F"/>
            </a:solidFill>
            <a:prstDash val="solid"/>
            <a:tailEnd type="triangle"/>
          </a:ln>
        </p:spPr>
      </p:sp>
      <p:sp>
        <p:nvSpPr>
          <p:cNvPr id="16" name="Text 14"/>
          <p:cNvSpPr/>
          <p:nvPr/>
        </p:nvSpPr>
        <p:spPr>
          <a:xfrm>
            <a:off x="5715000" y="1984248"/>
            <a:ext cx="1051560" cy="182880"/>
          </a:xfrm>
          <a:prstGeom prst="rect">
            <a:avLst/>
          </a:prstGeom>
          <a:noFill/>
          <a:ln/>
        </p:spPr>
        <p:txBody>
          <a:bodyPr wrap="square" lIns="0" tIns="0" rIns="0" bIns="0" rtlCol="0" anchor="ctr"/>
          <a:lstStyle/>
          <a:p>
            <a:pPr marL="0" indent="0" algn="ctr">
              <a:buNone/>
            </a:pPr>
            <a:r>
              <a:rPr lang="en-US" sz="850" b="1" dirty="0">
                <a:solidFill>
                  <a:srgbClr val="B23A2F"/>
                </a:solidFill>
              </a:rPr>
              <a:t>copy 2: write()</a:t>
            </a:r>
            <a:endParaRPr lang="en-US" sz="850" dirty="0"/>
          </a:p>
        </p:txBody>
      </p:sp>
      <p:sp>
        <p:nvSpPr>
          <p:cNvPr id="17" name="Shape 15"/>
          <p:cNvSpPr/>
          <p:nvPr/>
        </p:nvSpPr>
        <p:spPr>
          <a:xfrm>
            <a:off x="6492240" y="1389888"/>
            <a:ext cx="1737360" cy="566928"/>
          </a:xfrm>
          <a:prstGeom prst="rect">
            <a:avLst/>
          </a:prstGeom>
          <a:solidFill>
            <a:srgbClr val="FFFFFF"/>
          </a:solidFill>
          <a:ln w="12700">
            <a:solidFill>
              <a:srgbClr val="DDE1E6"/>
            </a:solidFill>
            <a:prstDash val="solid"/>
          </a:ln>
        </p:spPr>
      </p:sp>
      <p:sp>
        <p:nvSpPr>
          <p:cNvPr id="18" name="Text 16"/>
          <p:cNvSpPr/>
          <p:nvPr/>
        </p:nvSpPr>
        <p:spPr>
          <a:xfrm>
            <a:off x="6492240" y="1389888"/>
            <a:ext cx="1737360" cy="566928"/>
          </a:xfrm>
          <a:prstGeom prst="rect">
            <a:avLst/>
          </a:prstGeom>
          <a:noFill/>
          <a:ln/>
        </p:spPr>
        <p:txBody>
          <a:bodyPr wrap="square" lIns="381" tIns="381" rIns="381" bIns="381" rtlCol="0" anchor="ctr"/>
          <a:lstStyle/>
          <a:p>
            <a:pPr marL="0" indent="0" algn="ctr">
              <a:buNone/>
            </a:pPr>
            <a:r>
              <a:rPr lang="en-US" sz="950" dirty="0">
                <a:solidFill>
                  <a:srgbClr val="1F2937"/>
                </a:solidFill>
                <a:latin typeface="Calibri" pitchFamily="34" charset="0"/>
                <a:ea typeface="Calibri" pitchFamily="34" charset="-122"/>
                <a:cs typeface="Calibri" pitchFamily="34" charset="-120"/>
              </a:rPr>
              <a:t>kernel output buffer</a:t>
            </a:r>
            <a:endParaRPr lang="en-US" sz="950" dirty="0"/>
          </a:p>
        </p:txBody>
      </p:sp>
      <p:sp>
        <p:nvSpPr>
          <p:cNvPr id="19" name="Text 17"/>
          <p:cNvSpPr/>
          <p:nvPr/>
        </p:nvSpPr>
        <p:spPr>
          <a:xfrm>
            <a:off x="457200" y="2468880"/>
            <a:ext cx="8229600" cy="237744"/>
          </a:xfrm>
          <a:prstGeom prst="rect">
            <a:avLst/>
          </a:prstGeom>
          <a:noFill/>
          <a:ln/>
        </p:spPr>
        <p:txBody>
          <a:bodyPr wrap="square" lIns="0" tIns="0" rIns="0" bIns="0" rtlCol="0" anchor="ctr"/>
          <a:lstStyle/>
          <a:p>
            <a:pPr marL="0" indent="0">
              <a:buNone/>
            </a:pPr>
            <a:r>
              <a:rPr lang="en-US" sz="1100" b="1" dirty="0">
                <a:solidFill>
                  <a:srgbClr val="1F2937"/>
                </a:solidFill>
                <a:latin typeface="Trebuchet MS" pitchFamily="34" charset="0"/>
                <a:ea typeface="Trebuchet MS" pitchFamily="34" charset="-122"/>
                <a:cs typeface="Trebuchet MS" pitchFamily="34" charset="-120"/>
              </a:rPr>
              <a:t>APPROACH 2 — mmap() + write():  one CPU copy</a:t>
            </a:r>
            <a:endParaRPr lang="en-US" sz="1100" dirty="0"/>
          </a:p>
        </p:txBody>
      </p:sp>
      <p:sp>
        <p:nvSpPr>
          <p:cNvPr id="20" name="Shape 18"/>
          <p:cNvSpPr/>
          <p:nvPr/>
        </p:nvSpPr>
        <p:spPr>
          <a:xfrm>
            <a:off x="457200" y="2761488"/>
            <a:ext cx="914400" cy="566928"/>
          </a:xfrm>
          <a:prstGeom prst="rect">
            <a:avLst/>
          </a:prstGeom>
          <a:solidFill>
            <a:srgbClr val="EFEFEC"/>
          </a:solidFill>
          <a:ln w="12700">
            <a:solidFill>
              <a:srgbClr val="DDE1E6"/>
            </a:solidFill>
            <a:prstDash val="solid"/>
          </a:ln>
        </p:spPr>
      </p:sp>
      <p:sp>
        <p:nvSpPr>
          <p:cNvPr id="21" name="Text 19"/>
          <p:cNvSpPr/>
          <p:nvPr/>
        </p:nvSpPr>
        <p:spPr>
          <a:xfrm>
            <a:off x="457200" y="2761488"/>
            <a:ext cx="914400" cy="566928"/>
          </a:xfrm>
          <a:prstGeom prst="rect">
            <a:avLst/>
          </a:prstGeom>
          <a:noFill/>
          <a:ln/>
        </p:spPr>
        <p:txBody>
          <a:bodyPr wrap="square" lIns="381" tIns="381" rIns="381" bIns="381" rtlCol="0" anchor="ctr"/>
          <a:lstStyle/>
          <a:p>
            <a:pPr marL="0" indent="0" algn="ctr">
              <a:buNone/>
            </a:pPr>
            <a:r>
              <a:rPr lang="en-US" sz="950" dirty="0">
                <a:solidFill>
                  <a:srgbClr val="1F2937"/>
                </a:solidFill>
                <a:latin typeface="Calibri" pitchFamily="34" charset="0"/>
                <a:ea typeface="Calibri" pitchFamily="34" charset="-122"/>
                <a:cs typeface="Calibri" pitchFamily="34" charset="-120"/>
              </a:rPr>
              <a:t>disk</a:t>
            </a:r>
            <a:endParaRPr lang="en-US" sz="950" dirty="0"/>
          </a:p>
        </p:txBody>
      </p:sp>
      <p:sp>
        <p:nvSpPr>
          <p:cNvPr id="22" name="Shape 20"/>
          <p:cNvSpPr/>
          <p:nvPr/>
        </p:nvSpPr>
        <p:spPr>
          <a:xfrm>
            <a:off x="1371600" y="3044952"/>
            <a:ext cx="548640" cy="0"/>
          </a:xfrm>
          <a:prstGeom prst="line">
            <a:avLst/>
          </a:prstGeom>
          <a:noFill/>
          <a:ln w="19050">
            <a:solidFill>
              <a:srgbClr val="9AA0A8"/>
            </a:solidFill>
            <a:prstDash val="solid"/>
            <a:tailEnd type="triangle"/>
          </a:ln>
        </p:spPr>
      </p:sp>
      <p:sp>
        <p:nvSpPr>
          <p:cNvPr id="23" name="Shape 21"/>
          <p:cNvSpPr/>
          <p:nvPr/>
        </p:nvSpPr>
        <p:spPr>
          <a:xfrm>
            <a:off x="1920240" y="2761488"/>
            <a:ext cx="4023360" cy="566928"/>
          </a:xfrm>
          <a:prstGeom prst="rect">
            <a:avLst/>
          </a:prstGeom>
          <a:solidFill>
            <a:srgbClr val="F8ECDF"/>
          </a:solidFill>
          <a:ln w="25400">
            <a:solidFill>
              <a:srgbClr val="C2641A"/>
            </a:solidFill>
            <a:prstDash val="solid"/>
          </a:ln>
        </p:spPr>
      </p:sp>
      <p:sp>
        <p:nvSpPr>
          <p:cNvPr id="24" name="Text 22"/>
          <p:cNvSpPr/>
          <p:nvPr/>
        </p:nvSpPr>
        <p:spPr>
          <a:xfrm>
            <a:off x="1920240" y="2761488"/>
            <a:ext cx="4023360" cy="566928"/>
          </a:xfrm>
          <a:prstGeom prst="rect">
            <a:avLst/>
          </a:prstGeom>
          <a:noFill/>
          <a:ln/>
        </p:spPr>
        <p:txBody>
          <a:bodyPr wrap="square" lIns="381" tIns="381" rIns="381" bIns="381" rtlCol="0" anchor="ctr"/>
          <a:lstStyle/>
          <a:p>
            <a:pPr marL="0" indent="0" algn="ctr">
              <a:buNone/>
            </a:pPr>
            <a:r>
              <a:rPr lang="en-US" sz="950" b="1" dirty="0">
                <a:solidFill>
                  <a:srgbClr val="94470F"/>
                </a:solidFill>
                <a:latin typeface="Calibri" pitchFamily="34" charset="0"/>
                <a:ea typeface="Calibri" pitchFamily="34" charset="-122"/>
                <a:cs typeface="Calibri" pitchFamily="34" charset="-120"/>
              </a:rPr>
              <a:t>kernel page cache  =  mapped region (PTEs point straight at it)</a:t>
            </a:r>
            <a:endParaRPr lang="en-US" sz="950" dirty="0"/>
          </a:p>
        </p:txBody>
      </p:sp>
      <p:sp>
        <p:nvSpPr>
          <p:cNvPr id="25" name="Shape 23"/>
          <p:cNvSpPr/>
          <p:nvPr/>
        </p:nvSpPr>
        <p:spPr>
          <a:xfrm>
            <a:off x="5943600" y="3044952"/>
            <a:ext cx="548640" cy="0"/>
          </a:xfrm>
          <a:prstGeom prst="line">
            <a:avLst/>
          </a:prstGeom>
          <a:noFill/>
          <a:ln w="31750">
            <a:solidFill>
              <a:srgbClr val="B23A2F"/>
            </a:solidFill>
            <a:prstDash val="solid"/>
            <a:tailEnd type="triangle"/>
          </a:ln>
        </p:spPr>
      </p:sp>
      <p:sp>
        <p:nvSpPr>
          <p:cNvPr id="26" name="Text 24"/>
          <p:cNvSpPr/>
          <p:nvPr/>
        </p:nvSpPr>
        <p:spPr>
          <a:xfrm>
            <a:off x="5715000" y="3355848"/>
            <a:ext cx="1051560" cy="182880"/>
          </a:xfrm>
          <a:prstGeom prst="rect">
            <a:avLst/>
          </a:prstGeom>
          <a:noFill/>
          <a:ln/>
        </p:spPr>
        <p:txBody>
          <a:bodyPr wrap="square" lIns="0" tIns="0" rIns="0" bIns="0" rtlCol="0" anchor="ctr"/>
          <a:lstStyle/>
          <a:p>
            <a:pPr marL="0" indent="0" algn="ctr">
              <a:buNone/>
            </a:pPr>
            <a:r>
              <a:rPr lang="en-US" sz="850" b="1" dirty="0">
                <a:solidFill>
                  <a:srgbClr val="B23A2F"/>
                </a:solidFill>
              </a:rPr>
              <a:t>copy 1: write()</a:t>
            </a:r>
            <a:endParaRPr lang="en-US" sz="850" dirty="0"/>
          </a:p>
        </p:txBody>
      </p:sp>
      <p:sp>
        <p:nvSpPr>
          <p:cNvPr id="27" name="Shape 25"/>
          <p:cNvSpPr/>
          <p:nvPr/>
        </p:nvSpPr>
        <p:spPr>
          <a:xfrm>
            <a:off x="6492240" y="2761488"/>
            <a:ext cx="1737360" cy="566928"/>
          </a:xfrm>
          <a:prstGeom prst="rect">
            <a:avLst/>
          </a:prstGeom>
          <a:solidFill>
            <a:srgbClr val="FFFFFF"/>
          </a:solidFill>
          <a:ln w="12700">
            <a:solidFill>
              <a:srgbClr val="DDE1E6"/>
            </a:solidFill>
            <a:prstDash val="solid"/>
          </a:ln>
        </p:spPr>
      </p:sp>
      <p:sp>
        <p:nvSpPr>
          <p:cNvPr id="28" name="Text 26"/>
          <p:cNvSpPr/>
          <p:nvPr/>
        </p:nvSpPr>
        <p:spPr>
          <a:xfrm>
            <a:off x="6492240" y="2761488"/>
            <a:ext cx="1737360" cy="566928"/>
          </a:xfrm>
          <a:prstGeom prst="rect">
            <a:avLst/>
          </a:prstGeom>
          <a:noFill/>
          <a:ln/>
        </p:spPr>
        <p:txBody>
          <a:bodyPr wrap="square" lIns="381" tIns="381" rIns="381" bIns="381" rtlCol="0" anchor="ctr"/>
          <a:lstStyle/>
          <a:p>
            <a:pPr marL="0" indent="0" algn="ctr">
              <a:buNone/>
            </a:pPr>
            <a:r>
              <a:rPr lang="en-US" sz="950" dirty="0">
                <a:solidFill>
                  <a:srgbClr val="1F2937"/>
                </a:solidFill>
                <a:latin typeface="Calibri" pitchFamily="34" charset="0"/>
                <a:ea typeface="Calibri" pitchFamily="34" charset="-122"/>
                <a:cs typeface="Calibri" pitchFamily="34" charset="-120"/>
              </a:rPr>
              <a:t>kernel output buffer</a:t>
            </a:r>
            <a:endParaRPr lang="en-US" sz="950" dirty="0"/>
          </a:p>
        </p:txBody>
      </p:sp>
      <p:sp>
        <p:nvSpPr>
          <p:cNvPr id="29" name="Shape 27"/>
          <p:cNvSpPr/>
          <p:nvPr/>
        </p:nvSpPr>
        <p:spPr>
          <a:xfrm>
            <a:off x="457200" y="3840480"/>
            <a:ext cx="5349240" cy="1005840"/>
          </a:xfrm>
          <a:prstGeom prst="rect">
            <a:avLst/>
          </a:prstGeom>
          <a:solidFill>
            <a:srgbClr val="FFFFFF"/>
          </a:solidFill>
          <a:ln w="12700">
            <a:solidFill>
              <a:srgbClr val="DDE1E6"/>
            </a:solidFill>
            <a:prstDash val="solid"/>
          </a:ln>
        </p:spPr>
      </p:sp>
      <p:sp>
        <p:nvSpPr>
          <p:cNvPr id="30" name="Shape 28"/>
          <p:cNvSpPr/>
          <p:nvPr/>
        </p:nvSpPr>
        <p:spPr>
          <a:xfrm>
            <a:off x="457200" y="3840480"/>
            <a:ext cx="64008" cy="1005840"/>
          </a:xfrm>
          <a:prstGeom prst="rect">
            <a:avLst/>
          </a:prstGeom>
          <a:solidFill>
            <a:srgbClr val="C2641A"/>
          </a:solidFill>
          <a:ln/>
        </p:spPr>
      </p:sp>
      <p:sp>
        <p:nvSpPr>
          <p:cNvPr id="31" name="Text 29"/>
          <p:cNvSpPr/>
          <p:nvPr/>
        </p:nvSpPr>
        <p:spPr>
          <a:xfrm>
            <a:off x="658368" y="3904488"/>
            <a:ext cx="1280160" cy="182880"/>
          </a:xfrm>
          <a:prstGeom prst="rect">
            <a:avLst/>
          </a:prstGeom>
          <a:noFill/>
          <a:ln/>
        </p:spPr>
        <p:txBody>
          <a:bodyPr wrap="square" lIns="0" tIns="0" rIns="0" bIns="0" rtlCol="0" anchor="ctr"/>
          <a:lstStyle/>
          <a:p>
            <a:pPr marL="0" indent="0">
              <a:buNone/>
            </a:pPr>
            <a:r>
              <a:rPr lang="en-US" sz="850" b="1" kern="0" spc="200" dirty="0">
                <a:solidFill>
                  <a:srgbClr val="C2641A"/>
                </a:solidFill>
                <a:latin typeface="Trebuchet MS" pitchFamily="34" charset="0"/>
                <a:ea typeface="Trebuchet MS" pitchFamily="34" charset="-122"/>
                <a:cs typeface="Trebuchet MS" pitchFamily="34" charset="-120"/>
              </a:rPr>
              <a:t>ANSWER</a:t>
            </a:r>
            <a:endParaRPr lang="en-US" sz="850" dirty="0"/>
          </a:p>
        </p:txBody>
      </p:sp>
      <p:sp>
        <p:nvSpPr>
          <p:cNvPr id="32" name="Text 30"/>
          <p:cNvSpPr/>
          <p:nvPr/>
        </p:nvSpPr>
        <p:spPr>
          <a:xfrm>
            <a:off x="658368" y="4087368"/>
            <a:ext cx="4983480" cy="694944"/>
          </a:xfrm>
          <a:prstGeom prst="rect">
            <a:avLst/>
          </a:prstGeom>
          <a:noFill/>
          <a:ln/>
        </p:spPr>
        <p:txBody>
          <a:bodyPr wrap="square" lIns="0" tIns="0" rIns="0" bIns="0" rtlCol="0" anchor="t"/>
          <a:lstStyle/>
          <a:p>
            <a:pPr marL="0" indent="0">
              <a:buNone/>
            </a:pPr>
            <a:r>
              <a:rPr lang="en-US" sz="1200" b="1" dirty="0">
                <a:solidFill>
                  <a:srgbClr val="1F2937"/>
                </a:solidFill>
                <a:latin typeface="Calibri" pitchFamily="34" charset="0"/>
                <a:ea typeface="Calibri" pitchFamily="34" charset="-122"/>
                <a:cs typeface="Calibri" pitchFamily="34" charset="-120"/>
              </a:rPr>
              <a:t>mmap copies faster: 1 copy vs 2. </a:t>
            </a:r>
            <a:r>
              <a:rPr lang="en-US" sz="1200" dirty="0">
                <a:solidFill>
                  <a:srgbClr val="1F2937"/>
                </a:solidFill>
                <a:latin typeface="Calibri" pitchFamily="34" charset="0"/>
                <a:ea typeface="Calibri" pitchFamily="34" charset="-122"/>
                <a:cs typeface="Calibri" pitchFamily="34" charset="-120"/>
              </a:rPr>
              <a:t>mmap copies no data — it installs PTEs aimed at the page-cache frames, so the read()-to-user-buffer copy disappears.</a:t>
            </a:r>
            <a:endParaRPr lang="en-US" sz="1200" dirty="0"/>
          </a:p>
        </p:txBody>
      </p:sp>
      <p:sp>
        <p:nvSpPr>
          <p:cNvPr id="33" name="Shape 31"/>
          <p:cNvSpPr/>
          <p:nvPr/>
        </p:nvSpPr>
        <p:spPr>
          <a:xfrm>
            <a:off x="5989320" y="3840480"/>
            <a:ext cx="2743200" cy="1005840"/>
          </a:xfrm>
          <a:prstGeom prst="rect">
            <a:avLst/>
          </a:prstGeom>
          <a:solidFill>
            <a:srgbClr val="FDF3EF"/>
          </a:solidFill>
          <a:ln w="12700">
            <a:solidFill>
              <a:srgbClr val="DDE1E6"/>
            </a:solidFill>
            <a:prstDash val="solid"/>
          </a:ln>
        </p:spPr>
      </p:sp>
      <p:sp>
        <p:nvSpPr>
          <p:cNvPr id="34" name="Shape 32"/>
          <p:cNvSpPr/>
          <p:nvPr/>
        </p:nvSpPr>
        <p:spPr>
          <a:xfrm>
            <a:off x="5989320" y="3840480"/>
            <a:ext cx="64008" cy="1005840"/>
          </a:xfrm>
          <a:prstGeom prst="rect">
            <a:avLst/>
          </a:prstGeom>
          <a:solidFill>
            <a:srgbClr val="B23A2F"/>
          </a:solidFill>
          <a:ln/>
        </p:spPr>
      </p:sp>
      <p:sp>
        <p:nvSpPr>
          <p:cNvPr id="35" name="Text 33"/>
          <p:cNvSpPr/>
          <p:nvPr/>
        </p:nvSpPr>
        <p:spPr>
          <a:xfrm>
            <a:off x="6190488" y="390448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36" name="Text 34"/>
          <p:cNvSpPr/>
          <p:nvPr/>
        </p:nvSpPr>
        <p:spPr>
          <a:xfrm>
            <a:off x="6190488" y="4087368"/>
            <a:ext cx="2377440" cy="69494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“mmap wins by avoiding syscalls.”  No — write() is still a syscall. The win is the eliminated copy.</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27</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3.4 (B)</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Read a 4 KB header from a 1 GB file</a:t>
            </a:r>
            <a:endParaRPr lang="en-US" sz="2300" dirty="0"/>
          </a:p>
        </p:txBody>
      </p:sp>
      <p:sp>
        <p:nvSpPr>
          <p:cNvPr id="5" name="Text 3"/>
          <p:cNvSpPr/>
          <p:nvPr/>
        </p:nvSpPr>
        <p:spPr>
          <a:xfrm>
            <a:off x="457200" y="1143000"/>
            <a:ext cx="3657600" cy="201168"/>
          </a:xfrm>
          <a:prstGeom prst="rect">
            <a:avLst/>
          </a:prstGeom>
          <a:noFill/>
          <a:ln/>
        </p:spPr>
        <p:txBody>
          <a:bodyPr wrap="square" lIns="0" tIns="0" rIns="0" bIns="0" rtlCol="0" anchor="ctr"/>
          <a:lstStyle/>
          <a:p>
            <a:pPr marL="0" indent="0">
              <a:buNone/>
            </a:pPr>
            <a:r>
              <a:rPr lang="en-US" sz="1050" i="1" dirty="0">
                <a:solidFill>
                  <a:srgbClr val="6B7280"/>
                </a:solidFill>
              </a:rPr>
              <a:t>the 1 GB file as pages:</a:t>
            </a:r>
            <a:endParaRPr lang="en-US" sz="1050" dirty="0"/>
          </a:p>
        </p:txBody>
      </p:sp>
      <p:sp>
        <p:nvSpPr>
          <p:cNvPr id="6" name="Shape 4"/>
          <p:cNvSpPr/>
          <p:nvPr/>
        </p:nvSpPr>
        <p:spPr>
          <a:xfrm>
            <a:off x="457200" y="1417320"/>
            <a:ext cx="329184" cy="457200"/>
          </a:xfrm>
          <a:prstGeom prst="rect">
            <a:avLst/>
          </a:prstGeom>
          <a:solidFill>
            <a:srgbClr val="C2641A"/>
          </a:solidFill>
          <a:ln w="12700">
            <a:solidFill>
              <a:srgbClr val="94470F"/>
            </a:solidFill>
            <a:prstDash val="solid"/>
          </a:ln>
        </p:spPr>
      </p:sp>
      <p:sp>
        <p:nvSpPr>
          <p:cNvPr id="7" name="Shape 5"/>
          <p:cNvSpPr/>
          <p:nvPr/>
        </p:nvSpPr>
        <p:spPr>
          <a:xfrm>
            <a:off x="832104" y="1417320"/>
            <a:ext cx="329184" cy="457200"/>
          </a:xfrm>
          <a:prstGeom prst="rect">
            <a:avLst/>
          </a:prstGeom>
          <a:solidFill>
            <a:srgbClr val="EDEAE4"/>
          </a:solidFill>
          <a:ln w="12700">
            <a:solidFill>
              <a:srgbClr val="D5CFC4"/>
            </a:solidFill>
            <a:prstDash val="solid"/>
          </a:ln>
        </p:spPr>
      </p:sp>
      <p:sp>
        <p:nvSpPr>
          <p:cNvPr id="8" name="Shape 6"/>
          <p:cNvSpPr/>
          <p:nvPr/>
        </p:nvSpPr>
        <p:spPr>
          <a:xfrm>
            <a:off x="1207008" y="1417320"/>
            <a:ext cx="329184" cy="457200"/>
          </a:xfrm>
          <a:prstGeom prst="rect">
            <a:avLst/>
          </a:prstGeom>
          <a:solidFill>
            <a:srgbClr val="EDEAE4"/>
          </a:solidFill>
          <a:ln w="12700">
            <a:solidFill>
              <a:srgbClr val="D5CFC4"/>
            </a:solidFill>
            <a:prstDash val="solid"/>
          </a:ln>
        </p:spPr>
      </p:sp>
      <p:sp>
        <p:nvSpPr>
          <p:cNvPr id="9" name="Shape 7"/>
          <p:cNvSpPr/>
          <p:nvPr/>
        </p:nvSpPr>
        <p:spPr>
          <a:xfrm>
            <a:off x="1581912" y="1417320"/>
            <a:ext cx="329184" cy="457200"/>
          </a:xfrm>
          <a:prstGeom prst="rect">
            <a:avLst/>
          </a:prstGeom>
          <a:solidFill>
            <a:srgbClr val="EDEAE4"/>
          </a:solidFill>
          <a:ln w="12700">
            <a:solidFill>
              <a:srgbClr val="D5CFC4"/>
            </a:solidFill>
            <a:prstDash val="solid"/>
          </a:ln>
        </p:spPr>
      </p:sp>
      <p:sp>
        <p:nvSpPr>
          <p:cNvPr id="10" name="Shape 8"/>
          <p:cNvSpPr/>
          <p:nvPr/>
        </p:nvSpPr>
        <p:spPr>
          <a:xfrm>
            <a:off x="1956816" y="1417320"/>
            <a:ext cx="329184" cy="457200"/>
          </a:xfrm>
          <a:prstGeom prst="rect">
            <a:avLst/>
          </a:prstGeom>
          <a:solidFill>
            <a:srgbClr val="EDEAE4"/>
          </a:solidFill>
          <a:ln w="12700">
            <a:solidFill>
              <a:srgbClr val="D5CFC4"/>
            </a:solidFill>
            <a:prstDash val="solid"/>
          </a:ln>
        </p:spPr>
      </p:sp>
      <p:sp>
        <p:nvSpPr>
          <p:cNvPr id="11" name="Shape 9"/>
          <p:cNvSpPr/>
          <p:nvPr/>
        </p:nvSpPr>
        <p:spPr>
          <a:xfrm>
            <a:off x="2331720" y="1417320"/>
            <a:ext cx="329184" cy="457200"/>
          </a:xfrm>
          <a:prstGeom prst="rect">
            <a:avLst/>
          </a:prstGeom>
          <a:solidFill>
            <a:srgbClr val="EDEAE4"/>
          </a:solidFill>
          <a:ln w="12700">
            <a:solidFill>
              <a:srgbClr val="D5CFC4"/>
            </a:solidFill>
            <a:prstDash val="solid"/>
          </a:ln>
        </p:spPr>
      </p:sp>
      <p:sp>
        <p:nvSpPr>
          <p:cNvPr id="12" name="Shape 10"/>
          <p:cNvSpPr/>
          <p:nvPr/>
        </p:nvSpPr>
        <p:spPr>
          <a:xfrm>
            <a:off x="2706624" y="1417320"/>
            <a:ext cx="329184" cy="457200"/>
          </a:xfrm>
          <a:prstGeom prst="rect">
            <a:avLst/>
          </a:prstGeom>
          <a:solidFill>
            <a:srgbClr val="EDEAE4"/>
          </a:solidFill>
          <a:ln w="12700">
            <a:solidFill>
              <a:srgbClr val="D5CFC4"/>
            </a:solidFill>
            <a:prstDash val="solid"/>
          </a:ln>
        </p:spPr>
      </p:sp>
      <p:sp>
        <p:nvSpPr>
          <p:cNvPr id="13" name="Shape 11"/>
          <p:cNvSpPr/>
          <p:nvPr/>
        </p:nvSpPr>
        <p:spPr>
          <a:xfrm>
            <a:off x="3081528" y="1417320"/>
            <a:ext cx="329184" cy="457200"/>
          </a:xfrm>
          <a:prstGeom prst="rect">
            <a:avLst/>
          </a:prstGeom>
          <a:solidFill>
            <a:srgbClr val="EDEAE4"/>
          </a:solidFill>
          <a:ln w="12700">
            <a:solidFill>
              <a:srgbClr val="D5CFC4"/>
            </a:solidFill>
            <a:prstDash val="solid"/>
          </a:ln>
        </p:spPr>
      </p:sp>
      <p:sp>
        <p:nvSpPr>
          <p:cNvPr id="14" name="Shape 12"/>
          <p:cNvSpPr/>
          <p:nvPr/>
        </p:nvSpPr>
        <p:spPr>
          <a:xfrm>
            <a:off x="3456432" y="1417320"/>
            <a:ext cx="329184" cy="457200"/>
          </a:xfrm>
          <a:prstGeom prst="rect">
            <a:avLst/>
          </a:prstGeom>
          <a:solidFill>
            <a:srgbClr val="EDEAE4"/>
          </a:solidFill>
          <a:ln w="12700">
            <a:solidFill>
              <a:srgbClr val="D5CFC4"/>
            </a:solidFill>
            <a:prstDash val="solid"/>
          </a:ln>
        </p:spPr>
      </p:sp>
      <p:sp>
        <p:nvSpPr>
          <p:cNvPr id="15" name="Shape 13"/>
          <p:cNvSpPr/>
          <p:nvPr/>
        </p:nvSpPr>
        <p:spPr>
          <a:xfrm>
            <a:off x="3831336" y="1417320"/>
            <a:ext cx="329184" cy="457200"/>
          </a:xfrm>
          <a:prstGeom prst="rect">
            <a:avLst/>
          </a:prstGeom>
          <a:solidFill>
            <a:srgbClr val="EDEAE4"/>
          </a:solidFill>
          <a:ln w="12700">
            <a:solidFill>
              <a:srgbClr val="D5CFC4"/>
            </a:solidFill>
            <a:prstDash val="solid"/>
          </a:ln>
        </p:spPr>
      </p:sp>
      <p:sp>
        <p:nvSpPr>
          <p:cNvPr id="16" name="Shape 14"/>
          <p:cNvSpPr/>
          <p:nvPr/>
        </p:nvSpPr>
        <p:spPr>
          <a:xfrm>
            <a:off x="4206240" y="1417320"/>
            <a:ext cx="329184" cy="457200"/>
          </a:xfrm>
          <a:prstGeom prst="rect">
            <a:avLst/>
          </a:prstGeom>
          <a:solidFill>
            <a:srgbClr val="EDEAE4"/>
          </a:solidFill>
          <a:ln w="12700">
            <a:solidFill>
              <a:srgbClr val="D5CFC4"/>
            </a:solidFill>
            <a:prstDash val="solid"/>
          </a:ln>
        </p:spPr>
      </p:sp>
      <p:sp>
        <p:nvSpPr>
          <p:cNvPr id="17" name="Shape 15"/>
          <p:cNvSpPr/>
          <p:nvPr/>
        </p:nvSpPr>
        <p:spPr>
          <a:xfrm>
            <a:off x="4581144" y="1417320"/>
            <a:ext cx="329184" cy="457200"/>
          </a:xfrm>
          <a:prstGeom prst="rect">
            <a:avLst/>
          </a:prstGeom>
          <a:solidFill>
            <a:srgbClr val="EDEAE4"/>
          </a:solidFill>
          <a:ln w="12700">
            <a:solidFill>
              <a:srgbClr val="D5CFC4"/>
            </a:solidFill>
            <a:prstDash val="solid"/>
          </a:ln>
        </p:spPr>
      </p:sp>
      <p:sp>
        <p:nvSpPr>
          <p:cNvPr id="18" name="Shape 16"/>
          <p:cNvSpPr/>
          <p:nvPr/>
        </p:nvSpPr>
        <p:spPr>
          <a:xfrm>
            <a:off x="4956048" y="1417320"/>
            <a:ext cx="329184" cy="457200"/>
          </a:xfrm>
          <a:prstGeom prst="rect">
            <a:avLst/>
          </a:prstGeom>
          <a:solidFill>
            <a:srgbClr val="EDEAE4"/>
          </a:solidFill>
          <a:ln w="12700">
            <a:solidFill>
              <a:srgbClr val="D5CFC4"/>
            </a:solidFill>
            <a:prstDash val="solid"/>
          </a:ln>
        </p:spPr>
      </p:sp>
      <p:sp>
        <p:nvSpPr>
          <p:cNvPr id="19" name="Shape 17"/>
          <p:cNvSpPr/>
          <p:nvPr/>
        </p:nvSpPr>
        <p:spPr>
          <a:xfrm>
            <a:off x="5330952" y="1417320"/>
            <a:ext cx="329184" cy="457200"/>
          </a:xfrm>
          <a:prstGeom prst="rect">
            <a:avLst/>
          </a:prstGeom>
          <a:solidFill>
            <a:srgbClr val="EDEAE4"/>
          </a:solidFill>
          <a:ln w="12700">
            <a:solidFill>
              <a:srgbClr val="D5CFC4"/>
            </a:solidFill>
            <a:prstDash val="solid"/>
          </a:ln>
        </p:spPr>
      </p:sp>
      <p:sp>
        <p:nvSpPr>
          <p:cNvPr id="20" name="Shape 18"/>
          <p:cNvSpPr/>
          <p:nvPr/>
        </p:nvSpPr>
        <p:spPr>
          <a:xfrm>
            <a:off x="5705856" y="1417320"/>
            <a:ext cx="329184" cy="457200"/>
          </a:xfrm>
          <a:prstGeom prst="rect">
            <a:avLst/>
          </a:prstGeom>
          <a:solidFill>
            <a:srgbClr val="EDEAE4"/>
          </a:solidFill>
          <a:ln w="12700">
            <a:solidFill>
              <a:srgbClr val="D5CFC4"/>
            </a:solidFill>
            <a:prstDash val="solid"/>
          </a:ln>
        </p:spPr>
      </p:sp>
      <p:sp>
        <p:nvSpPr>
          <p:cNvPr id="21" name="Shape 19"/>
          <p:cNvSpPr/>
          <p:nvPr/>
        </p:nvSpPr>
        <p:spPr>
          <a:xfrm>
            <a:off x="6080760" y="1417320"/>
            <a:ext cx="329184" cy="457200"/>
          </a:xfrm>
          <a:prstGeom prst="rect">
            <a:avLst/>
          </a:prstGeom>
          <a:solidFill>
            <a:srgbClr val="EDEAE4"/>
          </a:solidFill>
          <a:ln w="12700">
            <a:solidFill>
              <a:srgbClr val="D5CFC4"/>
            </a:solidFill>
            <a:prstDash val="solid"/>
          </a:ln>
        </p:spPr>
      </p:sp>
      <p:sp>
        <p:nvSpPr>
          <p:cNvPr id="22" name="Shape 20"/>
          <p:cNvSpPr/>
          <p:nvPr/>
        </p:nvSpPr>
        <p:spPr>
          <a:xfrm>
            <a:off x="6455664" y="1417320"/>
            <a:ext cx="329184" cy="457200"/>
          </a:xfrm>
          <a:prstGeom prst="rect">
            <a:avLst/>
          </a:prstGeom>
          <a:solidFill>
            <a:srgbClr val="EDEAE4"/>
          </a:solidFill>
          <a:ln w="12700">
            <a:solidFill>
              <a:srgbClr val="D5CFC4"/>
            </a:solidFill>
            <a:prstDash val="solid"/>
          </a:ln>
        </p:spPr>
      </p:sp>
      <p:sp>
        <p:nvSpPr>
          <p:cNvPr id="23" name="Shape 21"/>
          <p:cNvSpPr/>
          <p:nvPr/>
        </p:nvSpPr>
        <p:spPr>
          <a:xfrm>
            <a:off x="6830568" y="1417320"/>
            <a:ext cx="329184" cy="457200"/>
          </a:xfrm>
          <a:prstGeom prst="rect">
            <a:avLst/>
          </a:prstGeom>
          <a:solidFill>
            <a:srgbClr val="EDEAE4"/>
          </a:solidFill>
          <a:ln w="12700">
            <a:solidFill>
              <a:srgbClr val="D5CFC4"/>
            </a:solidFill>
            <a:prstDash val="solid"/>
          </a:ln>
        </p:spPr>
      </p:sp>
      <p:sp>
        <p:nvSpPr>
          <p:cNvPr id="24" name="Shape 22"/>
          <p:cNvSpPr/>
          <p:nvPr/>
        </p:nvSpPr>
        <p:spPr>
          <a:xfrm>
            <a:off x="7205472" y="1417320"/>
            <a:ext cx="329184" cy="457200"/>
          </a:xfrm>
          <a:prstGeom prst="rect">
            <a:avLst/>
          </a:prstGeom>
          <a:solidFill>
            <a:srgbClr val="EDEAE4"/>
          </a:solidFill>
          <a:ln w="12700">
            <a:solidFill>
              <a:srgbClr val="D5CFC4"/>
            </a:solidFill>
            <a:prstDash val="solid"/>
          </a:ln>
        </p:spPr>
      </p:sp>
      <p:sp>
        <p:nvSpPr>
          <p:cNvPr id="25" name="Shape 23"/>
          <p:cNvSpPr/>
          <p:nvPr/>
        </p:nvSpPr>
        <p:spPr>
          <a:xfrm>
            <a:off x="7580376" y="1417320"/>
            <a:ext cx="329184" cy="457200"/>
          </a:xfrm>
          <a:prstGeom prst="rect">
            <a:avLst/>
          </a:prstGeom>
          <a:solidFill>
            <a:srgbClr val="EDEAE4"/>
          </a:solidFill>
          <a:ln w="12700">
            <a:solidFill>
              <a:srgbClr val="D5CFC4"/>
            </a:solidFill>
            <a:prstDash val="solid"/>
          </a:ln>
        </p:spPr>
      </p:sp>
      <p:sp>
        <p:nvSpPr>
          <p:cNvPr id="26" name="Shape 24"/>
          <p:cNvSpPr/>
          <p:nvPr/>
        </p:nvSpPr>
        <p:spPr>
          <a:xfrm>
            <a:off x="7955280" y="1417320"/>
            <a:ext cx="329184" cy="457200"/>
          </a:xfrm>
          <a:prstGeom prst="rect">
            <a:avLst/>
          </a:prstGeom>
          <a:solidFill>
            <a:srgbClr val="EDEAE4"/>
          </a:solidFill>
          <a:ln w="12700">
            <a:solidFill>
              <a:srgbClr val="D5CFC4"/>
            </a:solidFill>
            <a:prstDash val="solid"/>
          </a:ln>
        </p:spPr>
      </p:sp>
      <p:sp>
        <p:nvSpPr>
          <p:cNvPr id="27" name="Shape 25"/>
          <p:cNvSpPr/>
          <p:nvPr/>
        </p:nvSpPr>
        <p:spPr>
          <a:xfrm>
            <a:off x="8330184" y="1417320"/>
            <a:ext cx="329184" cy="457200"/>
          </a:xfrm>
          <a:prstGeom prst="rect">
            <a:avLst/>
          </a:prstGeom>
          <a:solidFill>
            <a:srgbClr val="EDEAE4"/>
          </a:solidFill>
          <a:ln w="12700">
            <a:solidFill>
              <a:srgbClr val="D5CFC4"/>
            </a:solidFill>
            <a:prstDash val="solid"/>
          </a:ln>
        </p:spPr>
      </p:sp>
      <p:sp>
        <p:nvSpPr>
          <p:cNvPr id="28" name="Text 26"/>
          <p:cNvSpPr/>
          <p:nvPr/>
        </p:nvSpPr>
        <p:spPr>
          <a:xfrm>
            <a:off x="8732520" y="1417320"/>
            <a:ext cx="365760" cy="457200"/>
          </a:xfrm>
          <a:prstGeom prst="rect">
            <a:avLst/>
          </a:prstGeom>
          <a:noFill/>
          <a:ln/>
        </p:spPr>
        <p:txBody>
          <a:bodyPr wrap="square" lIns="0" tIns="0" rIns="0" bIns="0" rtlCol="0" anchor="ctr"/>
          <a:lstStyle/>
          <a:p>
            <a:pPr marL="0" indent="0">
              <a:buNone/>
            </a:pPr>
            <a:r>
              <a:rPr lang="en-US" sz="1200" dirty="0">
                <a:solidFill>
                  <a:srgbClr val="6B7280"/>
                </a:solidFill>
              </a:rPr>
              <a:t>...</a:t>
            </a:r>
            <a:endParaRPr lang="en-US" sz="1200" dirty="0"/>
          </a:p>
        </p:txBody>
      </p:sp>
      <p:sp>
        <p:nvSpPr>
          <p:cNvPr id="29" name="Text 27"/>
          <p:cNvSpPr/>
          <p:nvPr/>
        </p:nvSpPr>
        <p:spPr>
          <a:xfrm>
            <a:off x="457200" y="1938528"/>
            <a:ext cx="4114800" cy="201168"/>
          </a:xfrm>
          <a:prstGeom prst="rect">
            <a:avLst/>
          </a:prstGeom>
          <a:noFill/>
          <a:ln/>
        </p:spPr>
        <p:txBody>
          <a:bodyPr wrap="square" lIns="0" tIns="0" rIns="0" bIns="0" rtlCol="0" anchor="ctr"/>
          <a:lstStyle/>
          <a:p>
            <a:pPr marL="0" indent="0">
              <a:buNone/>
            </a:pPr>
            <a:r>
              <a:rPr lang="en-US" sz="950" b="1" dirty="0">
                <a:solidFill>
                  <a:srgbClr val="94470F"/>
                </a:solidFill>
              </a:rPr>
              <a:t>touched → 1 page fault → 4 KB read from disk</a:t>
            </a:r>
            <a:endParaRPr lang="en-US" sz="950" dirty="0"/>
          </a:p>
        </p:txBody>
      </p:sp>
      <p:sp>
        <p:nvSpPr>
          <p:cNvPr id="30" name="Text 28"/>
          <p:cNvSpPr/>
          <p:nvPr/>
        </p:nvSpPr>
        <p:spPr>
          <a:xfrm>
            <a:off x="4572000" y="1938528"/>
            <a:ext cx="4160520" cy="201168"/>
          </a:xfrm>
          <a:prstGeom prst="rect">
            <a:avLst/>
          </a:prstGeom>
          <a:noFill/>
          <a:ln/>
        </p:spPr>
        <p:txBody>
          <a:bodyPr wrap="square" lIns="0" tIns="0" rIns="0" bIns="0" rtlCol="0" anchor="ctr"/>
          <a:lstStyle/>
          <a:p>
            <a:pPr marL="0" indent="0" algn="r">
              <a:buNone/>
            </a:pPr>
            <a:r>
              <a:rPr lang="en-US" sz="950" dirty="0">
                <a:solidFill>
                  <a:srgbClr val="6B7280"/>
                </a:solidFill>
              </a:rPr>
              <a:t>never touched → never loaded (99.99% of the file)</a:t>
            </a:r>
            <a:endParaRPr lang="en-US" sz="950" dirty="0"/>
          </a:p>
        </p:txBody>
      </p:sp>
      <p:sp>
        <p:nvSpPr>
          <p:cNvPr id="31" name="Shape 29"/>
          <p:cNvSpPr/>
          <p:nvPr/>
        </p:nvSpPr>
        <p:spPr>
          <a:xfrm>
            <a:off x="457200" y="2377440"/>
            <a:ext cx="4023360" cy="1691640"/>
          </a:xfrm>
          <a:prstGeom prst="rect">
            <a:avLst/>
          </a:prstGeom>
          <a:solidFill>
            <a:srgbClr val="FDF3EF"/>
          </a:solidFill>
          <a:ln w="12700">
            <a:solidFill>
              <a:srgbClr val="DDE1E6"/>
            </a:solidFill>
            <a:prstDash val="solid"/>
          </a:ln>
        </p:spPr>
      </p:sp>
      <p:sp>
        <p:nvSpPr>
          <p:cNvPr id="32" name="Shape 30"/>
          <p:cNvSpPr/>
          <p:nvPr/>
        </p:nvSpPr>
        <p:spPr>
          <a:xfrm>
            <a:off x="457200" y="2377440"/>
            <a:ext cx="64008" cy="1691640"/>
          </a:xfrm>
          <a:prstGeom prst="rect">
            <a:avLst/>
          </a:prstGeom>
          <a:solidFill>
            <a:srgbClr val="B23A2F"/>
          </a:solidFill>
          <a:ln/>
        </p:spPr>
      </p:sp>
      <p:sp>
        <p:nvSpPr>
          <p:cNvPr id="33" name="Text 31"/>
          <p:cNvSpPr/>
          <p:nvPr/>
        </p:nvSpPr>
        <p:spPr>
          <a:xfrm>
            <a:off x="685800" y="2542032"/>
            <a:ext cx="3566160" cy="228600"/>
          </a:xfrm>
          <a:prstGeom prst="rect">
            <a:avLst/>
          </a:prstGeom>
          <a:noFill/>
          <a:ln/>
        </p:spPr>
        <p:txBody>
          <a:bodyPr wrap="square" lIns="0" tIns="0" rIns="0" bIns="0" rtlCol="0" anchor="ctr"/>
          <a:lstStyle/>
          <a:p>
            <a:pPr marL="0" indent="0">
              <a:buNone/>
            </a:pPr>
            <a:r>
              <a:rPr lang="en-US" sz="1100" b="1" dirty="0">
                <a:solidFill>
                  <a:srgbClr val="B23A2F"/>
                </a:solidFill>
                <a:latin typeface="Trebuchet MS" pitchFamily="34" charset="0"/>
                <a:ea typeface="Trebuchet MS" pitchFamily="34" charset="-122"/>
                <a:cs typeface="Trebuchet MS" pitchFamily="34" charset="-120"/>
              </a:rPr>
              <a:t>read(fd, buf, 1 GB)</a:t>
            </a:r>
            <a:endParaRPr lang="en-US" sz="1100" dirty="0"/>
          </a:p>
        </p:txBody>
      </p:sp>
      <p:sp>
        <p:nvSpPr>
          <p:cNvPr id="34" name="Text 32"/>
          <p:cNvSpPr/>
          <p:nvPr/>
        </p:nvSpPr>
        <p:spPr>
          <a:xfrm>
            <a:off x="685800" y="2834640"/>
            <a:ext cx="3611880" cy="1143000"/>
          </a:xfrm>
          <a:prstGeom prst="rect">
            <a:avLst/>
          </a:prstGeom>
          <a:noFill/>
          <a:ln/>
        </p:spPr>
        <p:txBody>
          <a:bodyPr wrap="square" lIns="0" tIns="0" rIns="0" bIns="0" rtlCol="0" anchor="t"/>
          <a:lstStyle/>
          <a:p>
            <a:pPr marL="0" indent="0">
              <a:spcAft>
                <a:spcPts val="400"/>
              </a:spcAft>
              <a:buNone/>
            </a:pPr>
            <a:r>
              <a:rPr lang="en-US" sz="1100" dirty="0">
                <a:solidFill>
                  <a:srgbClr val="1F2937"/>
                </a:solidFill>
                <a:latin typeface="Calibri" pitchFamily="34" charset="0"/>
                <a:ea typeface="Calibri" pitchFamily="34" charset="-122"/>
                <a:cs typeface="Calibri" pitchFamily="34" charset="-120"/>
              </a:rPr>
              <a:t>Kernel must fault in and copy the ENTIRE 1 GB into the user buffer before you can look at byte 0.</a:t>
            </a:r>
            <a:endParaRPr lang="en-US" sz="1100" dirty="0"/>
          </a:p>
          <a:p>
            <a:pPr marL="0" indent="0">
              <a:buNone/>
            </a:pPr>
            <a:r>
              <a:rPr lang="en-US" sz="1100" b="1" dirty="0">
                <a:solidFill>
                  <a:srgbClr val="1F2937"/>
                </a:solidFill>
                <a:latin typeface="Calibri" pitchFamily="34" charset="0"/>
                <a:ea typeface="Calibri" pitchFamily="34" charset="-122"/>
                <a:cs typeface="Calibri" pitchFamily="34" charset="-120"/>
              </a:rPr>
              <a:t>Costs: 1 GB of user memory + 1 GB of disk I/O.</a:t>
            </a:r>
            <a:endParaRPr lang="en-US" sz="1100" dirty="0"/>
          </a:p>
        </p:txBody>
      </p:sp>
      <p:sp>
        <p:nvSpPr>
          <p:cNvPr id="35" name="Shape 33"/>
          <p:cNvSpPr/>
          <p:nvPr/>
        </p:nvSpPr>
        <p:spPr>
          <a:xfrm>
            <a:off x="4709160" y="2377440"/>
            <a:ext cx="4023360" cy="1691640"/>
          </a:xfrm>
          <a:prstGeom prst="rect">
            <a:avLst/>
          </a:prstGeom>
          <a:solidFill>
            <a:srgbClr val="EDF5EC"/>
          </a:solidFill>
          <a:ln w="12700">
            <a:solidFill>
              <a:srgbClr val="DDE1E6"/>
            </a:solidFill>
            <a:prstDash val="solid"/>
          </a:ln>
        </p:spPr>
      </p:sp>
      <p:sp>
        <p:nvSpPr>
          <p:cNvPr id="36" name="Shape 34"/>
          <p:cNvSpPr/>
          <p:nvPr/>
        </p:nvSpPr>
        <p:spPr>
          <a:xfrm>
            <a:off x="4709160" y="2377440"/>
            <a:ext cx="64008" cy="1691640"/>
          </a:xfrm>
          <a:prstGeom prst="rect">
            <a:avLst/>
          </a:prstGeom>
          <a:solidFill>
            <a:srgbClr val="2F6B28"/>
          </a:solidFill>
          <a:ln/>
        </p:spPr>
      </p:sp>
      <p:sp>
        <p:nvSpPr>
          <p:cNvPr id="37" name="Text 35"/>
          <p:cNvSpPr/>
          <p:nvPr/>
        </p:nvSpPr>
        <p:spPr>
          <a:xfrm>
            <a:off x="4937760" y="2542032"/>
            <a:ext cx="3566160" cy="228600"/>
          </a:xfrm>
          <a:prstGeom prst="rect">
            <a:avLst/>
          </a:prstGeom>
          <a:noFill/>
          <a:ln/>
        </p:spPr>
        <p:txBody>
          <a:bodyPr wrap="square" lIns="0" tIns="0" rIns="0" bIns="0" rtlCol="0" anchor="ctr"/>
          <a:lstStyle/>
          <a:p>
            <a:pPr marL="0" indent="0">
              <a:buNone/>
            </a:pPr>
            <a:r>
              <a:rPr lang="en-US" sz="1100" b="1" dirty="0">
                <a:solidFill>
                  <a:srgbClr val="2F6B28"/>
                </a:solidFill>
                <a:latin typeface="Trebuchet MS" pitchFamily="34" charset="0"/>
                <a:ea typeface="Trebuchet MS" pitchFamily="34" charset="-122"/>
                <a:cs typeface="Trebuchet MS" pitchFamily="34" charset="-120"/>
              </a:rPr>
              <a:t>mmap + touch the header</a:t>
            </a:r>
            <a:endParaRPr lang="en-US" sz="1100" dirty="0"/>
          </a:p>
        </p:txBody>
      </p:sp>
      <p:sp>
        <p:nvSpPr>
          <p:cNvPr id="38" name="Text 36"/>
          <p:cNvSpPr/>
          <p:nvPr/>
        </p:nvSpPr>
        <p:spPr>
          <a:xfrm>
            <a:off x="4937760" y="2834640"/>
            <a:ext cx="3611880" cy="1143000"/>
          </a:xfrm>
          <a:prstGeom prst="rect">
            <a:avLst/>
          </a:prstGeom>
          <a:noFill/>
          <a:ln/>
        </p:spPr>
        <p:txBody>
          <a:bodyPr wrap="square" lIns="0" tIns="0" rIns="0" bIns="0" rtlCol="0" anchor="t"/>
          <a:lstStyle/>
          <a:p>
            <a:pPr marL="0" indent="0">
              <a:spcAft>
                <a:spcPts val="400"/>
              </a:spcAft>
              <a:buNone/>
            </a:pPr>
            <a:r>
              <a:rPr lang="en-US" sz="1100" dirty="0">
                <a:solidFill>
                  <a:srgbClr val="1F2937"/>
                </a:solidFill>
                <a:latin typeface="Calibri" pitchFamily="34" charset="0"/>
                <a:ea typeface="Calibri" pitchFamily="34" charset="-122"/>
                <a:cs typeface="Calibri" pitchFamily="34" charset="-120"/>
              </a:rPr>
              <a:t>Demand paging: only pages you touch are faulted in. Reading the header faults exactly one 4 KB page.</a:t>
            </a:r>
            <a:endParaRPr lang="en-US" sz="1100" dirty="0"/>
          </a:p>
          <a:p>
            <a:pPr marL="0" indent="0">
              <a:buNone/>
            </a:pPr>
            <a:r>
              <a:rPr lang="en-US" sz="1100" b="1" dirty="0">
                <a:solidFill>
                  <a:srgbClr val="1F2937"/>
                </a:solidFill>
                <a:latin typeface="Calibri" pitchFamily="34" charset="0"/>
                <a:ea typeface="Calibri" pitchFamily="34" charset="-122"/>
                <a:cs typeface="Calibri" pitchFamily="34" charset="-120"/>
              </a:rPr>
              <a:t>Costs: 4 KB of memory + 4 KB of I/O.</a:t>
            </a:r>
            <a:endParaRPr lang="en-US" sz="1100" dirty="0"/>
          </a:p>
        </p:txBody>
      </p:sp>
      <p:sp>
        <p:nvSpPr>
          <p:cNvPr id="39" name="Shape 37"/>
          <p:cNvSpPr/>
          <p:nvPr/>
        </p:nvSpPr>
        <p:spPr>
          <a:xfrm>
            <a:off x="457200" y="4297680"/>
            <a:ext cx="8275320" cy="594360"/>
          </a:xfrm>
          <a:prstGeom prst="rect">
            <a:avLst/>
          </a:prstGeom>
          <a:solidFill>
            <a:srgbClr val="FDF3EF"/>
          </a:solidFill>
          <a:ln w="12700">
            <a:solidFill>
              <a:srgbClr val="DDE1E6"/>
            </a:solidFill>
            <a:prstDash val="solid"/>
          </a:ln>
        </p:spPr>
      </p:sp>
      <p:sp>
        <p:nvSpPr>
          <p:cNvPr id="40" name="Shape 38"/>
          <p:cNvSpPr/>
          <p:nvPr/>
        </p:nvSpPr>
        <p:spPr>
          <a:xfrm>
            <a:off x="457200" y="4297680"/>
            <a:ext cx="64008" cy="594360"/>
          </a:xfrm>
          <a:prstGeom prst="rect">
            <a:avLst/>
          </a:prstGeom>
          <a:solidFill>
            <a:srgbClr val="B23A2F"/>
          </a:solidFill>
          <a:ln/>
        </p:spPr>
      </p:sp>
      <p:sp>
        <p:nvSpPr>
          <p:cNvPr id="41" name="Text 39"/>
          <p:cNvSpPr/>
          <p:nvPr/>
        </p:nvSpPr>
        <p:spPr>
          <a:xfrm>
            <a:off x="658368" y="4361688"/>
            <a:ext cx="1828800" cy="182880"/>
          </a:xfrm>
          <a:prstGeom prst="rect">
            <a:avLst/>
          </a:prstGeom>
          <a:noFill/>
          <a:ln/>
        </p:spPr>
        <p:txBody>
          <a:bodyPr wrap="square" lIns="0" tIns="0" rIns="0" bIns="0" rtlCol="0" anchor="ctr"/>
          <a:lstStyle/>
          <a:p>
            <a:pPr marL="0" indent="0">
              <a:buNone/>
            </a:pPr>
            <a:r>
              <a:rPr lang="en-US" sz="850" b="1" kern="0" spc="200" dirty="0">
                <a:solidFill>
                  <a:srgbClr val="B23A2F"/>
                </a:solidFill>
                <a:latin typeface="Trebuchet MS" pitchFamily="34" charset="0"/>
                <a:ea typeface="Trebuchet MS" pitchFamily="34" charset="-122"/>
                <a:cs typeface="Trebuchet MS" pitchFamily="34" charset="-120"/>
              </a:rPr>
              <a:t>COMMON TRAP</a:t>
            </a:r>
            <a:endParaRPr lang="en-US" sz="850" dirty="0"/>
          </a:p>
        </p:txBody>
      </p:sp>
      <p:sp>
        <p:nvSpPr>
          <p:cNvPr id="42" name="Text 40"/>
          <p:cNvSpPr/>
          <p:nvPr/>
        </p:nvSpPr>
        <p:spPr>
          <a:xfrm>
            <a:off x="658368" y="4544568"/>
            <a:ext cx="7909560" cy="283464"/>
          </a:xfrm>
          <a:prstGeom prst="rect">
            <a:avLst/>
          </a:prstGeom>
          <a:noFill/>
          <a:ln/>
        </p:spPr>
        <p:txBody>
          <a:bodyPr wrap="square" lIns="0" tIns="0" rIns="0" bIns="0" rtlCol="0" anchor="t"/>
          <a:lstStyle/>
          <a:p>
            <a:pPr marL="0" indent="0">
              <a:buNone/>
            </a:pPr>
            <a:r>
              <a:rPr lang="en-US" sz="1100" dirty="0">
                <a:solidFill>
                  <a:srgbClr val="1F2937"/>
                </a:solidFill>
                <a:latin typeface="Calibri" pitchFamily="34" charset="0"/>
                <a:ea typeface="Calibri" pitchFamily="34" charset="-122"/>
                <a:cs typeface="Calibri" pitchFamily="34" charset="-120"/>
              </a:rPr>
              <a:t>“mmap reads the whole file into memory.”  No — mmap is lazy. mmap() itself loads nothing; pages arrive one fault at a time.</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8">
    <p:bg>
      <p:bgPr>
        <a:solidFill>
          <a:srgbClr val="F7F7F4"/>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A6ACB5"/>
                </a:solidFill>
                <a:latin typeface="Calibri" pitchFamily="34" charset="0"/>
                <a:ea typeface="Calibri" pitchFamily="34" charset="-122"/>
                <a:cs typeface="Calibri" pitchFamily="34" charset="-120"/>
              </a:rPr>
              <a:t>ICS Quiz Walkthrough  ·  28</a:t>
            </a:r>
            <a:endParaRPr lang="en-US" sz="850" dirty="0"/>
          </a:p>
        </p:txBody>
      </p:sp>
      <p:sp>
        <p:nvSpPr>
          <p:cNvPr id="3" name="Text 1"/>
          <p:cNvSpPr/>
          <p:nvPr/>
        </p:nvSpPr>
        <p:spPr>
          <a:xfrm>
            <a:off x="457200" y="219456"/>
            <a:ext cx="8229600" cy="237744"/>
          </a:xfrm>
          <a:prstGeom prst="rect">
            <a:avLst/>
          </a:prstGeom>
          <a:noFill/>
          <a:ln/>
        </p:spPr>
        <p:txBody>
          <a:bodyPr wrap="square" lIns="0" tIns="0" rIns="0" bIns="0" rtlCol="0" anchor="ctr"/>
          <a:lstStyle/>
          <a:p>
            <a:pPr marL="0" indent="0">
              <a:buNone/>
            </a:pPr>
            <a:r>
              <a:rPr lang="en-US" sz="1050" b="1" kern="0" spc="200" dirty="0">
                <a:solidFill>
                  <a:srgbClr val="C2641A"/>
                </a:solidFill>
                <a:latin typeface="Trebuchet MS" pitchFamily="34" charset="0"/>
                <a:ea typeface="Trebuchet MS" pitchFamily="34" charset="-122"/>
                <a:cs typeface="Trebuchet MS" pitchFamily="34" charset="-120"/>
              </a:rPr>
              <a:t>PROBLEM 3 · TAKEAWAYS</a:t>
            </a:r>
            <a:endParaRPr lang="en-US" sz="1050" dirty="0"/>
          </a:p>
        </p:txBody>
      </p:sp>
      <p:sp>
        <p:nvSpPr>
          <p:cNvPr id="4" name="Text 2"/>
          <p:cNvSpPr/>
          <p:nvPr/>
        </p:nvSpPr>
        <p:spPr>
          <a:xfrm>
            <a:off x="457200" y="457200"/>
            <a:ext cx="8229600" cy="475488"/>
          </a:xfrm>
          <a:prstGeom prst="rect">
            <a:avLst/>
          </a:prstGeom>
          <a:noFill/>
          <a:ln/>
        </p:spPr>
        <p:txBody>
          <a:bodyPr wrap="square" lIns="0" tIns="0" rIns="0" bIns="0" rtlCol="0" anchor="ctr"/>
          <a:lstStyle/>
          <a:p>
            <a:pPr marL="0" indent="0">
              <a:buNone/>
            </a:pPr>
            <a:r>
              <a:rPr lang="en-US" sz="2300" b="1" dirty="0">
                <a:solidFill>
                  <a:srgbClr val="1F2937"/>
                </a:solidFill>
                <a:latin typeface="Trebuchet MS" pitchFamily="34" charset="0"/>
                <a:ea typeface="Trebuchet MS" pitchFamily="34" charset="-122"/>
                <a:cs typeface="Trebuchet MS" pitchFamily="34" charset="-120"/>
              </a:rPr>
              <a:t>Four rules to carry into the Final</a:t>
            </a:r>
            <a:r>
              <a:rPr lang="zh-CN" altLang="en-US" sz="2300" b="1" dirty="0">
                <a:solidFill>
                  <a:srgbClr val="1F2937"/>
                </a:solidFill>
                <a:latin typeface="Trebuchet MS" pitchFamily="34" charset="0"/>
                <a:ea typeface="Trebuchet MS" pitchFamily="34" charset="-122"/>
                <a:cs typeface="Trebuchet MS" pitchFamily="34" charset="-120"/>
              </a:rPr>
              <a:t> </a:t>
            </a:r>
            <a:r>
              <a:rPr lang="en-US" altLang="zh-CN" sz="2300" b="1" dirty="0">
                <a:solidFill>
                  <a:srgbClr val="1F2937"/>
                </a:solidFill>
                <a:latin typeface="Trebuchet MS" pitchFamily="34" charset="0"/>
                <a:ea typeface="Trebuchet MS" pitchFamily="34" charset="-122"/>
                <a:cs typeface="Trebuchet MS" pitchFamily="34" charset="-120"/>
              </a:rPr>
              <a:t>Exam</a:t>
            </a:r>
            <a:endParaRPr lang="en-US" sz="2300" dirty="0"/>
          </a:p>
        </p:txBody>
      </p:sp>
      <p:sp>
        <p:nvSpPr>
          <p:cNvPr id="5" name="Shape 3"/>
          <p:cNvSpPr/>
          <p:nvPr/>
        </p:nvSpPr>
        <p:spPr>
          <a:xfrm>
            <a:off x="457200" y="1197864"/>
            <a:ext cx="420624" cy="420624"/>
          </a:xfrm>
          <a:prstGeom prst="ellipse">
            <a:avLst/>
          </a:prstGeom>
          <a:solidFill>
            <a:srgbClr val="C2641A"/>
          </a:solidFill>
          <a:ln/>
        </p:spPr>
      </p:sp>
      <p:sp>
        <p:nvSpPr>
          <p:cNvPr id="6" name="Text 4"/>
          <p:cNvSpPr/>
          <p:nvPr/>
        </p:nvSpPr>
        <p:spPr>
          <a:xfrm>
            <a:off x="457200" y="1197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7" name="Text 5"/>
          <p:cNvSpPr/>
          <p:nvPr/>
        </p:nvSpPr>
        <p:spPr>
          <a:xfrm>
            <a:off x="1051560" y="1143000"/>
            <a:ext cx="7680960" cy="77724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Count pages per level, not total entries  —  </a:t>
            </a:r>
            <a:r>
              <a:rPr lang="en-US" sz="1250" dirty="0">
                <a:solidFill>
                  <a:srgbClr val="1F2937"/>
                </a:solidFill>
                <a:latin typeface="Calibri" pitchFamily="34" charset="0"/>
                <a:ea typeface="Calibri" pitchFamily="34" charset="-122"/>
                <a:cs typeface="Calibri" pitchFamily="34" charset="-120"/>
              </a:rPr>
              <a:t>Decompose start &amp; end addresses, find populated indices at each level, sum the tables. 7 × 4 KB = 28 KB here.</a:t>
            </a:r>
            <a:endParaRPr lang="en-US" sz="1250" dirty="0"/>
          </a:p>
        </p:txBody>
      </p:sp>
      <p:sp>
        <p:nvSpPr>
          <p:cNvPr id="8" name="Shape 6"/>
          <p:cNvSpPr/>
          <p:nvPr/>
        </p:nvSpPr>
        <p:spPr>
          <a:xfrm>
            <a:off x="457200" y="2066544"/>
            <a:ext cx="420624" cy="420624"/>
          </a:xfrm>
          <a:prstGeom prst="ellipse">
            <a:avLst/>
          </a:prstGeom>
          <a:solidFill>
            <a:srgbClr val="C2641A"/>
          </a:solidFill>
          <a:ln/>
        </p:spPr>
      </p:sp>
      <p:sp>
        <p:nvSpPr>
          <p:cNvPr id="9" name="Text 7"/>
          <p:cNvSpPr/>
          <p:nvPr/>
        </p:nvSpPr>
        <p:spPr>
          <a:xfrm>
            <a:off x="457200" y="20665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1051560" y="2011680"/>
            <a:ext cx="7680960" cy="77724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Huge pages prune exactly one level  —  </a:t>
            </a:r>
            <a:r>
              <a:rPr lang="en-US" sz="1250" dirty="0">
                <a:solidFill>
                  <a:srgbClr val="1F2937"/>
                </a:solidFill>
                <a:latin typeface="Calibri" pitchFamily="34" charset="0"/>
                <a:ea typeface="Calibri" pitchFamily="34" charset="-122"/>
                <a:cs typeface="Calibri" pitchFamily="34" charset="-120"/>
              </a:rPr>
              <a:t>PS bit in L3 → no L4 tables. L1/L2/L3 remain. 28 KB → 12 KB.</a:t>
            </a:r>
            <a:endParaRPr lang="en-US" sz="1250" dirty="0"/>
          </a:p>
        </p:txBody>
      </p:sp>
      <p:sp>
        <p:nvSpPr>
          <p:cNvPr id="11" name="Shape 9"/>
          <p:cNvSpPr/>
          <p:nvPr/>
        </p:nvSpPr>
        <p:spPr>
          <a:xfrm>
            <a:off x="457200" y="2935224"/>
            <a:ext cx="420624" cy="420624"/>
          </a:xfrm>
          <a:prstGeom prst="ellipse">
            <a:avLst/>
          </a:prstGeom>
          <a:solidFill>
            <a:srgbClr val="C2641A"/>
          </a:solidFill>
          <a:ln/>
        </p:spPr>
      </p:sp>
      <p:sp>
        <p:nvSpPr>
          <p:cNvPr id="12" name="Text 10"/>
          <p:cNvSpPr/>
          <p:nvPr/>
        </p:nvSpPr>
        <p:spPr>
          <a:xfrm>
            <a:off x="457200" y="29352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3" name="Text 11"/>
          <p:cNvSpPr/>
          <p:nvPr/>
        </p:nvSpPr>
        <p:spPr>
          <a:xfrm>
            <a:off x="1051560" y="2880360"/>
            <a:ext cx="7680960" cy="77724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VIPT lives or dies by CI + CO ≤ VPO  —  </a:t>
            </a:r>
            <a:r>
              <a:rPr lang="en-US" sz="1250" dirty="0">
                <a:solidFill>
                  <a:srgbClr val="1F2937"/>
                </a:solidFill>
                <a:latin typeface="Calibri" pitchFamily="34" charset="0"/>
                <a:ea typeface="Calibri" pitchFamily="34" charset="-122"/>
                <a:cs typeface="Calibri" pitchFamily="34" charset="-120"/>
              </a:rPr>
              <a:t>Index bits must stay inside the page offset. More sets breaks it; more ways doesn't.</a:t>
            </a:r>
            <a:endParaRPr lang="en-US" sz="1250" dirty="0"/>
          </a:p>
        </p:txBody>
      </p:sp>
      <p:sp>
        <p:nvSpPr>
          <p:cNvPr id="14" name="Shape 12"/>
          <p:cNvSpPr/>
          <p:nvPr/>
        </p:nvSpPr>
        <p:spPr>
          <a:xfrm>
            <a:off x="457200" y="3803904"/>
            <a:ext cx="420624" cy="420624"/>
          </a:xfrm>
          <a:prstGeom prst="ellipse">
            <a:avLst/>
          </a:prstGeom>
          <a:solidFill>
            <a:srgbClr val="C2641A"/>
          </a:solidFill>
          <a:ln/>
        </p:spPr>
      </p:sp>
      <p:sp>
        <p:nvSpPr>
          <p:cNvPr id="15" name="Text 13"/>
          <p:cNvSpPr/>
          <p:nvPr/>
        </p:nvSpPr>
        <p:spPr>
          <a:xfrm>
            <a:off x="457200" y="380390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16" name="Text 14"/>
          <p:cNvSpPr/>
          <p:nvPr/>
        </p:nvSpPr>
        <p:spPr>
          <a:xfrm>
            <a:off x="1051560" y="3749040"/>
            <a:ext cx="7680960" cy="777240"/>
          </a:xfrm>
          <a:prstGeom prst="rect">
            <a:avLst/>
          </a:prstGeom>
          <a:noFill/>
          <a:ln/>
        </p:spPr>
        <p:txBody>
          <a:bodyPr wrap="square" lIns="0" tIns="0" rIns="0" bIns="0" rtlCol="0" anchor="t"/>
          <a:lstStyle/>
          <a:p>
            <a:pPr marL="0" indent="0">
              <a:buNone/>
            </a:pPr>
            <a:r>
              <a:rPr lang="en-US" sz="1250" b="1" dirty="0">
                <a:solidFill>
                  <a:srgbClr val="1F2937"/>
                </a:solidFill>
                <a:latin typeface="Calibri" pitchFamily="34" charset="0"/>
                <a:ea typeface="Calibri" pitchFamily="34" charset="-122"/>
                <a:cs typeface="Calibri" pitchFamily="34" charset="-120"/>
              </a:rPr>
              <a:t>mmap = copy elimination + demand paging  —  </a:t>
            </a:r>
            <a:r>
              <a:rPr lang="en-US" sz="1250" dirty="0">
                <a:solidFill>
                  <a:srgbClr val="1F2937"/>
                </a:solidFill>
                <a:latin typeface="Calibri" pitchFamily="34" charset="0"/>
                <a:ea typeface="Calibri" pitchFamily="34" charset="-122"/>
                <a:cs typeface="Calibri" pitchFamily="34" charset="-120"/>
              </a:rPr>
              <a:t>PTEs point at the page cache (one copy, not two), and only touched pages are ever loaded.</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51C29"/>
        </a:solidFill>
        <a:effectLst/>
      </p:bgPr>
    </p:bg>
    <p:spTree>
      <p:nvGrpSpPr>
        <p:cNvPr id="1" name=""/>
        <p:cNvGrpSpPr/>
        <p:nvPr/>
      </p:nvGrpSpPr>
      <p:grpSpPr>
        <a:xfrm>
          <a:off x="0" y="0"/>
          <a:ext cx="0" cy="0"/>
          <a:chOff x="0" y="0"/>
          <a:chExt cx="0" cy="0"/>
        </a:xfrm>
      </p:grpSpPr>
      <p:sp>
        <p:nvSpPr>
          <p:cNvPr id="2" name="Text 0"/>
          <p:cNvSpPr/>
          <p:nvPr/>
        </p:nvSpPr>
        <p:spPr>
          <a:xfrm>
            <a:off x="6766560" y="4864608"/>
            <a:ext cx="2194560" cy="228600"/>
          </a:xfrm>
          <a:prstGeom prst="rect">
            <a:avLst/>
          </a:prstGeom>
          <a:noFill/>
          <a:ln/>
        </p:spPr>
        <p:txBody>
          <a:bodyPr wrap="square" lIns="0" tIns="0" rIns="0" bIns="0" rtlCol="0" anchor="ctr"/>
          <a:lstStyle/>
          <a:p>
            <a:pPr marL="0" indent="0" algn="r">
              <a:buNone/>
            </a:pPr>
            <a:r>
              <a:rPr lang="en-US" sz="850" dirty="0">
                <a:solidFill>
                  <a:srgbClr val="76819B"/>
                </a:solidFill>
                <a:latin typeface="Calibri" pitchFamily="34" charset="0"/>
                <a:ea typeface="Calibri" pitchFamily="34" charset="-122"/>
                <a:cs typeface="Calibri" pitchFamily="34" charset="-120"/>
              </a:rPr>
              <a:t>ICS Quiz Walkthrough  ·  29</a:t>
            </a:r>
            <a:endParaRPr lang="en-US" sz="850" dirty="0"/>
          </a:p>
        </p:txBody>
      </p:sp>
      <p:sp>
        <p:nvSpPr>
          <p:cNvPr id="3" name="Text 1"/>
          <p:cNvSpPr/>
          <p:nvPr/>
        </p:nvSpPr>
        <p:spPr>
          <a:xfrm>
            <a:off x="640080" y="1554480"/>
            <a:ext cx="7863840" cy="274320"/>
          </a:xfrm>
          <a:prstGeom prst="rect">
            <a:avLst/>
          </a:prstGeom>
          <a:noFill/>
          <a:ln/>
        </p:spPr>
        <p:txBody>
          <a:bodyPr wrap="square" lIns="0" tIns="0" rIns="0" bIns="0" rtlCol="0" anchor="ctr"/>
          <a:lstStyle/>
          <a:p>
            <a:pPr marL="0" indent="0">
              <a:buNone/>
            </a:pPr>
            <a:r>
              <a:rPr lang="en-US" sz="1200" b="1" kern="0" spc="300" dirty="0">
                <a:solidFill>
                  <a:srgbClr val="E9C46A"/>
                </a:solidFill>
                <a:latin typeface="Trebuchet MS" pitchFamily="34" charset="0"/>
                <a:ea typeface="Trebuchet MS" pitchFamily="34" charset="-122"/>
                <a:cs typeface="Trebuchet MS" pitchFamily="34" charset="-120"/>
              </a:rPr>
              <a:t>THAT'S THE WALKTHROUGH</a:t>
            </a:r>
            <a:endParaRPr lang="en-US" sz="1200" dirty="0"/>
          </a:p>
        </p:txBody>
      </p:sp>
      <p:sp>
        <p:nvSpPr>
          <p:cNvPr id="4" name="Text 2"/>
          <p:cNvSpPr/>
          <p:nvPr/>
        </p:nvSpPr>
        <p:spPr>
          <a:xfrm>
            <a:off x="640080" y="1874520"/>
            <a:ext cx="7863840" cy="82296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Questions?</a:t>
            </a:r>
            <a:endParaRPr lang="en-US" sz="4000" dirty="0"/>
          </a:p>
        </p:txBody>
      </p:sp>
      <p:sp>
        <p:nvSpPr>
          <p:cNvPr id="5" name="Text 3"/>
          <p:cNvSpPr/>
          <p:nvPr/>
        </p:nvSpPr>
        <p:spPr>
          <a:xfrm>
            <a:off x="640080" y="2971800"/>
            <a:ext cx="7680960" cy="1280160"/>
          </a:xfrm>
          <a:prstGeom prst="rect">
            <a:avLst/>
          </a:prstGeom>
          <a:noFill/>
          <a:ln/>
        </p:spPr>
        <p:txBody>
          <a:bodyPr wrap="square" lIns="0" tIns="0" rIns="0" bIns="0" rtlCol="0" anchor="ctr"/>
          <a:lstStyle/>
          <a:p>
            <a:pPr marL="0" indent="0">
              <a:spcAft>
                <a:spcPts val="800"/>
              </a:spcAft>
              <a:buNone/>
            </a:pPr>
            <a:r>
              <a:rPr lang="en-US" sz="1400" dirty="0">
                <a:solidFill>
                  <a:srgbClr val="9AA3B2"/>
                </a:solidFill>
                <a:latin typeface="Calibri" pitchFamily="34" charset="0"/>
                <a:ea typeface="Calibri" pitchFamily="34" charset="-122"/>
                <a:cs typeface="Calibri" pitchFamily="34" charset="-120"/>
              </a:rPr>
              <a:t>If you only remember two things:</a:t>
            </a:r>
            <a:endParaRPr lang="en-US" sz="1400" dirty="0"/>
          </a:p>
          <a:p>
            <a:pPr marL="152400" indent="-152400">
              <a:spcAft>
                <a:spcPts val="500"/>
              </a:spcAft>
              <a:buSzPct val="100000"/>
              <a:buChar char="•"/>
            </a:pPr>
            <a:r>
              <a:rPr lang="en-US" sz="1400" dirty="0">
                <a:solidFill>
                  <a:srgbClr val="DDE3EC"/>
                </a:solidFill>
                <a:latin typeface="Courier New" pitchFamily="34" charset="0"/>
                <a:ea typeface="Courier New" pitchFamily="34" charset="-122"/>
                <a:cs typeface="Courier New" pitchFamily="34" charset="-120"/>
              </a:rPr>
              <a:t>sigsuspend closes the test–wait gap atomically</a:t>
            </a:r>
            <a:endParaRPr lang="en-US" sz="1400" dirty="0"/>
          </a:p>
          <a:p>
            <a:pPr marL="152400" indent="-152400">
              <a:buSzPct val="100000"/>
              <a:buChar char="•"/>
            </a:pPr>
            <a:r>
              <a:rPr lang="en-US" sz="1400" dirty="0">
                <a:solidFill>
                  <a:srgbClr val="DDE3EC"/>
                </a:solidFill>
                <a:latin typeface="Courier New" pitchFamily="34" charset="0"/>
                <a:ea typeface="Courier New" pitchFamily="34" charset="-122"/>
                <a:cs typeface="Courier New" pitchFamily="34" charset="-120"/>
              </a:rPr>
              <a:t>CI + CO ≤ VPO  (and mmap copies once, lazily)</a:t>
            </a:r>
            <a:endParaRPr lang="en-US" sz="1400" dirty="0"/>
          </a:p>
        </p:txBody>
      </p:sp>
      <p:sp>
        <p:nvSpPr>
          <p:cNvPr id="6" name="Text 4"/>
          <p:cNvSpPr/>
          <p:nvPr/>
        </p:nvSpPr>
        <p:spPr>
          <a:xfrm>
            <a:off x="640080" y="4389120"/>
            <a:ext cx="7315200" cy="320040"/>
          </a:xfrm>
          <a:prstGeom prst="rect">
            <a:avLst/>
          </a:prstGeom>
          <a:noFill/>
          <a:ln/>
        </p:spPr>
        <p:txBody>
          <a:bodyPr wrap="square" lIns="0" tIns="0" rIns="0" bIns="0" rtlCol="0" anchor="ctr"/>
          <a:lstStyle/>
          <a:p>
            <a:pPr marL="0" indent="0">
              <a:buNone/>
            </a:pPr>
            <a:r>
              <a:rPr lang="en-US" sz="1300" i="1" dirty="0">
                <a:solidFill>
                  <a:srgbClr val="9AA3B2"/>
                </a:solidFill>
                <a:latin typeface="Calibri" pitchFamily="34" charset="0"/>
                <a:ea typeface="Calibri" pitchFamily="34" charset="-122"/>
                <a:cs typeface="Calibri" pitchFamily="34" charset="-120"/>
              </a:rPr>
              <a:t>Good luck on the Final Exam.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TotalTime>
  <Words>4500</Words>
  <Application>Microsoft Macintosh PowerPoint</Application>
  <PresentationFormat>On-screen Show (16:9)</PresentationFormat>
  <Paragraphs>548</Paragraphs>
  <Slides>30</Slides>
  <Notes>30</Notes>
  <HiddenSlides>2</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30</vt:i4>
      </vt:variant>
    </vt:vector>
  </HeadingPairs>
  <TitlesOfParts>
    <vt:vector size="40" baseType="lpstr">
      <vt:lpstr>等线</vt:lpstr>
      <vt:lpstr>微软雅黑</vt:lpstr>
      <vt:lpstr>宋体</vt:lpstr>
      <vt:lpstr>Arial</vt:lpstr>
      <vt:lpstr>Calibri</vt:lpstr>
      <vt:lpstr>Courier New</vt:lpstr>
      <vt:lpstr>Times New Roman</vt:lpstr>
      <vt:lpstr>Trebuchet MS</vt:lpstr>
      <vt:lpstr>Office Theme</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Cute Trick for Speeding Up L1 Access (VIPT)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ICS Quiz Walkthrough - Problems 2 &amp; 3</dc:title>
  <dc:subject>PptxGenJS Presentation</dc:subject>
  <dc:creator>Levi (TA)</dc:creator>
  <cp:lastModifiedBy>Bin Xu</cp:lastModifiedBy>
  <cp:revision>9</cp:revision>
  <dcterms:created xsi:type="dcterms:W3CDTF">2026-06-04T17:54:31Z</dcterms:created>
  <dcterms:modified xsi:type="dcterms:W3CDTF">2026-06-04T19:39:14Z</dcterms:modified>
</cp:coreProperties>
</file>